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d8ce8cde9c4ebb" /><Relationship Type="http://schemas.openxmlformats.org/officeDocument/2006/relationships/extended-properties" Target="/docProps/app.xml" Id="R4839b521077843a4" /><Relationship Type="http://schemas.openxmlformats.org/officeDocument/2006/relationships/officeDocument" Target="/ppt/presentation.xml" Id="R7218aa41175846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67b2fc8af46be"/>
  </p:sldMasterIdLst>
  <p:notesMasterIdLst>
    <p:notesMasterId xmlns:r="http://schemas.openxmlformats.org/officeDocument/2006/relationships" r:id="Ra2d22a1aa1d545b4"/>
  </p:notesMasterIdLst>
  <p:sldIdLst>
    <p:sldId xmlns:r="http://schemas.openxmlformats.org/officeDocument/2006/relationships" id="256" r:id="R048a471d13ed4a55"/>
    <p:sldId xmlns:r="http://schemas.openxmlformats.org/officeDocument/2006/relationships" id="257" r:id="R820db7b0b47e4e9d"/>
    <p:sldId xmlns:r="http://schemas.openxmlformats.org/officeDocument/2006/relationships" id="258" r:id="R1547f1f25bd84586"/>
    <p:sldId xmlns:r="http://schemas.openxmlformats.org/officeDocument/2006/relationships" id="259" r:id="Rdec48ec62c684135"/>
    <p:sldId xmlns:r="http://schemas.openxmlformats.org/officeDocument/2006/relationships" id="260" r:id="R876b3a8252dc4938"/>
    <p:sldId xmlns:r="http://schemas.openxmlformats.org/officeDocument/2006/relationships" id="261" r:id="R2e59594db2274a51"/>
    <p:sldId xmlns:r="http://schemas.openxmlformats.org/officeDocument/2006/relationships" id="262" r:id="R7081cc465927412d"/>
    <p:sldId xmlns:r="http://schemas.openxmlformats.org/officeDocument/2006/relationships" id="263" r:id="Rfbeba5e191714893"/>
    <p:sldId xmlns:r="http://schemas.openxmlformats.org/officeDocument/2006/relationships" id="264" r:id="R9df9c027108d4b06"/>
    <p:sldId xmlns:r="http://schemas.openxmlformats.org/officeDocument/2006/relationships" id="265" r:id="R25d6da2b5fa84fe7"/>
    <p:sldId xmlns:r="http://schemas.openxmlformats.org/officeDocument/2006/relationships" id="266" r:id="R7075628340514d87"/>
    <p:sldId xmlns:r="http://schemas.openxmlformats.org/officeDocument/2006/relationships" id="267" r:id="R1de94087d1fb45bb"/>
    <p:sldId xmlns:r="http://schemas.openxmlformats.org/officeDocument/2006/relationships" id="268" r:id="R665bdf38cdaf4599"/>
    <p:sldId xmlns:r="http://schemas.openxmlformats.org/officeDocument/2006/relationships" id="269" r:id="R4ca8c1bba7af46b6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1c7cf5c644665" /><Relationship Type="http://schemas.openxmlformats.org/officeDocument/2006/relationships/slideMaster" Target="/ppt/slideMasters/slideMaster1.xml" Id="Rf2167b2fc8af46be" /><Relationship Type="http://schemas.openxmlformats.org/officeDocument/2006/relationships/notesMaster" Target="/ppt/notesMasters/notesMaster1.xml" Id="Ra2d22a1aa1d545b4" /><Relationship Type="http://schemas.openxmlformats.org/officeDocument/2006/relationships/presProps" Target="/ppt/presProps.xml" Id="Rb028a46f9d704f67" /><Relationship Type="http://schemas.openxmlformats.org/officeDocument/2006/relationships/viewProps" Target="/ppt/viewProps.xml" Id="R5d0ebefaa6eb4959" /><Relationship Type="http://schemas.openxmlformats.org/officeDocument/2006/relationships/tableStyles" Target="/ppt/tableStyles.xml" Id="R46ce10c5b89944d3" /><Relationship Type="http://schemas.openxmlformats.org/officeDocument/2006/relationships/slide" Target="/ppt/slides/slide1.xml" Id="R048a471d13ed4a55" /><Relationship Type="http://schemas.openxmlformats.org/officeDocument/2006/relationships/slide" Target="/ppt/slides/slide2.xml" Id="R820db7b0b47e4e9d" /><Relationship Type="http://schemas.openxmlformats.org/officeDocument/2006/relationships/slide" Target="/ppt/slides/slide3.xml" Id="R1547f1f25bd84586" /><Relationship Type="http://schemas.openxmlformats.org/officeDocument/2006/relationships/slide" Target="/ppt/slides/slide4.xml" Id="Rdec48ec62c684135" /><Relationship Type="http://schemas.openxmlformats.org/officeDocument/2006/relationships/slide" Target="/ppt/slides/slide5.xml" Id="R876b3a8252dc4938" /><Relationship Type="http://schemas.openxmlformats.org/officeDocument/2006/relationships/slide" Target="/ppt/slides/slide6.xml" Id="R2e59594db2274a51" /><Relationship Type="http://schemas.openxmlformats.org/officeDocument/2006/relationships/slide" Target="/ppt/slides/slide7.xml" Id="R7081cc465927412d" /><Relationship Type="http://schemas.openxmlformats.org/officeDocument/2006/relationships/slide" Target="/ppt/slides/slide8.xml" Id="Rfbeba5e191714893" /><Relationship Type="http://schemas.openxmlformats.org/officeDocument/2006/relationships/slide" Target="/ppt/slides/slide9.xml" Id="R9df9c027108d4b06" /><Relationship Type="http://schemas.openxmlformats.org/officeDocument/2006/relationships/slide" Target="/ppt/slides/slide10.xml" Id="R25d6da2b5fa84fe7" /><Relationship Type="http://schemas.openxmlformats.org/officeDocument/2006/relationships/slide" Target="/ppt/slides/slide11.xml" Id="R7075628340514d87" /><Relationship Type="http://schemas.openxmlformats.org/officeDocument/2006/relationships/slide" Target="/ppt/slides/slide12.xml" Id="R1de94087d1fb45bb" /><Relationship Type="http://schemas.openxmlformats.org/officeDocument/2006/relationships/slide" Target="/ppt/slides/slide13.xml" Id="R665bdf38cdaf4599" /><Relationship Type="http://schemas.openxmlformats.org/officeDocument/2006/relationships/slide" Target="/ppt/slides/slide14.xml" Id="R4ca8c1bba7af46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f0211cf64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efa66de8f43b4" /><Relationship Type="http://schemas.openxmlformats.org/officeDocument/2006/relationships/notesMaster" Target="/ppt/notesMasters/notesMaster1.xml" Id="R0307ed676b69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4041b394f41db" /><Relationship Type="http://schemas.openxmlformats.org/officeDocument/2006/relationships/notesMaster" Target="/ppt/notesMasters/notesMaster1.xml" Id="R8d5d17d80602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59d600ad3d4b9d" /><Relationship Type="http://schemas.openxmlformats.org/officeDocument/2006/relationships/notesMaster" Target="/ppt/notesMasters/notesMaster1.xml" Id="Rcc89c52fccc944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7fcfae5d6b4d64" /><Relationship Type="http://schemas.openxmlformats.org/officeDocument/2006/relationships/notesMaster" Target="/ppt/notesMasters/notesMaster1.xml" Id="Rae9bb1e7e1ee48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54c8f0fea94431" /><Relationship Type="http://schemas.openxmlformats.org/officeDocument/2006/relationships/notesMaster" Target="/ppt/notesMasters/notesMaster1.xml" Id="R7d9aa954e59642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45612042b84e0a" /><Relationship Type="http://schemas.openxmlformats.org/officeDocument/2006/relationships/notesMaster" Target="/ppt/notesMasters/notesMaster1.xml" Id="R96b429cbe6c04b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7ee71d6c4467d" /><Relationship Type="http://schemas.openxmlformats.org/officeDocument/2006/relationships/notesMaster" Target="/ppt/notesMasters/notesMaster1.xml" Id="R00fb65f560e646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9a0e2624f54d4d" /><Relationship Type="http://schemas.openxmlformats.org/officeDocument/2006/relationships/notesMaster" Target="/ppt/notesMasters/notesMaster1.xml" Id="R326c572cef9746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5442dfde014966" /><Relationship Type="http://schemas.openxmlformats.org/officeDocument/2006/relationships/notesMaster" Target="/ppt/notesMasters/notesMaster1.xml" Id="R6ae3aa68882547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1ff68f145742b2" /><Relationship Type="http://schemas.openxmlformats.org/officeDocument/2006/relationships/notesMaster" Target="/ppt/notesMasters/notesMaster1.xml" Id="Rd2de03fd869c4e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3c258881ef4702" /><Relationship Type="http://schemas.openxmlformats.org/officeDocument/2006/relationships/notesMaster" Target="/ppt/notesMasters/notesMaster1.xml" Id="Rc4e25bbffdd34a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76fb7928fb4843" /><Relationship Type="http://schemas.openxmlformats.org/officeDocument/2006/relationships/notesMaster" Target="/ppt/notesMasters/notesMaster1.xml" Id="R3a1a274918b941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9a9b0970ad4073" /><Relationship Type="http://schemas.openxmlformats.org/officeDocument/2006/relationships/notesMaster" Target="/ppt/notesMasters/notesMaster1.xml" Id="Rb9e2ffefa61b48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d3117ec71a4a7c" /><Relationship Type="http://schemas.openxmlformats.org/officeDocument/2006/relationships/notesMaster" Target="/ppt/notesMasters/notesMaster1.xml" Id="R62a6fae365e0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Presentación de avance al 23/10/2026. El alcance contractual conserva 27 requisitos. La cobertura probada localmente aumenta a 14/27 (51,9%): nueve requisitos de la entrega anterior revalidados y cinco cierres nuevos. La evidencia de IMP-03 corresponde a la huella de código 5a5ec24f2a9535101f7cb7a303460d479a06bdf866c4b592ab1b1fcf61076194, con cierre del resumen a las 02:47:19 de Santiago. La revisión documental no representa una nueva ejecución de pruebas. La aceptación académica y el despliegue remoto permanecen pendientes.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docs/work/IMP-03-implementation.md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docs/work/evidence/imp-03/verification-summary.json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Recorrido de la exposición. Diapositivas 3–5: problema, solución y alcance. Diapositiva 6: requerimientos. Diapositivas 7–10: modelo de datos, actividad, casos de uso y arquitectura. Diapositivas 11–12: riesgos y planificación. Diapositiva 13: presupuesto referencial. Diapositiva 14: demostración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La problemática corresponde a la definición del proyecto. El estudiante requiere ayuda accionable y el docente necesita reconocer dificultades repetidas en una clase. No hay un piloto ni mediciones que permitan afirmar una reducción de carga docente o una mejora del aprendizaje. La presentación trata esos efectos como resultados esperados que requieren validación.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2/Evidencias grupales/Informe_Avance_APT_Alunza_Fase2.docx (versión 1.2, 23/10/2026) (sección 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2/Evidencias grupales/2.6_GuiaEstudiante_Fase 2_Informe Final Proyecto APT.docx (relevancia y objetivos)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proyecto/Informe_ERS_Alunza.docx (versión 1.3) (problema y objetivos)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Identidad visual del proyecto: apps/web/src/app/globals.css y apps/web/src/components/shell.tsx.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Completos: RF-001/002/003/004/005/007/008/009/011/014/020/021/022/023. Parciales: RF-010, RF-015 y RF-024. Pendientes: RF-006/012/013/016/017/018/019/025/026/027. El porcentaje 14/27=51,9% se redondea a un decimal y mide cobertura funcional local, no aprendizaje ni aceptación. Evidencia del candidato: 675 pruebas unitarias y contratos, 111 HTTP, 313 SQL, 78 Docker, 34 Cypress y 14/14 controles CI local. La regresión adicional pgvector de 27 pruebas usa un proveedor doble explícito y no acredita Azure OpenAI.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docs/work/IMP-03-trazabilidad.md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docs/work/evidence/imp-03/verification-summary.json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El incremento conserva identidad, gobierno, contenido y editor, e integra RUN temporal, SUBMIT durable, diagnóstico, comparación e historial de intentos y avance por actividad. RUN ejecuta solo pruebas visibles y no crea intentos ni progreso. SUBMIT confirma código, resultado y eventos después del commit. RF-010 sigue parcial por HU-010-E4: falta validar la falla integrada del proveedor de feedback. RF-015 solo tiene la proyección por actividad y espera progreso por conceptos. RF-024 espera gobierno integral del banco. IA/RAG, señales, panel docente completo, CSV operativo, Vercel Sandbox productivo y aceptación académica siguen pendientes.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docs/work/IMP-03-implementation.md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docs/work/IMP-03-trazabilidad.md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La matriz de 27 RF suma 14 completos, 3 parciales y 10 pendientes. Por área: acceso 3/0/0; contenido 2/0/1; práctica 5/1/2; evidencia y seguimiento 0/1/4; gobierno 4/1/3. Se conservan los 29 RNF. El perfil local del 23/10 usa 50 operaciones secuenciales y 50 con concurrencia cuatro para RUN y SUBMIT. RUN p95 concurrente 2227,87 ms; SUBMIT 3502,71 ms, con 100/100 envíos correctos y persistidos. Ambos cumplen el umbral local menor a 5000 ms. WCAG integral, rendimiento remoto y ayuda IA permanecen sin aceptación. El ensayo previo fallido de SUBMIT de 5164,50 ms se conserva como antecedente, sin eliminar muestras ni ampliar límites.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docs/work/IMP-03-trazabilidad.md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docs/work/evidence/imp-03/submit-performance.json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docs/work/evidence/imp-03/run-performance.json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specs/10-calidad-y-pruebas.md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El modelo físico vigente contiene 25 tablas y 292 atributos en cuatro migraciones: 205 columnas preexistentes y 87 nuevas. La vista resume ocho entidades y omite otras FK de organización y clase. app.executions registra RUN temporal. app_private.submission_reservations reserva SUBMIT, conserva evidencia durable y recuperación. app.attempts.execution_id referencia submission_reservations.id, no app.executions.id. app_private.attempt_results y attempt_events conservan evidencia privada y eventos, confirmados atómicamente con el intento. La relación reserva/intento es uno a cero o uno durante su ciclo; el intento confirmado tiene un resultado privado y dos eventos contractuales. RLS y funciones de proyección impiden exposición de pruebas ocultas y evidencia ajena. El diccionario físico detalla las claves compuestas y las restricciones completas.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docs/work/IMP-03-dictionary.md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supabase/migrations/20261023040609_practice_and_submissions.sql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2/Evidencias de proyecto/Diccionario Datos.docx (Proyecto).docx (versión 1.3)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El estudiante abre una actividad publicada dentro de su ventana e inicia práctica autorizada. RUN comprueba pruebas visibles y conserva un resultado temporal, sin completar el ejercicio. SUBMIT evalúa pruebas requeridas y persiste código, resultado y eventos de forma atómica. La respuesta se confirma después del commit. Repetir transporte conserva Idempotency-Key; un reintento intencional usa una nueva clave y mantiene el historial. Una admisión anterior al cierre puede terminar; CLOSED rechaza nuevas admisiones y conserva evidencia propia autorizada. La captura corresponde al ensayo local del 23/10/2026 con datos ficticios. La ayuda contextual permanece pendiente.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docs/work/IMP-03-demo.md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docs/work/IMP-03-implementation.md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docs/work/evidence/imp-03/imp03-ejecucion.png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Se representan los 14 casos completos al 23/10/2026, conservando la correspondencia CU/RF. ADMIN gobierna organización, usuarios, cursos/clases y conceptos. TEACHER gestiona clase, ejercicios y publicación/cierre. STUDENT se incorpora, consulta actividades con avance, abre editor, ejecuta, consulta diagnóstico y reintenta con historial. Todos se autentican mediante CU-001. RF/CU-010 no se cuenta completo pese al envío técnico integrado porque HU-010-E4 depende del feedback. Toda operación exige rol, estado ACTIVE, organización y clase vigentes. ADMIN no obtiene lectura pedagógica universal.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docs/work/IMP-03-trazabilidad.md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specs/02-requisitos-funcionales.md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La arquitectura conserva Next.js App Router, NestJS como única API de dominio y Supabase Auth/PostgreSQL/RLS. El runner local integrado usa QuickJS/WASM 0.32.0 bajo supervisor Docker. Los límites de la versión publicada no superan 134217728 bytes, 3000 ms acumulados y 65536 bytes de salida. Versiones con memoria inferior a la capacidad mínima de Docker se rechazan como UNKNOWN/CAPABILITY_GAP sin elevar el límite. El canal de resultados separa evidencia pública y privada. El flujo confirma código, resultado y eventos antes de cualquier futura ayuda sobre el intento. Azure OpenAI, Storage/vector de producto y Vercel Sandbox remoto conservan validación pendiente. El destino de producción sigue Vercel para web y Azure Container Apps para API. Las pruebas locales no acreditan esos despliegues.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specs/05-arquitectura.md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docs/work/IMP-03-implementation.md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infra/runner/README.md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La evaluación de riesgos es cualitativa. La ejecución local ya dispone de controles verificados; los riesgos actuales incluyen regresión, adaptación remota, deuda de dependencias e integración de ayuda. La auditoría conservada registra 14 entradas de paquetes afectadas previas (5 críticas, 7 altas y 2 moderadas), sin atribuir una auditoría limpia. Las medidas propuestas no equivalen a cierre remoto. Se mantiene pendiente DEC-011 sobre capacidad y día exacto de congelamiento.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docs/work/IMP-03-implementation.md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docs/work/evidence/imp-03/dependency-audit.json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specs/00-fuentes-y-decisiones.md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La Gantt representa el plan de 18 semanas del 11/08 al 17/12/2026 sin asignar fechas diarias inventadas a cada sprint. S0 y S1 preparan problema, alcance, requisitos y arquitectura. S2 a S7 distribuyen 27 historias y 184 puntos: 29, 32, 34, 34, 34 y 21 puntos, respectivamente. S8 reserva defensa y cierre. El congelamiento se prevé en la semana 15, y la segunda semana de S7 estabiliza el mismo alcance. El acuerdo definitivo de capacidad y día de congelamiento sigue pendiente en DEC-011. El Sprint 2 prevé 12 tareas y 60 horas: Marcelo 21, Abraham 20 y Benjamin 19. Son horas planificadas, no trabajo real registrado. Las minutas de Fase 2 se numeran F2-01 a F2-11: 08/09, 11/09, 15/09, 22/09, 25/09, 29/09, 02/10, 06/10, 09/10, 13/10 y 16/10 de 2026. No hay sesión del feriado 18/09. Su revisión por el equipo sigue pendiente y no se usan aquí como prueba de ceremonias ejecutadas.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proyecto/Informe_ERS_Alunza.docx (versión 1.3) (sección 4.1.3, tabla 25)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proyecto/Roadmap_Agil_Alunza_2026.pptx (diapositivas 1, 3, 4, 6 y 7)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proyecto/Acta_de_Constitucion_Alunza.docx (tablas 1 y 5)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proyecto/Sprint_Backlog_Alunza_Sprint_2.xlsx (hojas Resumen y capacidad, y Sprint Backlog)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specs/12-plan-de-entrega.md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specs/00-fuentes-y-decisiones.md (DEC-011)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Identidad visual del proyecto: apps/web/src/app/globals.css y apps/web/src/components/shell.tsx.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El presupuesto inicial valora 540 horas a CLP 8.000 por hora: CLP 4.320.000. El tope de costos directos es CLP 265.000. La suma es CLP 4.585.000. Las 540 horas equivalen a tres integrantes con 180 horas referenciales por persona, sin implicar horas efectivamente registradas. El fondo directo agrupa nube, herramientas y contingencia. La fuente no autoriza un desglose fijo por proveedor, por lo que esta vista no lo inventa. El proyecto supone equipos existentes y no incorpora compras nuevas. No se muestran tarifas históricas en USD como precios vigentes.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proyecto/Informe_ERS_Alunza.docx (versión 1.3) (sección 4.1.4, tablas 26 y 27)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proyecto/Acta_de_Constitucion_Alunza.docx (tabla 6)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specs/12-plan-de-entrega.md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Evidencias CAPSTONE/Fase 1/Evidencias de proyecto/Presentacion_Alunza_CAPSTONE_Fase1.pptx (diapositiva 13)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Identidad visual del proyecto: apps/web/src/app/globals.css y apps/web/src/components/shell.tsx.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Guion local vigente. 1. Preparar publicación e incorporación con permisos correctos. 2. Ejecutar RUN y comprobar que el resultado temporal no crea intento ni progreso. 3. Confirmar SUBMIT y consultar el intento persistido. 4. Copiar con confirmación, corregir y enviar un reintento con nueva clave; comparar ambos y consultar avance por actividad. 5. Cerrar la actividad: nueva admisión se rechaza y el historial propio autorizado permanece. La captura del 23/10/2026 usa datos ficticios. RF-010 continúa parcial por su escenario de falla integrada de feedback. El siguiente incremento incorpora material docente y ayuda contextual. La demo no acredita aceptación académica ni despliegue remoto.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Fuentes del proyecto: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docs/work/IMP-03-demo.md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docs/work/evidence/imp-03/imp03-historial.png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5480b762041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4190c300d4f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b2cfbbbb54a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53790ac254b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43f79e08247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e07cd85bc46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a3ceb4ac84f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c533703d942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3f6cc637047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8e3a6e6ee4e7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641ec5d3444e62" /></Relationships>
</file>

<file path=ppt/slideLayouts/slideLayout1.xml><?xml version="1.0" encoding="utf-8"?>
<p:sldLayout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5">
            <a:extLst xmlns:a="http://schemas.openxmlformats.org/drawingml/2006/main">
              <a:ext uri="{FF2B5EF4-FFF2-40B4-BE49-F238E27FC236}">
                <a16:creationId xmlns:a16="http://schemas.microsoft.com/office/drawing/2014/main" id="{19024619-1734-44B3-A6FD-5D25E9BF899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5">
            <a:extLst xmlns:a="http://schemas.openxmlformats.org/drawingml/2006/main">
              <a:ext uri="{FF2B5EF4-FFF2-40B4-BE49-F238E27FC236}">
                <a16:creationId xmlns:a16="http://schemas.microsoft.com/office/drawing/2014/main" id="{FC45EB99-1FA4-4B45-85E1-340F1DFE87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5">
            <a:extLst xmlns:a="http://schemas.openxmlformats.org/drawingml/2006/main">
              <a:ext uri="{FF2B5EF4-FFF2-40B4-BE49-F238E27FC236}">
                <a16:creationId xmlns:a16="http://schemas.microsoft.com/office/drawing/2014/main" id="{17530F3C-EEC0-4691-AC23-A1D347C4EF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15">
            <a:extLst xmlns:a="http://schemas.openxmlformats.org/drawingml/2006/main">
              <a:ext uri="{FF2B5EF4-FFF2-40B4-BE49-F238E27FC236}">
                <a16:creationId xmlns:a16="http://schemas.microsoft.com/office/drawing/2014/main" id="{B29F6618-C0DB-4B28-A73E-2653970FC9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15">
            <a:extLst xmlns:a="http://schemas.openxmlformats.org/drawingml/2006/main">
              <a:ext uri="{FF2B5EF4-FFF2-40B4-BE49-F238E27FC236}">
                <a16:creationId xmlns:a16="http://schemas.microsoft.com/office/drawing/2014/main" id="{1CD0F968-1F65-47C9-A80B-A4CE5A712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6">
            <a:extLst xmlns:a="http://schemas.openxmlformats.org/drawingml/2006/main">
              <a:ext uri="{FF2B5EF4-FFF2-40B4-BE49-F238E27FC236}">
                <a16:creationId xmlns:a16="http://schemas.microsoft.com/office/drawing/2014/main" id="{F8265BBD-5335-4FBF-807B-EE2E81D9F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6">
            <a:extLst xmlns:a="http://schemas.openxmlformats.org/drawingml/2006/main">
              <a:ext uri="{FF2B5EF4-FFF2-40B4-BE49-F238E27FC236}">
                <a16:creationId xmlns:a16="http://schemas.microsoft.com/office/drawing/2014/main" id="{DA0E8E2D-040D-401B-A98B-7C420F5FE7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6">
            <a:extLst xmlns:a="http://schemas.openxmlformats.org/drawingml/2006/main">
              <a:ext uri="{FF2B5EF4-FFF2-40B4-BE49-F238E27FC236}">
                <a16:creationId xmlns:a16="http://schemas.microsoft.com/office/drawing/2014/main" id="{31282F38-D691-469E-B9DA-63BD5900A2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16">
            <a:extLst xmlns:a="http://schemas.openxmlformats.org/drawingml/2006/main">
              <a:ext uri="{FF2B5EF4-FFF2-40B4-BE49-F238E27FC236}">
                <a16:creationId xmlns:a16="http://schemas.microsoft.com/office/drawing/2014/main" id="{7044484B-4D8B-4602-A9E4-A52815F742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7">
            <a:extLst xmlns:a="http://schemas.openxmlformats.org/drawingml/2006/main">
              <a:ext uri="{FF2B5EF4-FFF2-40B4-BE49-F238E27FC236}">
                <a16:creationId xmlns:a16="http://schemas.microsoft.com/office/drawing/2014/main" id="{A5CE02EC-3B5C-4DFC-A92C-452A9BCEA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7">
            <a:extLst xmlns:a="http://schemas.openxmlformats.org/drawingml/2006/main">
              <a:ext uri="{FF2B5EF4-FFF2-40B4-BE49-F238E27FC236}">
                <a16:creationId xmlns:a16="http://schemas.microsoft.com/office/drawing/2014/main" id="{0ADA87E1-249B-41B4-A36C-2F86BF48E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7">
            <a:extLst xmlns:a="http://schemas.openxmlformats.org/drawingml/2006/main">
              <a:ext uri="{FF2B5EF4-FFF2-40B4-BE49-F238E27FC236}">
                <a16:creationId xmlns:a16="http://schemas.microsoft.com/office/drawing/2014/main" id="{D788E616-7236-4763-9FC3-680E342D65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17">
            <a:extLst xmlns:a="http://schemas.openxmlformats.org/drawingml/2006/main">
              <a:ext uri="{FF2B5EF4-FFF2-40B4-BE49-F238E27FC236}">
                <a16:creationId xmlns:a16="http://schemas.microsoft.com/office/drawing/2014/main" id="{4BD8B7A9-7D2E-461F-92D8-C0DD963145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7">
            <a:extLst xmlns:a="http://schemas.openxmlformats.org/drawingml/2006/main">
              <a:ext uri="{FF2B5EF4-FFF2-40B4-BE49-F238E27FC236}">
                <a16:creationId xmlns:a16="http://schemas.microsoft.com/office/drawing/2014/main" id="{C14CB474-2947-4DA8-A275-9F94C8E090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8">
            <a:extLst xmlns:a="http://schemas.openxmlformats.org/drawingml/2006/main">
              <a:ext uri="{FF2B5EF4-FFF2-40B4-BE49-F238E27FC236}">
                <a16:creationId xmlns:a16="http://schemas.microsoft.com/office/drawing/2014/main" id="{A784A97B-7188-43AD-882F-BF789BD45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8">
            <a:extLst xmlns:a="http://schemas.openxmlformats.org/drawingml/2006/main">
              <a:ext uri="{FF2B5EF4-FFF2-40B4-BE49-F238E27FC236}">
                <a16:creationId xmlns:a16="http://schemas.microsoft.com/office/drawing/2014/main" id="{E151D23E-7E0E-4886-AF5D-45EE4BCC0A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8">
            <a:extLst xmlns:a="http://schemas.openxmlformats.org/drawingml/2006/main">
              <a:ext uri="{FF2B5EF4-FFF2-40B4-BE49-F238E27FC236}">
                <a16:creationId xmlns:a16="http://schemas.microsoft.com/office/drawing/2014/main" id="{7F39F2B5-D943-49AF-A8D8-3F296DE0ED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8">
            <a:extLst xmlns:a="http://schemas.openxmlformats.org/drawingml/2006/main">
              <a:ext uri="{FF2B5EF4-FFF2-40B4-BE49-F238E27FC236}">
                <a16:creationId xmlns:a16="http://schemas.microsoft.com/office/drawing/2014/main" id="{A9EFB697-C4D9-4CCA-93CB-FEF8B14BFC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8">
            <a:extLst xmlns:a="http://schemas.openxmlformats.org/drawingml/2006/main">
              <a:ext uri="{FF2B5EF4-FFF2-40B4-BE49-F238E27FC236}">
                <a16:creationId xmlns:a16="http://schemas.microsoft.com/office/drawing/2014/main" id="{B5C5D411-0A6B-4D17-B2EF-E957E7AE12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9">
            <a:extLst xmlns:a="http://schemas.openxmlformats.org/drawingml/2006/main">
              <a:ext uri="{FF2B5EF4-FFF2-40B4-BE49-F238E27FC236}">
                <a16:creationId xmlns:a16="http://schemas.microsoft.com/office/drawing/2014/main" id="{F84C3413-CC4A-4BAA-9A38-3A5E6FE0E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9">
            <a:extLst xmlns:a="http://schemas.openxmlformats.org/drawingml/2006/main">
              <a:ext uri="{FF2B5EF4-FFF2-40B4-BE49-F238E27FC236}">
                <a16:creationId xmlns:a16="http://schemas.microsoft.com/office/drawing/2014/main" id="{4011B0B8-A2DF-4640-AC53-550174EC1C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9">
            <a:extLst xmlns:a="http://schemas.openxmlformats.org/drawingml/2006/main">
              <a:ext uri="{FF2B5EF4-FFF2-40B4-BE49-F238E27FC236}">
                <a16:creationId xmlns:a16="http://schemas.microsoft.com/office/drawing/2014/main" id="{F8D5F1DA-3260-49C8-A295-F49907319C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9">
            <a:extLst xmlns:a="http://schemas.openxmlformats.org/drawingml/2006/main">
              <a:ext uri="{FF2B5EF4-FFF2-40B4-BE49-F238E27FC236}">
                <a16:creationId xmlns:a16="http://schemas.microsoft.com/office/drawing/2014/main" id="{1CE16699-DF04-43D1-AEFD-32B4FDD47B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9">
            <a:extLst xmlns:a="http://schemas.openxmlformats.org/drawingml/2006/main">
              <a:ext uri="{FF2B5EF4-FFF2-40B4-BE49-F238E27FC236}">
                <a16:creationId xmlns:a16="http://schemas.microsoft.com/office/drawing/2014/main" id="{EE850C1E-7305-4891-872E-F2BC80EC4F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9">
            <a:extLst xmlns:a="http://schemas.openxmlformats.org/drawingml/2006/main">
              <a:ext uri="{FF2B5EF4-FFF2-40B4-BE49-F238E27FC236}">
                <a16:creationId xmlns:a16="http://schemas.microsoft.com/office/drawing/2014/main" id="{1E8C53D1-BFA4-4B93-A194-7B33AD899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20">
            <a:extLst xmlns:a="http://schemas.openxmlformats.org/drawingml/2006/main">
              <a:ext uri="{FF2B5EF4-FFF2-40B4-BE49-F238E27FC236}">
                <a16:creationId xmlns:a16="http://schemas.microsoft.com/office/drawing/2014/main" id="{9B0CE877-AD76-4187-936D-BB6A3F53F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20">
            <a:extLst xmlns:a="http://schemas.openxmlformats.org/drawingml/2006/main">
              <a:ext uri="{FF2B5EF4-FFF2-40B4-BE49-F238E27FC236}">
                <a16:creationId xmlns:a16="http://schemas.microsoft.com/office/drawing/2014/main" id="{27573645-62D3-4B1A-B303-3119AB8E1E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20">
            <a:extLst xmlns:a="http://schemas.openxmlformats.org/drawingml/2006/main">
              <a:ext uri="{FF2B5EF4-FFF2-40B4-BE49-F238E27FC236}">
                <a16:creationId xmlns:a16="http://schemas.microsoft.com/office/drawing/2014/main" id="{DBC64742-F54E-42C3-8D74-6E807D487B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20">
            <a:extLst xmlns:a="http://schemas.openxmlformats.org/drawingml/2006/main">
              <a:ext uri="{FF2B5EF4-FFF2-40B4-BE49-F238E27FC236}">
                <a16:creationId xmlns:a16="http://schemas.microsoft.com/office/drawing/2014/main" id="{5EFDA158-8F4B-47ED-BAD9-D8F82639F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20">
            <a:extLst xmlns:a="http://schemas.openxmlformats.org/drawingml/2006/main">
              <a:ext uri="{FF2B5EF4-FFF2-40B4-BE49-F238E27FC236}">
                <a16:creationId xmlns:a16="http://schemas.microsoft.com/office/drawing/2014/main" id="{5D71E63B-B131-4BB9-ACAE-41886DF518D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20">
            <a:extLst xmlns:a="http://schemas.openxmlformats.org/drawingml/2006/main">
              <a:ext uri="{FF2B5EF4-FFF2-40B4-BE49-F238E27FC236}">
                <a16:creationId xmlns:a16="http://schemas.microsoft.com/office/drawing/2014/main" id="{D665B8A1-562A-4A1D-891A-50B6AE088E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20">
            <a:extLst xmlns:a="http://schemas.openxmlformats.org/drawingml/2006/main">
              <a:ext uri="{FF2B5EF4-FFF2-40B4-BE49-F238E27FC236}">
                <a16:creationId xmlns:a16="http://schemas.microsoft.com/office/drawing/2014/main" id="{5105BA04-0D0F-4B93-B442-BDE4248B6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20">
            <a:extLst xmlns:a="http://schemas.openxmlformats.org/drawingml/2006/main">
              <a:ext uri="{FF2B5EF4-FFF2-40B4-BE49-F238E27FC236}">
                <a16:creationId xmlns:a16="http://schemas.microsoft.com/office/drawing/2014/main" id="{D9F87BF1-6970-4916-9DB6-4B719238B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1">
            <a:extLst xmlns:a="http://schemas.openxmlformats.org/drawingml/2006/main">
              <a:ext uri="{FF2B5EF4-FFF2-40B4-BE49-F238E27FC236}">
                <a16:creationId xmlns:a16="http://schemas.microsoft.com/office/drawing/2014/main" id="{E0383F87-02A5-447F-8213-01006FD8E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21">
            <a:extLst xmlns:a="http://schemas.openxmlformats.org/drawingml/2006/main">
              <a:ext uri="{FF2B5EF4-FFF2-40B4-BE49-F238E27FC236}">
                <a16:creationId xmlns:a16="http://schemas.microsoft.com/office/drawing/2014/main" id="{D5F8CD65-AAB4-4012-80F4-80F13AD1AB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21">
            <a:extLst xmlns:a="http://schemas.openxmlformats.org/drawingml/2006/main">
              <a:ext uri="{FF2B5EF4-FFF2-40B4-BE49-F238E27FC236}">
                <a16:creationId xmlns:a16="http://schemas.microsoft.com/office/drawing/2014/main" id="{CCBF6FCE-3D75-4C4C-B84F-13CB3A7BDE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22">
            <a:extLst xmlns:a="http://schemas.openxmlformats.org/drawingml/2006/main">
              <a:ext uri="{FF2B5EF4-FFF2-40B4-BE49-F238E27FC236}">
                <a16:creationId xmlns:a16="http://schemas.microsoft.com/office/drawing/2014/main" id="{4E9D0DDC-B214-45A9-A3EF-292EBDAF7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22">
            <a:extLst xmlns:a="http://schemas.openxmlformats.org/drawingml/2006/main">
              <a:ext uri="{FF2B5EF4-FFF2-40B4-BE49-F238E27FC236}">
                <a16:creationId xmlns:a16="http://schemas.microsoft.com/office/drawing/2014/main" id="{2C416A8F-677C-4AC4-A532-CB3DF538D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22">
            <a:extLst xmlns:a="http://schemas.openxmlformats.org/drawingml/2006/main">
              <a:ext uri="{FF2B5EF4-FFF2-40B4-BE49-F238E27FC236}">
                <a16:creationId xmlns:a16="http://schemas.microsoft.com/office/drawing/2014/main" id="{5D7908A8-EC9A-4462-AA85-CA5C07F09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22">
            <a:extLst xmlns:a="http://schemas.openxmlformats.org/drawingml/2006/main">
              <a:ext uri="{FF2B5EF4-FFF2-40B4-BE49-F238E27FC236}">
                <a16:creationId xmlns:a16="http://schemas.microsoft.com/office/drawing/2014/main" id="{F7A925B6-930F-495B-BEBE-73FF8160CC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Google Shape;59;p22">
            <a:extLst xmlns:a="http://schemas.openxmlformats.org/drawingml/2006/main">
              <a:ext uri="{FF2B5EF4-FFF2-40B4-BE49-F238E27FC236}">
                <a16:creationId xmlns:a16="http://schemas.microsoft.com/office/drawing/2014/main" id="{ADF5C005-5951-4ED0-928F-A9B6DC60D7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727EA7AA-73B4-4A45-8DEB-4CC464C4A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23">
            <a:extLst xmlns:a="http://schemas.openxmlformats.org/drawingml/2006/main">
              <a:ext uri="{FF2B5EF4-FFF2-40B4-BE49-F238E27FC236}">
                <a16:creationId xmlns:a16="http://schemas.microsoft.com/office/drawing/2014/main" id="{23439A72-EFF3-4858-9916-714998383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23">
            <a:extLst xmlns:a="http://schemas.openxmlformats.org/drawingml/2006/main">
              <a:ext uri="{FF2B5EF4-FFF2-40B4-BE49-F238E27FC236}">
                <a16:creationId xmlns:a16="http://schemas.microsoft.com/office/drawing/2014/main" id="{9CCFD65D-F9E8-47B6-AA75-4ED839509C8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23">
            <a:extLst xmlns:a="http://schemas.openxmlformats.org/drawingml/2006/main">
              <a:ext uri="{FF2B5EF4-FFF2-40B4-BE49-F238E27FC236}">
                <a16:creationId xmlns:a16="http://schemas.microsoft.com/office/drawing/2014/main" id="{2516B032-62C7-4506-9699-2E466A4906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23">
            <a:extLst xmlns:a="http://schemas.openxmlformats.org/drawingml/2006/main">
              <a:ext uri="{FF2B5EF4-FFF2-40B4-BE49-F238E27FC236}">
                <a16:creationId xmlns:a16="http://schemas.microsoft.com/office/drawing/2014/main" id="{65641679-4B5A-474D-843B-4CC3992887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23">
            <a:extLst xmlns:a="http://schemas.openxmlformats.org/drawingml/2006/main">
              <a:ext uri="{FF2B5EF4-FFF2-40B4-BE49-F238E27FC236}">
                <a16:creationId xmlns:a16="http://schemas.microsoft.com/office/drawing/2014/main" id="{8263B83D-155E-423D-BA65-A1B31F1C79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7739FACF-D3C5-41BC-A1B4-FE13789A22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24">
            <a:extLst xmlns:a="http://schemas.openxmlformats.org/drawingml/2006/main">
              <a:ext uri="{FF2B5EF4-FFF2-40B4-BE49-F238E27FC236}">
                <a16:creationId xmlns:a16="http://schemas.microsoft.com/office/drawing/2014/main" id="{D6A8EDBC-8FC5-43C4-A919-32FC824CF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4">
            <a:extLst xmlns:a="http://schemas.openxmlformats.org/drawingml/2006/main">
              <a:ext uri="{FF2B5EF4-FFF2-40B4-BE49-F238E27FC236}">
                <a16:creationId xmlns:a16="http://schemas.microsoft.com/office/drawing/2014/main" id="{4F6D439C-2492-4880-A743-3B40CB9018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4">
            <a:extLst xmlns:a="http://schemas.openxmlformats.org/drawingml/2006/main">
              <a:ext uri="{FF2B5EF4-FFF2-40B4-BE49-F238E27FC236}">
                <a16:creationId xmlns:a16="http://schemas.microsoft.com/office/drawing/2014/main" id="{1D161CA7-72A1-452A-AF55-02F23E138C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24">
            <a:extLst xmlns:a="http://schemas.openxmlformats.org/drawingml/2006/main">
              <a:ext uri="{FF2B5EF4-FFF2-40B4-BE49-F238E27FC236}">
                <a16:creationId xmlns:a16="http://schemas.microsoft.com/office/drawing/2014/main" id="{31A0F4FF-525A-4194-91ED-B60C3DE470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24">
            <a:extLst xmlns:a="http://schemas.openxmlformats.org/drawingml/2006/main">
              <a:ext uri="{FF2B5EF4-FFF2-40B4-BE49-F238E27FC236}">
                <a16:creationId xmlns:a16="http://schemas.microsoft.com/office/drawing/2014/main" id="{B6500811-DBDB-4079-9158-5B3F5AB4F8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25">
            <a:extLst xmlns:a="http://schemas.openxmlformats.org/drawingml/2006/main">
              <a:ext uri="{FF2B5EF4-FFF2-40B4-BE49-F238E27FC236}">
                <a16:creationId xmlns:a16="http://schemas.microsoft.com/office/drawing/2014/main" id="{8620D37C-5D8A-450E-B548-5189F66800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5">
            <a:extLst xmlns:a="http://schemas.openxmlformats.org/drawingml/2006/main">
              <a:ext uri="{FF2B5EF4-FFF2-40B4-BE49-F238E27FC236}">
                <a16:creationId xmlns:a16="http://schemas.microsoft.com/office/drawing/2014/main" id="{D67AB8BD-756F-4B7C-BD72-DD2AEF77BB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5">
            <a:extLst xmlns:a="http://schemas.openxmlformats.org/drawingml/2006/main">
              <a:ext uri="{FF2B5EF4-FFF2-40B4-BE49-F238E27FC236}">
                <a16:creationId xmlns:a16="http://schemas.microsoft.com/office/drawing/2014/main" id="{4D98F694-4E18-4C1E-BA9B-E5D968EA71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25">
            <a:extLst xmlns:a="http://schemas.openxmlformats.org/drawingml/2006/main">
              <a:ext uri="{FF2B5EF4-FFF2-40B4-BE49-F238E27FC236}">
                <a16:creationId xmlns:a16="http://schemas.microsoft.com/office/drawing/2014/main" id="{2A8A0602-2214-4C42-95AF-C9FC292E88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25">
            <a:extLst xmlns:a="http://schemas.openxmlformats.org/drawingml/2006/main">
              <a:ext uri="{FF2B5EF4-FFF2-40B4-BE49-F238E27FC236}">
                <a16:creationId xmlns:a16="http://schemas.microsoft.com/office/drawing/2014/main" id="{E9044BDE-88E8-459E-AA06-BD31A5FC82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de10ac176004750" /><Relationship Type="http://schemas.openxmlformats.org/officeDocument/2006/relationships/theme" Target="/ppt/slideMasters/theme/theme2.xml" Id="R910f235f49824a54" /><Relationship Type="http://schemas.openxmlformats.org/officeDocument/2006/relationships/slideLayout" Target="/ppt/slideLayouts/slideLayout1.xml" Id="R74c7bcdf3b394125" /><Relationship Type="http://schemas.openxmlformats.org/officeDocument/2006/relationships/slideLayout" Target="/ppt/slideLayouts/slideLayout2.xml" Id="R79af5b77979643e4" /><Relationship Type="http://schemas.openxmlformats.org/officeDocument/2006/relationships/slideLayout" Target="/ppt/slideLayouts/slideLayout3.xml" Id="R1b00c13c491d4366" /><Relationship Type="http://schemas.openxmlformats.org/officeDocument/2006/relationships/slideLayout" Target="/ppt/slideLayouts/slideLayout4.xml" Id="Rcd28cf4287024bf9" /><Relationship Type="http://schemas.openxmlformats.org/officeDocument/2006/relationships/slideLayout" Target="/ppt/slideLayouts/slideLayout5.xml" Id="R232f0d31c8be4c28" /><Relationship Type="http://schemas.openxmlformats.org/officeDocument/2006/relationships/slideLayout" Target="/ppt/slideLayouts/slideLayout6.xml" Id="Re05f8d8c51e74e7c" /><Relationship Type="http://schemas.openxmlformats.org/officeDocument/2006/relationships/slideLayout" Target="/ppt/slideLayouts/slideLayout7.xml" Id="Raade61f4d7bb41f0" /><Relationship Type="http://schemas.openxmlformats.org/officeDocument/2006/relationships/slideLayout" Target="/ppt/slideLayouts/slideLayout8.xml" Id="R7c2ed76d80f7482c" /><Relationship Type="http://schemas.openxmlformats.org/officeDocument/2006/relationships/slideLayout" Target="/ppt/slideLayouts/slideLayout9.xml" Id="R08ba05dfd0b24a13" /><Relationship Type="http://schemas.openxmlformats.org/officeDocument/2006/relationships/slideLayout" Target="/ppt/slideLayouts/slideLayout10.xml" Id="R90a3cc00d22548d0" /><Relationship Type="http://schemas.openxmlformats.org/officeDocument/2006/relationships/slideLayout" Target="/ppt/slideLayouts/slideLayout11.xml" Id="Rbe20015ef0fa46a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de10ac17600475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4">
            <a:extLst xmlns:a="http://schemas.openxmlformats.org/drawingml/2006/main">
              <a:ext uri="{FF2B5EF4-FFF2-40B4-BE49-F238E27FC236}">
                <a16:creationId xmlns:a16="http://schemas.microsoft.com/office/drawing/2014/main" id="{0BB41BC8-BE9C-4334-80AC-648905833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4">
            <a:extLst xmlns:a="http://schemas.openxmlformats.org/drawingml/2006/main">
              <a:ext uri="{FF2B5EF4-FFF2-40B4-BE49-F238E27FC236}">
                <a16:creationId xmlns:a16="http://schemas.microsoft.com/office/drawing/2014/main" id="{95F6C9B1-A80C-46FF-AAB5-6D8793CF6C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4">
            <a:extLst xmlns:a="http://schemas.openxmlformats.org/drawingml/2006/main">
              <a:ext uri="{FF2B5EF4-FFF2-40B4-BE49-F238E27FC236}">
                <a16:creationId xmlns:a16="http://schemas.microsoft.com/office/drawing/2014/main" id="{0D652221-BA2A-453D-8FAE-48DB317D4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9;p14">
            <a:extLst xmlns:a="http://schemas.openxmlformats.org/drawingml/2006/main">
              <a:ext uri="{FF2B5EF4-FFF2-40B4-BE49-F238E27FC236}">
                <a16:creationId xmlns:a16="http://schemas.microsoft.com/office/drawing/2014/main" id="{43E94966-4425-41C8-B649-FFD7C04128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14">
            <a:extLst xmlns:a="http://schemas.openxmlformats.org/drawingml/2006/main">
              <a:ext uri="{FF2B5EF4-FFF2-40B4-BE49-F238E27FC236}">
                <a16:creationId xmlns:a16="http://schemas.microsoft.com/office/drawing/2014/main" id="{47B672CB-47F7-4BAC-8D14-B169C6A093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c7bcdf3b394125"/>
    <p:sldLayoutId xmlns:r="http://schemas.openxmlformats.org/officeDocument/2006/relationships" id="2147483650" r:id="R79af5b77979643e4"/>
    <p:sldLayoutId xmlns:r="http://schemas.openxmlformats.org/officeDocument/2006/relationships" id="2147483651" r:id="R1b00c13c491d4366"/>
    <p:sldLayoutId xmlns:r="http://schemas.openxmlformats.org/officeDocument/2006/relationships" id="2147483652" r:id="Rcd28cf4287024bf9"/>
    <p:sldLayoutId xmlns:r="http://schemas.openxmlformats.org/officeDocument/2006/relationships" id="2147483653" r:id="R232f0d31c8be4c28"/>
    <p:sldLayoutId xmlns:r="http://schemas.openxmlformats.org/officeDocument/2006/relationships" id="2147483654" r:id="Re05f8d8c51e74e7c"/>
    <p:sldLayoutId xmlns:r="http://schemas.openxmlformats.org/officeDocument/2006/relationships" id="2147483655" r:id="Raade61f4d7bb41f0"/>
    <p:sldLayoutId xmlns:r="http://schemas.openxmlformats.org/officeDocument/2006/relationships" id="2147483656" r:id="R7c2ed76d80f7482c"/>
    <p:sldLayoutId xmlns:r="http://schemas.openxmlformats.org/officeDocument/2006/relationships" id="2147483657" r:id="R08ba05dfd0b24a13"/>
    <p:sldLayoutId xmlns:r="http://schemas.openxmlformats.org/officeDocument/2006/relationships" id="2147483658" r:id="R90a3cc00d22548d0"/>
    <p:sldLayoutId xmlns:r="http://schemas.openxmlformats.org/officeDocument/2006/relationships" id="2147483659" r:id="Rbe20015ef0fa46a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e100d604f487e" /><Relationship Type="http://schemas.openxmlformats.org/officeDocument/2006/relationships/image" Target="/ppt/media/image2.png" Id="R9e32447bfb124d57" /><Relationship Type="http://schemas.openxmlformats.org/officeDocument/2006/relationships/image" Target="/ppt/media/image3.png" Id="R96a1a55bda9d4d9c" /><Relationship Type="http://schemas.openxmlformats.org/officeDocument/2006/relationships/notesSlide" Target="/ppt/notesSlides/notesSlide1.xml" Id="R44cadf76dd364a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9fe2a7f36e4383" /><Relationship Type="http://schemas.openxmlformats.org/officeDocument/2006/relationships/notesSlide" Target="/ppt/notesSlides/notesSlide2.xml" Id="Ra213b1e35bd9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f3ead8aeb64bef" /><Relationship Type="http://schemas.openxmlformats.org/officeDocument/2006/relationships/notesSlide" Target="/ppt/notesSlides/notesSlide3.xml" Id="Re140e7f33b6b41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3138398f34b2c" /><Relationship Type="http://schemas.openxmlformats.org/officeDocument/2006/relationships/chart" Target="/ppt/slides/charts/chart1.xml" Id="Rf19824f196dd4f94" /><Relationship Type="http://schemas.openxmlformats.org/officeDocument/2006/relationships/notesSlide" Target="/ppt/notesSlides/notesSlide4.xml" Id="Rb5e84b0f7196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3d9c54505b4b30" /><Relationship Type="http://schemas.openxmlformats.org/officeDocument/2006/relationships/notesSlide" Target="/ppt/notesSlides/notesSlide5.xml" Id="Rdde15c9a080b4a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e311c985a04896" /><Relationship Type="http://schemas.openxmlformats.org/officeDocument/2006/relationships/notesSlide" Target="/ppt/notesSlides/notesSlide6.xml" Id="R80377718b5794a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1ad7a65b3542f4" /><Relationship Type="http://schemas.openxmlformats.org/officeDocument/2006/relationships/notesSlide" Target="/ppt/notesSlides/notesSlide7.xml" Id="R54228b80910a44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afba5b6d948b1" /><Relationship Type="http://schemas.openxmlformats.org/officeDocument/2006/relationships/image" Target="/ppt/media/image4.png" Id="Rd7d574df32ab41a0" /><Relationship Type="http://schemas.openxmlformats.org/officeDocument/2006/relationships/notesSlide" Target="/ppt/notesSlides/notesSlide8.xml" Id="R8fc47f3629ba41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db89dd6f64733" /><Relationship Type="http://schemas.openxmlformats.org/officeDocument/2006/relationships/notesSlide" Target="/ppt/notesSlides/notesSlide9.xml" Id="R9d3d6ce33b7546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e04e969d6d4e6b" /><Relationship Type="http://schemas.openxmlformats.org/officeDocument/2006/relationships/notesSlide" Target="/ppt/notesSlides/notesSlide10.xml" Id="R6259d17b946b44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7235319244d2d" /><Relationship Type="http://schemas.openxmlformats.org/officeDocument/2006/relationships/notesSlide" Target="/ppt/notesSlides/notesSlide11.xml" Id="R65a5330362e94c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8196838b84fc2" /><Relationship Type="http://schemas.openxmlformats.org/officeDocument/2006/relationships/notesSlide" Target="/ppt/notesSlides/notesSlide12.xml" Id="Re7fa375dd28c43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48281151b4219" /><Relationship Type="http://schemas.openxmlformats.org/officeDocument/2006/relationships/notesSlide" Target="/ppt/notesSlides/notesSlide13.xml" Id="R26380e3c3ea44d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25400fcd2748b7" /><Relationship Type="http://schemas.openxmlformats.org/officeDocument/2006/relationships/image" Target="/ppt/media/image5.png" Id="R1b4c383888b54cec" /><Relationship Type="http://schemas.openxmlformats.org/officeDocument/2006/relationships/notesSlide" Target="/ppt/notesSlides/notesSlide14.xml" Id="Rcfac2bb438ab4a2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Estado de los 27 RF</c:v>
          </c:tx>
          <c:spPr>
            <a:ln xmlns:a="http://schemas.openxmlformats.org/drawingml/2006/main" w="19050">
              <a:solidFill>
                <a:srgbClr val="153D30"/>
              </a:solidFill>
            </a:ln>
          </c:spPr>
          <c:dPt>
            <c:idx val="0"/>
            <c:spPr>
              <a:solidFill xmlns:a="http://schemas.openxmlformats.org/drawingml/2006/main">
                <a:srgbClr val="CDE2CC"/>
              </a:solidFill>
            </c:spPr>
          </c:dPt>
          <c:dPt>
            <c:idx val="1"/>
            <c:spPr>
              <a:solidFill xmlns:a="http://schemas.openxmlformats.org/drawingml/2006/main">
                <a:srgbClr val="D7B66F"/>
              </a:solidFill>
            </c:spPr>
          </c:dPt>
          <c:dPt>
            <c:idx val="2"/>
            <c:spPr>
              <a:solidFill xmlns:a="http://schemas.openxmlformats.org/drawingml/2006/main">
                <a:srgbClr val="88A898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575" b="1">
                    <a:solidFill>
                      <a:srgbClr val="153D30"/>
                    </a:solidFill>
                    <a:latin typeface="Segoe UI"/>
                    <a:ea typeface="Segoe UI"/>
                    <a:cs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Completos</c:v>
                </c:pt>
                <c:pt idx="1">
                  <c:v>Parciales</c:v>
                </c:pt>
                <c:pt idx="2">
                  <c:v>Pendientes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</c:v>
                </c:pt>
                <c:pt idx="1">
                  <c:v>3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53D30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153D3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FFFFFF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153D3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B654-D9D3-49E1-9E78-F0A5CBCA2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2447bfb124d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312AB-A3C2-4E54-A79D-6647BD2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alunza.">
            <a:extLst xmlns:a="http://schemas.openxmlformats.org/drawingml/2006/main">
              <a:ext uri="{FF2B5EF4-FFF2-40B4-BE49-F238E27FC236}">
                <a16:creationId xmlns:a16="http://schemas.microsoft.com/office/drawing/2014/main" id="{CE947C32-326F-4114-901F-7E0E9947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BD7B1-6F57-47AA-BC16-F9D5020FB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1a55bda9d4d9c"/>
          <a:srcRect xmlns:a="http://schemas.openxmlformats.org/drawingml/2006/main" l="33529" t="1563" r="33602" b="87500"/>
          <a:stretch xmlns:a="http://schemas.openxmlformats.org/drawingml/2006/main"/>
        </p:blipFill>
        <p:spPr>
          <a:xfrm xmlns:a="http://schemas.openxmlformats.org/drawingml/2006/main">
            <a:off x="8029575" y="266700"/>
            <a:ext cx="3552825" cy="664671"/>
          </a:xfrm>
          <a:prstGeom xmlns:a="http://schemas.openxmlformats.org/drawingml/2006/main" prst="rect">
            <a:avLst/>
          </a:prstGeom>
        </p:spPr>
      </p:pic>
      <p:sp>
        <p:nvSpPr>
          <p:cNvPr id="5" name="PROYECTO APT · FASE 2">
            <a:extLst xmlns:a="http://schemas.openxmlformats.org/drawingml/2006/main">
              <a:ext uri="{FF2B5EF4-FFF2-40B4-BE49-F238E27FC236}">
                <a16:creationId xmlns:a16="http://schemas.microsoft.com/office/drawing/2014/main" id="{7622DF8A-9B5B-4174-B2AE-0E86753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PROYECTO APT · FASE 2</a:t>
            </a:r>
          </a:p>
        </p:txBody>
      </p:sp>
      <p:sp>
        <p:nvSpPr>
          <p:cNvPr id="6" name="Tutor de Programación I">
            <a:extLst xmlns:a="http://schemas.openxmlformats.org/drawingml/2006/main">
              <a:ext uri="{FF2B5EF4-FFF2-40B4-BE49-F238E27FC236}">
                <a16:creationId xmlns:a16="http://schemas.microsoft.com/office/drawing/2014/main" id="{2487AAE8-AE06-4AD9-B843-CA6E4E3E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09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Tutor de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Programación I</a:t>
            </a:r>
          </a:p>
        </p:txBody>
      </p:sp>
      <p:sp>
        <p:nvSpPr>
          <p:cNvPr id="7" name="Práctica de JavaScript con orientación formativa">
            <a:extLst xmlns:a="http://schemas.openxmlformats.org/drawingml/2006/main">
              <a:ext uri="{FF2B5EF4-FFF2-40B4-BE49-F238E27FC236}">
                <a16:creationId xmlns:a16="http://schemas.microsoft.com/office/drawing/2014/main" id="{56B7C1A9-D7A9-44C6-BD83-B2C7FAA8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Práctica de JavaScript con orientación formativa</a:t>
            </a:r>
          </a:p>
        </p:txBody>
      </p:sp>
      <p:sp>
        <p:nvSpPr>
          <p:cNvPr id="8" name="Benjamin Pérez Olguin Abraham Retamal Marcelo Ignacio Núñez San Martín">
            <a:extLst xmlns:a="http://schemas.openxmlformats.org/drawingml/2006/main">
              <a:ext uri="{FF2B5EF4-FFF2-40B4-BE49-F238E27FC236}">
                <a16:creationId xmlns:a16="http://schemas.microsoft.com/office/drawing/2014/main" id="{0B7EE3C8-13EC-4AD8-BDE1-40D6A474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572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Benjamin Pérez Olguin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Abraham Retamal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Marcelo Ignacio Núñez San Martín</a:t>
            </a:r>
          </a:p>
        </p:txBody>
      </p:sp>
      <p:sp>
        <p:nvSpPr>
          <p:cNvPr id="9" name="Docente guía: Fabián Saldaño Ingeniería en Informática Sede Puente Alto">
            <a:extLst xmlns:a="http://schemas.openxmlformats.org/drawingml/2006/main">
              <a:ext uri="{FF2B5EF4-FFF2-40B4-BE49-F238E27FC236}">
                <a16:creationId xmlns:a16="http://schemas.microsoft.com/office/drawing/2014/main" id="{BB553AD5-D5B0-48AB-A278-36A2E319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067300"/>
            <a:ext cx="3667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Docente guía: Fabián Saldaño</a:t>
            </a:r>
          </a:p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Ingeniería en Informática</a:t>
            </a:r>
          </a:p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Sede Puente Alto</a:t>
            </a:r>
          </a:p>
        </p:txBody>
      </p:sp>
      <p:sp>
        <p:nvSpPr>
          <p:cNvPr id="10" name="16 de octubre de 2026">
            <a:extLst xmlns:a="http://schemas.openxmlformats.org/drawingml/2006/main">
              <a:ext uri="{FF2B5EF4-FFF2-40B4-BE49-F238E27FC236}">
                <a16:creationId xmlns:a16="http://schemas.microsoft.com/office/drawing/2014/main" id="{53F0ED54-E9D6-4EC5-BAEA-003F0ED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03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23 de octubre de 2026</a:t>
            </a:r>
          </a:p>
        </p:txBody>
      </p:sp>
      <p:sp>
        <p:nvSpPr>
          <p:cNvPr id="11" name="01 / 14">
            <a:extLst xmlns:a="http://schemas.openxmlformats.org/drawingml/2006/main">
              <a:ext uri="{FF2B5EF4-FFF2-40B4-BE49-F238E27FC236}">
                <a16:creationId xmlns:a16="http://schemas.microsoft.com/office/drawing/2014/main" id="{4BE29108-437F-4F5D-AFB4-5B916E2F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660277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lunza.">
            <a:extLst xmlns:a="http://schemas.openxmlformats.org/drawingml/2006/main">
              <a:ext uri="{FF2B5EF4-FFF2-40B4-BE49-F238E27FC236}">
                <a16:creationId xmlns:a16="http://schemas.microsoft.com/office/drawing/2014/main" id="{B6573CC1-94A8-43D5-923D-47E8D10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933E64C2-8E15-487E-90D9-6D3C6200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Índice">
            <a:extLst xmlns:a="http://schemas.openxmlformats.org/drawingml/2006/main">
              <a:ext uri="{FF2B5EF4-FFF2-40B4-BE49-F238E27FC236}">
                <a16:creationId xmlns:a16="http://schemas.microsoft.com/office/drawing/2014/main" id="{0196CBEC-1123-49C6-A089-B86F8C96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Índice</a:t>
            </a:r>
          </a:p>
        </p:txBody>
      </p:sp>
      <p:sp>
        <p:nvSpPr>
          <p:cNvPr id="4" name="02 / 14">
            <a:extLst xmlns:a="http://schemas.openxmlformats.org/drawingml/2006/main">
              <a:ext uri="{FF2B5EF4-FFF2-40B4-BE49-F238E27FC236}">
                <a16:creationId xmlns:a16="http://schemas.microsoft.com/office/drawing/2014/main" id="{DC8FFBAC-CD82-40D2-BB9A-5435DF77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02 / 14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8F5919A-8A71-4FBC-A230-E13FBBF9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6" name="Problema, solución y alcance">
            <a:extLst xmlns:a="http://schemas.openxmlformats.org/drawingml/2006/main">
              <a:ext uri="{FF2B5EF4-FFF2-40B4-BE49-F238E27FC236}">
                <a16:creationId xmlns:a16="http://schemas.microsoft.com/office/drawing/2014/main" id="{DD2F77E4-3842-409C-87F4-0B51D850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383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Problema, solución y alcance</a:t>
            </a:r>
          </a:p>
        </p:txBody>
      </p:sp>
      <p:sp>
        <p:nvSpPr>
          <p:cNvPr id="7" name="03–05">
            <a:extLst xmlns:a="http://schemas.openxmlformats.org/drawingml/2006/main">
              <a:ext uri="{FF2B5EF4-FFF2-40B4-BE49-F238E27FC236}">
                <a16:creationId xmlns:a16="http://schemas.microsoft.com/office/drawing/2014/main" id="{E4748955-672B-44B8-A991-789C1C3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859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03–05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62D737F8-B116-4980-8B69-C2FF58AE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Requerimientos">
            <a:extLst xmlns:a="http://schemas.openxmlformats.org/drawingml/2006/main">
              <a:ext uri="{FF2B5EF4-FFF2-40B4-BE49-F238E27FC236}">
                <a16:creationId xmlns:a16="http://schemas.microsoft.com/office/drawing/2014/main" id="{0877117D-83DF-4B14-85C3-369BC180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241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Requerimientos</a:t>
            </a:r>
          </a:p>
        </p:txBody>
      </p:sp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C3739858-32B2-4BE7-AD67-D8B949A8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717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135D8D41-0C9F-49A9-8368-1C7A7753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Diseño del sistema y tecnologías">
            <a:extLst xmlns:a="http://schemas.openxmlformats.org/drawingml/2006/main">
              <a:ext uri="{FF2B5EF4-FFF2-40B4-BE49-F238E27FC236}">
                <a16:creationId xmlns:a16="http://schemas.microsoft.com/office/drawing/2014/main" id="{02E3D3EF-FFED-4C8C-BE12-61119BE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099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Diseño del sistema y tecnologías</a:t>
            </a:r>
          </a:p>
        </p:txBody>
      </p:sp>
      <p:sp>
        <p:nvSpPr>
          <p:cNvPr id="13" name="07–10">
            <a:extLst xmlns:a="http://schemas.openxmlformats.org/drawingml/2006/main">
              <a:ext uri="{FF2B5EF4-FFF2-40B4-BE49-F238E27FC236}">
                <a16:creationId xmlns:a16="http://schemas.microsoft.com/office/drawing/2014/main" id="{3AD96520-F8AE-49C6-B1FB-74EBF070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575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07–10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7AEF58C1-A12D-4CC0-BE54-E07196AE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5" name="Planificación y riesgos">
            <a:extLst xmlns:a="http://schemas.openxmlformats.org/drawingml/2006/main">
              <a:ext uri="{FF2B5EF4-FFF2-40B4-BE49-F238E27FC236}">
                <a16:creationId xmlns:a16="http://schemas.microsoft.com/office/drawing/2014/main" id="{974AB3D9-7A7B-42CE-AA61-DA801545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957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Planificación y riesgos</a:t>
            </a:r>
          </a:p>
        </p:txBody>
      </p:sp>
      <p:sp>
        <p:nvSpPr>
          <p:cNvPr id="16" name="11–12">
            <a:extLst xmlns:a="http://schemas.openxmlformats.org/drawingml/2006/main">
              <a:ext uri="{FF2B5EF4-FFF2-40B4-BE49-F238E27FC236}">
                <a16:creationId xmlns:a16="http://schemas.microsoft.com/office/drawing/2014/main" id="{845150A6-17F3-4C76-9C37-6C617833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433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11–12</a:t>
            </a:r>
          </a:p>
        </p:txBody>
      </p:sp>
      <p:sp>
        <p:nvSpPr>
          <p:cNvPr id="17" name="05">
            <a:extLst xmlns:a="http://schemas.openxmlformats.org/drawingml/2006/main">
              <a:ext uri="{FF2B5EF4-FFF2-40B4-BE49-F238E27FC236}">
                <a16:creationId xmlns:a16="http://schemas.microsoft.com/office/drawing/2014/main" id="{15161CB3-6BEC-446C-9439-F57EAAD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8" name="Costos estimados">
            <a:extLst xmlns:a="http://schemas.openxmlformats.org/drawingml/2006/main">
              <a:ext uri="{FF2B5EF4-FFF2-40B4-BE49-F238E27FC236}">
                <a16:creationId xmlns:a16="http://schemas.microsoft.com/office/drawing/2014/main" id="{54292245-C210-400F-B8C8-766A69E8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815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Costos estimados</a:t>
            </a:r>
          </a:p>
        </p:txBody>
      </p:sp>
      <p:sp>
        <p:nvSpPr>
          <p:cNvPr id="19" name="13">
            <a:extLst xmlns:a="http://schemas.openxmlformats.org/drawingml/2006/main">
              <a:ext uri="{FF2B5EF4-FFF2-40B4-BE49-F238E27FC236}">
                <a16:creationId xmlns:a16="http://schemas.microsoft.com/office/drawing/2014/main" id="{A1131D94-5DDC-43BA-8CFE-0BF2545C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291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20" name="06">
            <a:extLst xmlns:a="http://schemas.openxmlformats.org/drawingml/2006/main">
              <a:ext uri="{FF2B5EF4-FFF2-40B4-BE49-F238E27FC236}">
                <a16:creationId xmlns:a16="http://schemas.microsoft.com/office/drawing/2014/main" id="{E9613A63-823C-480F-9E0F-414594F9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1" name="Demostración del incremento">
            <a:extLst xmlns:a="http://schemas.openxmlformats.org/drawingml/2006/main">
              <a:ext uri="{FF2B5EF4-FFF2-40B4-BE49-F238E27FC236}">
                <a16:creationId xmlns:a16="http://schemas.microsoft.com/office/drawing/2014/main" id="{EFE63F56-EEFF-418E-AE85-F5F6A3BE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673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Demostración del incremento</a:t>
            </a:r>
          </a:p>
        </p:txBody>
      </p:sp>
      <p:sp>
        <p:nvSpPr>
          <p:cNvPr id="22" name="14">
            <a:extLst xmlns:a="http://schemas.openxmlformats.org/drawingml/2006/main">
              <a:ext uri="{FF2B5EF4-FFF2-40B4-BE49-F238E27FC236}">
                <a16:creationId xmlns:a16="http://schemas.microsoft.com/office/drawing/2014/main" id="{098B2B43-D7BB-4D2D-B381-2E61668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149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9755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lunza.">
            <a:extLst xmlns:a="http://schemas.openxmlformats.org/drawingml/2006/main">
              <a:ext uri="{FF2B5EF4-FFF2-40B4-BE49-F238E27FC236}">
                <a16:creationId xmlns:a16="http://schemas.microsoft.com/office/drawing/2014/main" id="{597C46DB-8EE1-47C5-822B-8D99CDC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D5858770-F559-4BF7-B3D4-A8F9AFB4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Problemática a resolver">
            <a:extLst xmlns:a="http://schemas.openxmlformats.org/drawingml/2006/main">
              <a:ext uri="{FF2B5EF4-FFF2-40B4-BE49-F238E27FC236}">
                <a16:creationId xmlns:a16="http://schemas.microsoft.com/office/drawing/2014/main" id="{1AD16A93-4794-4A44-9DB4-4590239C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Problemática a resolver</a:t>
            </a:r>
          </a:p>
        </p:txBody>
      </p:sp>
      <p:sp>
        <p:nvSpPr>
          <p:cNvPr id="4" name="03 / 14">
            <a:extLst xmlns:a="http://schemas.openxmlformats.org/drawingml/2006/main">
              <a:ext uri="{FF2B5EF4-FFF2-40B4-BE49-F238E27FC236}">
                <a16:creationId xmlns:a16="http://schemas.microsoft.com/office/drawing/2014/main" id="{53189714-9983-489F-8963-B0935C55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03 / 14</a:t>
            </a:r>
          </a:p>
        </p:txBody>
      </p:sp>
      <p:sp>
        <p:nvSpPr>
          <p:cNvPr id="5" name="ESTUDIANTE">
            <a:extLst xmlns:a="http://schemas.openxmlformats.org/drawingml/2006/main">
              <a:ext uri="{FF2B5EF4-FFF2-40B4-BE49-F238E27FC236}">
                <a16:creationId xmlns:a16="http://schemas.microsoft.com/office/drawing/2014/main" id="{8E5717FD-0E3C-4938-A567-2933D44A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ESTUDIANTE</a:t>
            </a:r>
          </a:p>
        </p:txBody>
      </p:sp>
      <p:sp>
        <p:nvSpPr>
          <p:cNvPr id="6" name="Comprender cómo corregir">
            <a:extLst xmlns:a="http://schemas.openxmlformats.org/drawingml/2006/main">
              <a:ext uri="{FF2B5EF4-FFF2-40B4-BE49-F238E27FC236}">
                <a16:creationId xmlns:a16="http://schemas.microsoft.com/office/drawing/2014/main" id="{2BD8FB7F-D6BA-4EEB-88DD-0D8CD539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1244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Comprender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cómo corregir</a:t>
            </a:r>
          </a:p>
        </p:txBody>
      </p:sp>
      <p:sp>
        <p:nvSpPr>
          <p:cNvPr id="7" name="Una solución falla, pero el resultado no siempre explica cómo corregirla.">
            <a:extLst xmlns:a="http://schemas.openxmlformats.org/drawingml/2006/main">
              <a:ext uri="{FF2B5EF4-FFF2-40B4-BE49-F238E27FC236}">
                <a16:creationId xmlns:a16="http://schemas.microsoft.com/office/drawing/2014/main" id="{5F25438F-D00A-4576-8E8A-CD994FD2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095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Una solución falla, pero el resultado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no siempre explica cómo corregirla.</a:t>
            </a:r>
          </a:p>
        </p:txBody>
      </p:sp>
      <p:sp>
        <p:nvSpPr>
          <p:cNvPr id="8" name="Necesita orientación relacionada con su código y el material de la clase.">
            <a:extLst xmlns:a="http://schemas.openxmlformats.org/drawingml/2006/main">
              <a:ext uri="{FF2B5EF4-FFF2-40B4-BE49-F238E27FC236}">
                <a16:creationId xmlns:a16="http://schemas.microsoft.com/office/drawing/2014/main" id="{28B4DD11-9F21-456B-9DE1-2C1F6172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Necesita orientación relacionada con su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código y el material de la clase.</a:t>
            </a:r>
          </a:p>
        </p:txBody>
      </p:sp>
      <p:sp>
        <p:nvSpPr>
          <p:cNvPr id="9" name="DOCENTE">
            <a:extLst xmlns:a="http://schemas.openxmlformats.org/drawingml/2006/main">
              <a:ext uri="{FF2B5EF4-FFF2-40B4-BE49-F238E27FC236}">
                <a16:creationId xmlns:a16="http://schemas.microsoft.com/office/drawing/2014/main" id="{CCEAFA23-4A7C-46D9-8D52-E449543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76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DOCENTE</a:t>
            </a:r>
          </a:p>
        </p:txBody>
      </p:sp>
      <p:sp>
        <p:nvSpPr>
          <p:cNvPr id="10" name="Identificar errores recurrentes">
            <a:extLst xmlns:a="http://schemas.openxmlformats.org/drawingml/2006/main">
              <a:ext uri="{FF2B5EF4-FFF2-40B4-BE49-F238E27FC236}">
                <a16:creationId xmlns:a16="http://schemas.microsoft.com/office/drawing/2014/main" id="{E0E7849E-F1DD-4B6B-826E-F66DD862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62225"/>
            <a:ext cx="4800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Identificar errores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recurrentes</a:t>
            </a:r>
          </a:p>
        </p:txBody>
      </p:sp>
      <p:sp>
        <p:nvSpPr>
          <p:cNvPr id="11" name="Revisar numerosos intentos dificulta identificar patrones de error.">
            <a:extLst xmlns:a="http://schemas.openxmlformats.org/drawingml/2006/main">
              <a:ext uri="{FF2B5EF4-FFF2-40B4-BE49-F238E27FC236}">
                <a16:creationId xmlns:a16="http://schemas.microsoft.com/office/drawing/2014/main" id="{5BAB276D-48DA-46C4-A552-7C332987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00500"/>
            <a:ext cx="47720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Revisar numerosos intentos dificulta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identificar patrones de error.</a:t>
            </a:r>
          </a:p>
        </p:txBody>
      </p:sp>
      <p:sp>
        <p:nvSpPr>
          <p:cNvPr id="12" name="Necesita evidencia trazable para decidir a quién acompañar.">
            <a:extLst xmlns:a="http://schemas.openxmlformats.org/drawingml/2006/main">
              <a:ext uri="{FF2B5EF4-FFF2-40B4-BE49-F238E27FC236}">
                <a16:creationId xmlns:a16="http://schemas.microsoft.com/office/drawing/2014/main" id="{B392BF8D-62D7-4CEE-B709-01736F6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05400"/>
            <a:ext cx="47720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Necesita evidencia trazable para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decidir a quién acompañar.</a:t>
            </a:r>
          </a:p>
        </p:txBody>
      </p:sp>
      <p:sp>
        <p:nvSpPr>
          <p:cNvPr id="13" name="La necesidad une práctica, evidencia técnica y orientación formativa.">
            <a:extLst xmlns:a="http://schemas.openxmlformats.org/drawingml/2006/main">
              <a:ext uri="{FF2B5EF4-FFF2-40B4-BE49-F238E27FC236}">
                <a16:creationId xmlns:a16="http://schemas.microsoft.com/office/drawing/2014/main" id="{B4976325-C586-4795-ABD9-1F40FE0A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0552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La necesidad une práctica, evidencia técnica y orientación formativa.</a:t>
            </a:r>
          </a:p>
        </p:txBody>
      </p:sp>
    </p:spTree>
    <p:extLst>
      <p:ext uri="{BB962C8B-B14F-4D97-AF65-F5344CB8AC3E}">
        <p14:creationId xmlns:p14="http://schemas.microsoft.com/office/powerpoint/2010/main" val="370166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3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1357A752-ABB8-4B85-AB4A-5F0AF9E491FA}"/>
              </a:ext>
            </a:extLst>
          </p:cNvPr>
          <p:cNvGraphicFramePr/>
          <p:nvPr/>
        </p:nvGraphicFramePr>
        <p:xfrm>
          <a:off xmlns:a="http://schemas.openxmlformats.org/drawingml/2006/main" x="6877050" y="1838325"/>
          <a:ext xmlns:a="http://schemas.openxmlformats.org/drawingml/2006/main" cx="470535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9824f196dd4f94"/>
          </a:graphicData>
        </a:graphic>
      </p:graphicFrame>
      <p:sp>
        <p:nvSpPr>
          <p:cNvPr id="13" name="alunza.">
            <a:extLst xmlns:a="http://schemas.openxmlformats.org/drawingml/2006/main">
              <a:ext uri="{FF2B5EF4-FFF2-40B4-BE49-F238E27FC236}">
                <a16:creationId xmlns:a16="http://schemas.microsoft.com/office/drawing/2014/main" id="{2B3CF605-F80F-4BC5-BA86-07033803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0D947B85-0D44-4E15-A568-645F049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Solución y avance comprobado">
            <a:extLst xmlns:a="http://schemas.openxmlformats.org/drawingml/2006/main">
              <a:ext uri="{FF2B5EF4-FFF2-40B4-BE49-F238E27FC236}">
                <a16:creationId xmlns:a16="http://schemas.microsoft.com/office/drawing/2014/main" id="{D14CEFC3-0E93-4C25-8150-3FFE603D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Solución y avance comprobado</a:t>
            </a:r>
          </a:p>
        </p:txBody>
      </p:sp>
      <p:sp>
        <p:nvSpPr>
          <p:cNvPr id="4" name="04 / 14">
            <a:extLst xmlns:a="http://schemas.openxmlformats.org/drawingml/2006/main">
              <a:ext uri="{FF2B5EF4-FFF2-40B4-BE49-F238E27FC236}">
                <a16:creationId xmlns:a16="http://schemas.microsoft.com/office/drawing/2014/main" id="{F0133800-9C5E-4C53-8332-3B8DEC78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04 / 14</a:t>
            </a:r>
          </a:p>
        </p:txBody>
      </p:sp>
      <p:sp>
        <p:nvSpPr>
          <p:cNvPr id="5" name="Objetivo del proyecto">
            <a:extLst xmlns:a="http://schemas.openxmlformats.org/drawingml/2006/main">
              <a:ext uri="{FF2B5EF4-FFF2-40B4-BE49-F238E27FC236}">
                <a16:creationId xmlns:a16="http://schemas.microsoft.com/office/drawing/2014/main" id="{2EACB52C-93FD-4815-9C2E-D1471F38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Objetivo del proyecto</a:t>
            </a:r>
          </a:p>
        </p:txBody>
      </p:sp>
      <p:sp>
        <p:nvSpPr>
          <p:cNvPr id="6" name="Apoyar Programación I con verificación de código, ayuda contextual y seguimiento">
            <a:extLst xmlns:a="http://schemas.openxmlformats.org/drawingml/2006/main">
              <a:ext uri="{FF2B5EF4-FFF2-40B4-BE49-F238E27FC236}">
                <a16:creationId xmlns:a16="http://schemas.microsoft.com/office/drawing/2014/main" id="{7511BF9B-91A8-4331-B8A0-B722A935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57150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Apoyar Programación I con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verificación de código, ayuda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contextual y seguimiento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docente explicable.</a:t>
            </a:r>
          </a:p>
        </p:txBody>
      </p:sp>
      <p:sp>
        <p:nvSpPr>
          <p:cNvPr id="7" name="Propuesta de valor">
            <a:extLst xmlns:a="http://schemas.openxmlformats.org/drawingml/2006/main">
              <a:ext uri="{FF2B5EF4-FFF2-40B4-BE49-F238E27FC236}">
                <a16:creationId xmlns:a16="http://schemas.microsoft.com/office/drawing/2014/main" id="{A8169B07-B006-4AB3-9982-124A6309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Propuesta de valor</a:t>
            </a:r>
          </a:p>
        </p:txBody>
      </p:sp>
      <p:sp>
        <p:nvSpPr>
          <p:cNvPr id="8" name="Resultados deterministas y fuentes docentes autorizadas, con control pedagógico ">
            <a:extLst xmlns:a="http://schemas.openxmlformats.org/drawingml/2006/main">
              <a:ext uri="{FF2B5EF4-FFF2-40B4-BE49-F238E27FC236}">
                <a16:creationId xmlns:a16="http://schemas.microsoft.com/office/drawing/2014/main" id="{CBFF1FC0-913A-4277-8E84-BD2D69B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590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deterministas y fuentes docentes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autorizadas, con control pedagógico del profesor.</a:t>
            </a:r>
          </a:p>
        </p:txBody>
      </p:sp>
      <p:sp>
        <p:nvSpPr>
          <p:cNvPr id="10" name="51,9 %">
            <a:extLst xmlns:a="http://schemas.openxmlformats.org/drawingml/2006/main">
              <a:ext uri="{FF2B5EF4-FFF2-40B4-BE49-F238E27FC236}">
                <a16:creationId xmlns:a16="http://schemas.microsoft.com/office/drawing/2014/main" id="{5D60AEA4-000F-4933-B1EA-FBEFA1AC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2752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4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51,9 %</a:t>
            </a:r>
          </a:p>
        </p:txBody>
      </p:sp>
      <p:sp>
        <p:nvSpPr>
          <p:cNvPr id="11" name="14 de 27 RF">
            <a:extLst xmlns:a="http://schemas.openxmlformats.org/drawingml/2006/main">
              <a:ext uri="{FF2B5EF4-FFF2-40B4-BE49-F238E27FC236}">
                <a16:creationId xmlns:a16="http://schemas.microsoft.com/office/drawing/2014/main" id="{83227979-9CB8-4F5B-8836-022F105E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338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14 de 27 RF</a:t>
            </a:r>
          </a:p>
        </p:txBody>
      </p:sp>
      <p:sp>
        <p:nvSpPr>
          <p:cNvPr id="12" name="Corte verificado: 28/09/2026. La cobertura funcional no mide impacto educativo.">
            <a:extLst xmlns:a="http://schemas.openxmlformats.org/drawingml/2006/main">
              <a:ext uri="{FF2B5EF4-FFF2-40B4-BE49-F238E27FC236}">
                <a16:creationId xmlns:a16="http://schemas.microsoft.com/office/drawing/2014/main" id="{4B6DA881-41F0-453A-BB38-A4AA4E75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Corte verificado: 23/10/2026. La cobertura funcional no mide impacto educativo.</a:t>
            </a:r>
          </a:p>
        </p:txBody>
      </p:sp>
    </p:spTree>
    <p:extLst>
      <p:ext uri="{BB962C8B-B14F-4D97-AF65-F5344CB8AC3E}">
        <p14:creationId xmlns:p14="http://schemas.microsoft.com/office/powerpoint/2010/main" val="825105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lunza.">
            <a:extLst xmlns:a="http://schemas.openxmlformats.org/drawingml/2006/main">
              <a:ext uri="{FF2B5EF4-FFF2-40B4-BE49-F238E27FC236}">
                <a16:creationId xmlns:a16="http://schemas.microsoft.com/office/drawing/2014/main" id="{FD05EDA2-B4BE-4E37-8E4D-7BB8A73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8ECE2959-42FA-4BF3-84A2-35DF065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Alcance del incremento">
            <a:extLst xmlns:a="http://schemas.openxmlformats.org/drawingml/2006/main">
              <a:ext uri="{FF2B5EF4-FFF2-40B4-BE49-F238E27FC236}">
                <a16:creationId xmlns:a16="http://schemas.microsoft.com/office/drawing/2014/main" id="{FA3F5EB8-7635-4332-B058-FC7DAAD1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Alcance del incremento</a:t>
            </a:r>
          </a:p>
        </p:txBody>
      </p:sp>
      <p:sp>
        <p:nvSpPr>
          <p:cNvPr id="4" name="05 / 14">
            <a:extLst xmlns:a="http://schemas.openxmlformats.org/drawingml/2006/main">
              <a:ext uri="{FF2B5EF4-FFF2-40B4-BE49-F238E27FC236}">
                <a16:creationId xmlns:a16="http://schemas.microsoft.com/office/drawing/2014/main" id="{3B60739B-5733-4D62-B384-8EB5E216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05 / 14</a:t>
            </a:r>
          </a:p>
        </p:txBody>
      </p:sp>
      <p:sp>
        <p:nvSpPr>
          <p:cNvPr id="5" name="Disponible">
            <a:extLst xmlns:a="http://schemas.openxmlformats.org/drawingml/2006/main">
              <a:ext uri="{FF2B5EF4-FFF2-40B4-BE49-F238E27FC236}">
                <a16:creationId xmlns:a16="http://schemas.microsoft.com/office/drawing/2014/main" id="{40141B31-63D9-4705-AEB0-A3118DE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3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Disponible</a:t>
            </a:r>
          </a:p>
        </p:txBody>
      </p:sp>
      <p:sp>
        <p:nvSpPr>
          <p:cNvPr id="6" name="Probado localmente">
            <a:extLst xmlns:a="http://schemas.openxmlformats.org/drawingml/2006/main">
              <a:ext uri="{FF2B5EF4-FFF2-40B4-BE49-F238E27FC236}">
                <a16:creationId xmlns:a16="http://schemas.microsoft.com/office/drawing/2014/main" id="{D910A77E-9056-4395-AD17-A46B27A6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81275"/>
            <a:ext cx="514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Probado localmente</a:t>
            </a:r>
          </a:p>
        </p:txBody>
      </p:sp>
      <p:sp>
        <p:nvSpPr>
          <p:cNvPr id="7" name="Acceso y gobierno institucional Cursos, clases e incorporación Conceptos y ejerc">
            <a:extLst xmlns:a="http://schemas.openxmlformats.org/drawingml/2006/main">
              <a:ext uri="{FF2B5EF4-FFF2-40B4-BE49-F238E27FC236}">
                <a16:creationId xmlns:a16="http://schemas.microsoft.com/office/drawing/2014/main" id="{7EC9127D-99C7-4993-A20E-005D459C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Acceso, clases y contenido versionado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Editor y ejecución local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Envíos, diagnóstico e historial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Avance por actividad</a:t>
            </a:r>
          </a:p>
        </p:txBody>
      </p:sp>
      <p:sp>
        <p:nvSpPr>
          <p:cNvPr id="8" name="Pendiente">
            <a:extLst xmlns:a="http://schemas.openxmlformats.org/drawingml/2006/main">
              <a:ext uri="{FF2B5EF4-FFF2-40B4-BE49-F238E27FC236}">
                <a16:creationId xmlns:a16="http://schemas.microsoft.com/office/drawing/2014/main" id="{61CB4B9C-FC7C-4DA5-9AB5-83E78B4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57400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9" name="Requiere integración">
            <a:extLst xmlns:a="http://schemas.openxmlformats.org/drawingml/2006/main">
              <a:ext uri="{FF2B5EF4-FFF2-40B4-BE49-F238E27FC236}">
                <a16:creationId xmlns:a16="http://schemas.microsoft.com/office/drawing/2014/main" id="{058A1E3F-68CE-426D-824F-98ACF728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81275"/>
            <a:ext cx="4800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Requiere integración</a:t>
            </a:r>
          </a:p>
        </p:txBody>
      </p:sp>
      <p:sp>
        <p:nvSpPr>
          <p:cNvPr id="10" name="Ejecución y envío de soluciones Persistencia de intentos y reintentos Material d">
            <a:extLst xmlns:a="http://schemas.openxmlformats.org/drawingml/2006/main">
              <a:ext uri="{FF2B5EF4-FFF2-40B4-BE49-F238E27FC236}">
                <a16:creationId xmlns:a16="http://schemas.microsoft.com/office/drawing/2014/main" id="{BC997766-3094-4108-A6AC-F4B0127C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71825"/>
            <a:ext cx="48006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Material docente y ayuda contextual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Progreso por conceptos y señales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Panel docente y gobierno integral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CSV operativo y despliegue remoto</a:t>
            </a:r>
          </a:p>
        </p:txBody>
      </p:sp>
      <p:sp>
        <p:nvSpPr>
          <p:cNvPr id="11" name="Fuera del alcance">
            <a:extLst xmlns:a="http://schemas.openxmlformats.org/drawingml/2006/main">
              <a:ext uri="{FF2B5EF4-FFF2-40B4-BE49-F238E27FC236}">
                <a16:creationId xmlns:a16="http://schemas.microsoft.com/office/drawing/2014/main" id="{4E382583-1B90-427A-86A9-288B3A79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0225"/>
            <a:ext cx="10963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Fuera del alcance</a:t>
            </a:r>
          </a:p>
        </p:txBody>
      </p:sp>
      <p:sp>
        <p:nvSpPr>
          <p:cNvPr id="12" name="LMS completo, app nativa, SSO, pagos, apoderados, detección de plagio o IA y cal">
            <a:extLst xmlns:a="http://schemas.openxmlformats.org/drawingml/2006/main">
              <a:ext uri="{FF2B5EF4-FFF2-40B4-BE49-F238E27FC236}">
                <a16:creationId xmlns:a16="http://schemas.microsoft.com/office/drawing/2014/main" id="{4F207B19-F1C4-4004-8B67-29CC0C17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10963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LMS completo, app nativa, SSO, pagos, apoderados, detección de plagio o IA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y calificación automática de alto impacto.</a:t>
            </a:r>
          </a:p>
        </p:txBody>
      </p:sp>
    </p:spTree>
    <p:extLst>
      <p:ext uri="{BB962C8B-B14F-4D97-AF65-F5344CB8AC3E}">
        <p14:creationId xmlns:p14="http://schemas.microsoft.com/office/powerpoint/2010/main" val="1462624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lunza.">
            <a:extLst xmlns:a="http://schemas.openxmlformats.org/drawingml/2006/main">
              <a:ext uri="{FF2B5EF4-FFF2-40B4-BE49-F238E27FC236}">
                <a16:creationId xmlns:a16="http://schemas.microsoft.com/office/drawing/2014/main" id="{B7B9B655-0F32-443C-BE8B-3EEB1CF2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78E0BC54-A0AA-4090-98AD-D8F7F2A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Requerimientos funcionales y de calidad">
            <a:extLst xmlns:a="http://schemas.openxmlformats.org/drawingml/2006/main">
              <a:ext uri="{FF2B5EF4-FFF2-40B4-BE49-F238E27FC236}">
                <a16:creationId xmlns:a16="http://schemas.microsoft.com/office/drawing/2014/main" id="{9CE96D80-7CD0-4F0A-A44F-849638A9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Requerimientos funcionales y de calidad</a:t>
            </a:r>
          </a:p>
        </p:txBody>
      </p:sp>
      <p:sp>
        <p:nvSpPr>
          <p:cNvPr id="4" name="06 / 14">
            <a:extLst xmlns:a="http://schemas.openxmlformats.org/drawingml/2006/main">
              <a:ext uri="{FF2B5EF4-FFF2-40B4-BE49-F238E27FC236}">
                <a16:creationId xmlns:a16="http://schemas.microsoft.com/office/drawing/2014/main" id="{21416B25-D358-4046-84BC-70F3222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06 / 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43B8B-0552-4926-AC19-1A2E3920A3F4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57850"/>
                <a:gridCol w="1771650"/>
                <a:gridCol w="1771650"/>
                <a:gridCol w="1771650"/>
              </a:tblGrid>
              <a:tr h="4150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Área y RF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Completos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Parciales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Pendientes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Acceso y pertenencia · 001–003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Contenido · 004–006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Práctica · 007–014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Evidencia y seguimiento · 015–019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Gobierno · 020–027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0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Total: 27 RF obligatorios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3EC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14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3EC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3EC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3ECDE"/>
                    </a:solidFill>
                  </a:tcPr>
                </a:tc>
              </a:tr>
            </a:tbl>
          </a:graphicData>
        </a:graphic>
      </p:graphicFrame>
      <p:sp>
        <p:nvSpPr>
          <p:cNvPr id="6" name="29">
            <a:extLst xmlns:a="http://schemas.openxmlformats.org/drawingml/2006/main">
              <a:ext uri="{FF2B5EF4-FFF2-40B4-BE49-F238E27FC236}">
                <a16:creationId xmlns:a16="http://schemas.microsoft.com/office/drawing/2014/main" id="{7CE49FA6-0581-4B7C-95A9-F698A21C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333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7" name="requisitos no funcionales">
            <a:extLst xmlns:a="http://schemas.openxmlformats.org/drawingml/2006/main">
              <a:ext uri="{FF2B5EF4-FFF2-40B4-BE49-F238E27FC236}">
                <a16:creationId xmlns:a16="http://schemas.microsoft.com/office/drawing/2014/main" id="{91BE3A5C-AF6E-4EDC-8114-3AA09CB8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238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requisitos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no funcionales</a:t>
            </a:r>
          </a:p>
        </p:txBody>
      </p:sp>
      <p:sp>
        <p:nvSpPr>
          <p:cNvPr id="8" name="p95 local concurrente: RUN 2,23 s; SUBMIT 3,50 s; meta de ejecución &lt; 5 s">
            <a:extLst xmlns:a="http://schemas.openxmlformats.org/drawingml/2006/main">
              <a:ext uri="{FF2B5EF4-FFF2-40B4-BE49-F238E27FC236}">
                <a16:creationId xmlns:a16="http://schemas.microsoft.com/office/drawing/2014/main" id="{B4846EAB-235F-4D66-A9D9-DFEEEAD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76850"/>
            <a:ext cx="3714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p95 local concurrente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RUN 2,23 s · SUBMIT 3,50 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Meta de ejecución &lt; 5 s</a:t>
            </a:r>
          </a:p>
        </p:txBody>
      </p:sp>
      <p:sp>
        <p:nvSpPr>
          <p:cNvPr id="9" name="Calidad y control Aislamiento por organización y clase WCAG 2.2 AA y control hum">
            <a:extLst xmlns:a="http://schemas.openxmlformats.org/drawingml/2006/main">
              <a:ext uri="{FF2B5EF4-FFF2-40B4-BE49-F238E27FC236}">
                <a16:creationId xmlns:a16="http://schemas.microsoft.com/office/drawing/2014/main" id="{F83502F9-A0A9-498C-ACE6-CCDD4899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76850"/>
            <a:ext cx="274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Calidad y control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Aislamiento por organización y clase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WCAG 2.2 AA y control humano</a:t>
            </a:r>
          </a:p>
        </p:txBody>
      </p:sp>
    </p:spTree>
    <p:extLst>
      <p:ext uri="{BB962C8B-B14F-4D97-AF65-F5344CB8AC3E}">
        <p14:creationId xmlns:p14="http://schemas.microsoft.com/office/powerpoint/2010/main" val="1570728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9B319BA-1916-4B72-B0DF-5EDC1C9CCB74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5800725" y="531971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BE4A156-81A1-4923-B131-A502DBE01181}"/>
              </a:ext>
            </a:extLst>
          </p:cNvPr>
          <p:cNvCxnSpPr>
            <a:stCxn xmlns:a="http://schemas.openxmlformats.org/drawingml/2006/main" id="71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086100" y="531971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370723-3C05-459D-9C8D-3291631B62E4}"/>
              </a:ext>
            </a:extLst>
          </p:cNvPr>
          <p:cNvCxnSpPr>
            <a:stCxn xmlns:a="http://schemas.openxmlformats.org/drawingml/2006/main" id="62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 flipH="1">
            <a:off x="1885950" y="3829050"/>
            <a:ext cx="277177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A88AFB-60C0-4858-B8B0-96A33E234079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5800725" y="331946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B41C66-04E5-467F-A7BB-A1FD8F958D9A}"/>
              </a:ext>
            </a:extLst>
          </p:cNvPr>
          <p:cNvCxnSpPr>
            <a:stCxn xmlns:a="http://schemas.openxmlformats.org/drawingml/2006/main" id="59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971800" y="331946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sp>
        <p:nvSpPr>
          <p:cNvPr id="56" name="alunza.">
            <a:extLst xmlns:a="http://schemas.openxmlformats.org/drawingml/2006/main">
              <a:ext uri="{FF2B5EF4-FFF2-40B4-BE49-F238E27FC236}">
                <a16:creationId xmlns:a16="http://schemas.microsoft.com/office/drawing/2014/main" id="{B0146F26-6213-4EE5-A662-1F54F25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E0B51178-DB9C-487F-9A2E-59B0ABD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Modelo relacional">
            <a:extLst xmlns:a="http://schemas.openxmlformats.org/drawingml/2006/main">
              <a:ext uri="{FF2B5EF4-FFF2-40B4-BE49-F238E27FC236}">
                <a16:creationId xmlns:a16="http://schemas.microsoft.com/office/drawing/2014/main" id="{E3658E38-B2E6-4F5F-B1A6-4CEB0CA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Modelo relacional</a:t>
            </a:r>
          </a:p>
        </p:txBody>
      </p:sp>
      <p:sp>
        <p:nvSpPr>
          <p:cNvPr id="4" name="07 / 14">
            <a:extLst xmlns:a="http://schemas.openxmlformats.org/drawingml/2006/main">
              <a:ext uri="{FF2B5EF4-FFF2-40B4-BE49-F238E27FC236}">
                <a16:creationId xmlns:a16="http://schemas.microsoft.com/office/drawing/2014/main" id="{EF7A61FF-30D3-4A7E-B730-098C0AD4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07 / 14</a:t>
            </a:r>
          </a:p>
        </p:txBody>
      </p:sp>
      <p:sp>
        <p:nvSpPr>
          <p:cNvPr id="55" name="org_id = organization_id · PK: clave primaria · FK: clave foránea · UQ: valor ún">
            <a:extLst xmlns:a="http://schemas.openxmlformats.org/drawingml/2006/main">
              <a:ext uri="{FF2B5EF4-FFF2-40B4-BE49-F238E27FC236}">
                <a16:creationId xmlns:a16="http://schemas.microsoft.com/office/drawing/2014/main" id="{BC920B27-5F23-49AC-B453-5C923CFF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org_id = organization_id · PK: clave primaria · FK: clave foránea · UQ: valor único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7CFA19-6FED-4A4E-A3A5-6DE270E9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25 tablas físicas · 292 atributos · 4 migraciones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7C253B-56F4-47DF-8A5B-3D058ED7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Vista resumida del contenido y la persistencia de práctica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1ADC2D-6D08-426F-ACBD-3444AE8E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AAD997-5612-4306-A37D-B1BDEA5C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activities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052C02-7F34-4E80-8785-6595DF5D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FK class_id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16B610-5736-4D3C-B5F4-7D4D2FD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0987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3E6D45-3FE5-40E8-BA97-42E70A0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86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activity_exercises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262F5D-DA04-4733-ABBC-41BC52D1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289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FK activity_id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FK exercise_version_id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4E4C79-74C4-42D7-9FDF-EFD78D1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2F2725-978C-4891-B70D-D7216633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executions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76593B-55EE-4312-814A-A01CAE58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289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RUN temporal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FK activity_exercise_id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B35BCA-EA65-4770-A632-7916F19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987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C1236C-04FA-44CB-9AA6-1329BF03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86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exercise_versions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11D6DB-932E-4BAB-9731-E3C8C039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2897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FK exercise_id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Versión publicada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CA9296-D752-4E96-975B-3FC90E3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4003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810EFD-DECA-440B-B335-F54BA48F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submission_reservations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6596C25-7E82-48F1-9B32-F2699A04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SUBMIT durable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FK activity_exercise_id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98ADA9-2B93-41D6-BEF4-0180C542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1012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F1F0D7-5D1E-44C3-93C5-C1C710D6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86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attempts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5C04B0D-5FBD-4EFC-94B5-1335E15E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2292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FK execution_id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Código y resultado público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9D87C6-1B09-4995-9288-6B7B7B08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012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1B65EC-3434-4086-9FBC-71E803EF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86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attempt_results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5A71DC-E79D-46C5-BA14-FA31E98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292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/ FK attempt_id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Resultado privado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FFF249C-054B-4B66-A795-328186D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810125"/>
            <a:ext cx="22860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B2E1A34-B641-4995-9F6C-BE0D2A0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886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attempt_events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8B7585-6FD8-4CE5-B611-E40BB98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229225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PK id · FK attempt_id</a:t>
            </a:r>
          </a:p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Eventos inmutables</a:t>
            </a:r>
          </a:p>
        </p:txBody>
      </p:sp>
      <p:cxnSp>
        <p:nvCxn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5410C2-2FD3-40A1-ABE2-4D7F6106EA68}"/>
              </a:ext>
            </a:extLst>
          </p:cNvPr>
          <p:cNvCxnSpPr/>
          <p:nvPr/>
        </p:nvCxnSpPr>
        <p:spPr>
          <a:xfrm xmlns:a="http://schemas.openxmlformats.org/drawingml/2006/main">
            <a:off x="10315575" y="26670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DEF342-9DF8-4D48-93F2-6C6643A5907B}"/>
              </a:ext>
            </a:extLst>
          </p:cNvPr>
          <p:cNvCxnSpPr/>
          <p:nvPr/>
        </p:nvCxnSpPr>
        <p:spPr>
          <a:xfrm xmlns:a="http://schemas.openxmlformats.org/drawingml/2006/main">
            <a:off x="4657725" y="2667000"/>
            <a:ext cx="5657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B3D52F2-ABC1-495B-8553-AE5B0A886508}"/>
              </a:ext>
            </a:extLst>
          </p:cNvPr>
          <p:cNvCxnSpPr/>
          <p:nvPr/>
        </p:nvCxnSpPr>
        <p:spPr>
          <a:xfrm xmlns:a="http://schemas.openxmlformats.org/drawingml/2006/main">
            <a:off x="4657725" y="26670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CEC315-FCD5-4574-95FE-E7D921250076}"/>
              </a:ext>
            </a:extLst>
          </p:cNvPr>
          <p:cNvCxnSpPr/>
          <p:nvPr/>
        </p:nvCxnSpPr>
        <p:spPr>
          <a:xfrm xmlns:a="http://schemas.openxmlformats.org/drawingml/2006/main">
            <a:off x="4657725" y="58293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7755C5-392B-4653-9D0B-420F21DB1FEB}"/>
              </a:ext>
            </a:extLst>
          </p:cNvPr>
          <p:cNvCxnSpPr/>
          <p:nvPr/>
        </p:nvCxnSpPr>
        <p:spPr>
          <a:xfrm xmlns:a="http://schemas.openxmlformats.org/drawingml/2006/main">
            <a:off x="4657725" y="6067425"/>
            <a:ext cx="56578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F5BEDD-3C13-47E9-928B-A55BE5A645EB}"/>
              </a:ext>
            </a:extLst>
          </p:cNvPr>
          <p:cNvCxnSpPr/>
          <p:nvPr/>
        </p:nvCxnSpPr>
        <p:spPr>
          <a:xfrm xmlns:a="http://schemas.openxmlformats.org/drawingml/2006/main">
            <a:off x="10315575" y="58293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23E1264-4E12-4D3F-854F-C4B13A0A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1 : 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821967-1948-4B42-98F6-6B716E05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3847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1 : 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6658DF-6A58-436C-837E-4B64C18E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48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0..1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86E229-958D-4839-B684-D31C3600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48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1 : 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0D5BBC3-019B-4948-B65F-80FE686C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483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1 : 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6A721C-5436-4CAA-A4E0-6E7B4DA3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Las FK por organización y otras relaciones se detallan en el diccionario de datos.</a:t>
            </a:r>
          </a:p>
        </p:txBody>
      </p:sp>
    </p:spTree>
    <p:extLst>
      <p:ext uri="{BB962C8B-B14F-4D97-AF65-F5344CB8AC3E}">
        <p14:creationId xmlns:p14="http://schemas.microsoft.com/office/powerpoint/2010/main" val="324528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F395E-5542-47C7-92D1-7BDABF901D26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762250" y="57816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7DDCD-C401-49BE-A225-98439ED6A51B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724025" y="47625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triangl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09A70-056E-4561-B913-9F8ABB951019}"/>
              </a:ext>
            </a:extLst>
          </p:cNvPr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2762250" y="44005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B41DA-6343-4955-8A38-E0C99AE1BA78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371975" y="33813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72162-7DA4-40F3-B09C-C0E40D661144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62250" y="3019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triangle" w="med" len="med"/>
          </a:ln>
        </p:spPr>
      </p:cxnSp>
      <p:sp>
        <p:nvSpPr>
          <p:cNvPr id="20" name="alunza.">
            <a:extLst xmlns:a="http://schemas.openxmlformats.org/drawingml/2006/main">
              <a:ext uri="{FF2B5EF4-FFF2-40B4-BE49-F238E27FC236}">
                <a16:creationId xmlns:a16="http://schemas.microsoft.com/office/drawing/2014/main" id="{0F428E3A-A7FA-43EF-9E43-B491A196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479E6FCB-AE65-47AF-A473-ABCACBD3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Actividad principal y editor">
            <a:extLst xmlns:a="http://schemas.openxmlformats.org/drawingml/2006/main">
              <a:ext uri="{FF2B5EF4-FFF2-40B4-BE49-F238E27FC236}">
                <a16:creationId xmlns:a16="http://schemas.microsoft.com/office/drawing/2014/main" id="{9656D7F5-F5AA-4985-9EC6-BA6384E6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Actividad principal y editor</a:t>
            </a:r>
          </a:p>
        </p:txBody>
      </p:sp>
      <p:sp>
        <p:nvSpPr>
          <p:cNvPr id="4" name="08 / 14">
            <a:extLst xmlns:a="http://schemas.openxmlformats.org/drawingml/2006/main">
              <a:ext uri="{FF2B5EF4-FFF2-40B4-BE49-F238E27FC236}">
                <a16:creationId xmlns:a16="http://schemas.microsoft.com/office/drawing/2014/main" id="{75BD8E27-F718-4448-977C-A3EA80AA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08 / 14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4518A-A2E3-4F6F-9B5C-052F995C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Ejecución, envío e historial del estudiante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F43B2-6EBA-49D3-AE6B-1B45C04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Abrir ejercicio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y editar borrador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E419A-3CAC-42CE-9461-EB50D947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5747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RUN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Pruebas visibles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AE87E-7305-4575-831F-E63F12C9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3860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Confirmar SUBMIT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Pruebas requeridas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D2AA4-3784-4663-B7B7-8FB0364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Persistir intento,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resultado y eventos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03727-61B9-4BC0-AFEE-36C2983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Consultar diagnóstico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 historial propio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E6764-107F-4310-9BB7-EB058848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9725"/>
            <a:ext cx="2076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Corregir y reintentar</a:t>
            </a:r>
          </a:p>
          <a:p xmlns:a="http://schemas.openxmlformats.org/drawingml/2006/main">
            <a:pPr algn="ctr">
              <a:defRPr sz="15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con nueva clave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ABF50A-4F4F-4B96-B8CF-7DE629F1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00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Práctica local con RUN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D53D3-1652-4B7E-9CCA-FC154F5A9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574df32ab41a0"/>
          <a:srcRect xmlns:a="http://schemas.openxmlformats.org/drawingml/2006/main" l="45000" t="0" r="2000" b="0"/>
          <a:stretch xmlns:a="http://schemas.openxmlformats.org/drawingml/2006/main"/>
        </p:blipFill>
        <p:spPr>
          <a:xfrm xmlns:a="http://schemas.openxmlformats.org/drawingml/2006/main">
            <a:off x="6962775" y="2876550"/>
            <a:ext cx="3476625" cy="32575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28C76-F7A3-4DC4-8D9C-BF486E3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103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Captura del 23/10/2026. Datos ficticios.</a:t>
            </a:r>
          </a:p>
          <a:p xmlns:a="http://schemas.openxmlformats.org/drawingml/2006/main">
            <a:pPr>
              <a:defRPr sz="12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RUN no crea intentos ni progreso.</a:t>
            </a:r>
          </a:p>
        </p:txBody>
      </p:sp>
    </p:spTree>
    <p:extLst>
      <p:ext uri="{BB962C8B-B14F-4D97-AF65-F5344CB8AC3E}">
        <p14:creationId xmlns:p14="http://schemas.microsoft.com/office/powerpoint/2010/main" val="1442165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51BC13-5FCD-40F6-BD1C-B1422F4415C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68" idx="2"/>
          </p:cNvCxnSpPr>
          <p:nvPr/>
        </p:nvCxnSpPr>
        <p:spPr>
          <a:xfrm xmlns:a="http://schemas.openxmlformats.org/drawingml/2006/main">
            <a:off x="9163050" y="3419475"/>
            <a:ext cx="190500" cy="25527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1FEB65-68AE-42F2-B34C-6166EF43C288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9163050" y="3419475"/>
            <a:ext cx="19050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5B8805-D072-4F79-A11C-C3A681783F7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64" idx="2"/>
          </p:cNvCxnSpPr>
          <p:nvPr/>
        </p:nvCxnSpPr>
        <p:spPr>
          <a:xfrm xmlns:a="http://schemas.openxmlformats.org/drawingml/2006/main">
            <a:off x="9163050" y="3419475"/>
            <a:ext cx="190500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898DB5-4F9C-4134-97A8-196558CB4E3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62" idx="2"/>
          </p:cNvCxnSpPr>
          <p:nvPr/>
        </p:nvCxnSpPr>
        <p:spPr>
          <a:xfrm xmlns:a="http://schemas.openxmlformats.org/drawingml/2006/main">
            <a:off x="9163050" y="3419475"/>
            <a:ext cx="1905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6E02E2-B8B1-4066-B10E-D2414C8EEC84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60" idx="2"/>
          </p:cNvCxnSpPr>
          <p:nvPr/>
        </p:nvCxnSpPr>
        <p:spPr>
          <a:xfrm xmlns:a="http://schemas.openxmlformats.org/drawingml/2006/main">
            <a:off x="9163050" y="3419475"/>
            <a:ext cx="1905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02DFAC-C4D5-47DC-BA2F-8357B7ED9D98}"/>
              </a:ext>
            </a:extLst>
          </p:cNvPr>
          <p:cNvCxnSpPr>
            <a:stCxn xmlns:a="http://schemas.openxmlformats.org/drawingml/2006/main" id="54" idx="3"/>
            <a:endCxn xmlns:a="http://schemas.openxmlformats.org/drawingml/2006/main" id="58" idx="2"/>
          </p:cNvCxnSpPr>
          <p:nvPr/>
        </p:nvCxnSpPr>
        <p:spPr>
          <a:xfrm xmlns:a="http://schemas.openxmlformats.org/drawingml/2006/main">
            <a:off x="9163050" y="3419475"/>
            <a:ext cx="1905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E825B9-8C20-4DB3-B521-211D21469D78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5372100" y="3419475"/>
            <a:ext cx="1905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D8DE42-2F4A-4BF6-8BE1-6EA6B678071F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50" idx="2"/>
          </p:cNvCxnSpPr>
          <p:nvPr/>
        </p:nvCxnSpPr>
        <p:spPr>
          <a:xfrm xmlns:a="http://schemas.openxmlformats.org/drawingml/2006/main">
            <a:off x="5372100" y="3419475"/>
            <a:ext cx="1905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D4B909-EEC4-4C9C-92CB-FF453A3A3EAC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5372100" y="3419475"/>
            <a:ext cx="1905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4E8A8E-58FC-4F85-ABFA-B943622D2A81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42" idx="2"/>
          </p:cNvCxnSpPr>
          <p:nvPr/>
        </p:nvCxnSpPr>
        <p:spPr>
          <a:xfrm xmlns:a="http://schemas.openxmlformats.org/drawingml/2006/main">
            <a:off x="1581150" y="3419475"/>
            <a:ext cx="190500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0668E7-8305-408B-B5BB-E8E8230BC0F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1581150" y="3419475"/>
            <a:ext cx="1905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B41D18-BA9A-42CC-B6A0-72993CDD26B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1581150" y="3419475"/>
            <a:ext cx="1905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8F84A4-FD6D-4D9E-8C7E-3C7751A94550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1581150" y="3419475"/>
            <a:ext cx="1905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  <a:tailEnd type="none" w="med" len="med"/>
          </a:ln>
        </p:spPr>
      </p:cxnSp>
      <p:sp>
        <p:nvSpPr>
          <p:cNvPr id="29" name="alunza.">
            <a:extLst xmlns:a="http://schemas.openxmlformats.org/drawingml/2006/main">
              <a:ext uri="{FF2B5EF4-FFF2-40B4-BE49-F238E27FC236}">
                <a16:creationId xmlns:a16="http://schemas.microsoft.com/office/drawing/2014/main" id="{E111D8AE-F2A2-41B7-8318-7C52AABC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E4E16449-D923-4A04-AF08-A11C1C4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Casos de uso por actor">
            <a:extLst xmlns:a="http://schemas.openxmlformats.org/drawingml/2006/main">
              <a:ext uri="{FF2B5EF4-FFF2-40B4-BE49-F238E27FC236}">
                <a16:creationId xmlns:a16="http://schemas.microsoft.com/office/drawing/2014/main" id="{4C19545E-D60D-40AA-9D19-63EBDAB2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Casos de uso por actor</a:t>
            </a:r>
          </a:p>
        </p:txBody>
      </p:sp>
      <p:sp>
        <p:nvSpPr>
          <p:cNvPr id="4" name="09 / 14">
            <a:extLst xmlns:a="http://schemas.openxmlformats.org/drawingml/2006/main">
              <a:ext uri="{FF2B5EF4-FFF2-40B4-BE49-F238E27FC236}">
                <a16:creationId xmlns:a16="http://schemas.microsoft.com/office/drawing/2014/main" id="{24EE1203-75AA-4B8B-8CD4-6F77E33B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09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687E2-D1D8-41FB-BC8A-F561A35C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14 casos completos de un catálogo de 27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9E4685-E9F7-4900-9FF7-010F742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33625"/>
            <a:ext cx="29527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CU-001 · Autenticarse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E5990D-8EB1-4ACE-A53D-82D612B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1009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«actor»</a:t>
            </a:r>
          </a:p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ADMIN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85C351-29A8-4FD9-BF6D-A37D605A71E5}"/>
              </a:ext>
            </a:extLst>
          </p:cNvPr>
          <p:cNvCxnSpPr/>
          <p:nvPr/>
        </p:nvCxnSpPr>
        <p:spPr>
          <a:xfrm xmlns:a="http://schemas.openxmlformats.org/drawingml/2006/main">
            <a:off x="1076325" y="29527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C87F3-F951-453F-ACF1-564DC0008493}"/>
              </a:ext>
            </a:extLst>
          </p:cNvPr>
          <p:cNvCxnSpPr/>
          <p:nvPr/>
        </p:nvCxnSpPr>
        <p:spPr>
          <a:xfrm xmlns:a="http://schemas.openxmlformats.org/drawingml/2006/main">
            <a:off x="1076325" y="295275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E40AB-9917-47B9-A44F-6F880B688C19}"/>
              </a:ext>
            </a:extLst>
          </p:cNvPr>
          <p:cNvCxnSpPr/>
          <p:nvPr/>
        </p:nvCxnSpPr>
        <p:spPr>
          <a:xfrm xmlns:a="http://schemas.openxmlformats.org/drawingml/2006/main">
            <a:off x="6124575" y="28479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94651-57F5-4F8B-9FC0-1540DDD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575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CU-020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Organización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486E1F-E5CF-47B9-A0FF-6A2C723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528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CU-021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Usuarios y roles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077955-BBDC-4851-B212-F7B67A4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481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CU-022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Cursos y clases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65E3D5-475A-49CF-A897-5C6AAB24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434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CU-023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Conceptos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0DCE9B-1326-48D5-A0D9-E1FA92D9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76575"/>
            <a:ext cx="1009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«actor»</a:t>
            </a:r>
          </a:p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TEACHER</a:t>
            </a:r>
          </a:p>
        </p:txBody>
      </p: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1E5773-95BE-4E3C-82D6-D79AEA82CEC5}"/>
              </a:ext>
            </a:extLst>
          </p:cNvPr>
          <p:cNvCxnSpPr/>
          <p:nvPr/>
        </p:nvCxnSpPr>
        <p:spPr>
          <a:xfrm xmlns:a="http://schemas.openxmlformats.org/drawingml/2006/main">
            <a:off x="4867275" y="29527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3C5BA4-34F0-4D89-A65E-88649AE85BE4}"/>
              </a:ext>
            </a:extLst>
          </p:cNvPr>
          <p:cNvCxnSpPr/>
          <p:nvPr/>
        </p:nvCxnSpPr>
        <p:spPr>
          <a:xfrm xmlns:a="http://schemas.openxmlformats.org/drawingml/2006/main">
            <a:off x="4867275" y="29527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58CEC-F65E-4535-AB86-87E04053F273}"/>
              </a:ext>
            </a:extLst>
          </p:cNvPr>
          <p:cNvCxnSpPr/>
          <p:nvPr/>
        </p:nvCxnSpPr>
        <p:spPr>
          <a:xfrm xmlns:a="http://schemas.openxmlformats.org/drawingml/2006/main">
            <a:off x="6124575" y="28479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9E35E-2312-4802-B93F-9E8A4C6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CU-002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Gestionar clase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3124A8-2D50-4A7E-9B91-069A779A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528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CU-004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Ejercicios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2A0AB7-D1D0-4291-A5AC-910DCCE0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481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CU-005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Publicar y cerrar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D45F42-9904-428E-AEE9-2BF438AC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1009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47625" tIns="47625" rIns="47625" bIns="47625" anchor="ctr">
            <a:noAutofit/>
          </a:bodyPr>
          <a:lstStyle xmlns:a="http://schemas.openxmlformats.org/drawingml/2006/main">
            <a:def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«actor»</a:t>
            </a:r>
          </a:p>
          <a:p xmlns:a="http://schemas.openxmlformats.org/drawingml/2006/main">
            <a:pPr algn="ctr">
              <a:defRPr sz="1275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75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STUDENT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41D40C-E6F4-46EA-9296-E702E217C2D5}"/>
              </a:ext>
            </a:extLst>
          </p:cNvPr>
          <p:cNvCxnSpPr/>
          <p:nvPr/>
        </p:nvCxnSpPr>
        <p:spPr>
          <a:xfrm xmlns:a="http://schemas.openxmlformats.org/drawingml/2006/main">
            <a:off x="8658225" y="29527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53900B-9B0D-4C26-A1EF-1734B9EEDABB}"/>
              </a:ext>
            </a:extLst>
          </p:cNvPr>
          <p:cNvCxnSpPr/>
          <p:nvPr/>
        </p:nvCxnSpPr>
        <p:spPr>
          <a:xfrm xmlns:a="http://schemas.openxmlformats.org/drawingml/2006/main">
            <a:off x="6124575" y="2952750"/>
            <a:ext cx="2533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124D94-F8F9-4E0A-8C71-5832E42A7B34}"/>
              </a:ext>
            </a:extLst>
          </p:cNvPr>
          <p:cNvCxnSpPr/>
          <p:nvPr/>
        </p:nvCxnSpPr>
        <p:spPr>
          <a:xfrm xmlns:a="http://schemas.openxmlformats.org/drawingml/2006/main">
            <a:off x="6124575" y="284797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15845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0BA4FE-FE21-42F1-80BA-97C23A5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575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CU-003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Unirse a clase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FB3175-B4CB-49D8-BCD8-BB960B99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528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CU-007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Actividades y avance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C0C5AD-D1CA-478B-8450-2D91572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481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CU-008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Abrir editor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D40E8B-9CA1-4EB4-A228-AB300F7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434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CU-009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Ejecutar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02EE58-B62E-40A3-A918-AAEDB57B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CU-011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Diagnóstico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228E85-D4A8-4855-A112-C97573D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34050"/>
            <a:ext cx="22098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DE"/>
          </a:solidFill>
          <a:ln xmlns:a="http://schemas.openxmlformats.org/drawingml/2006/main" w="11906">
            <a:solidFill>
              <a:srgbClr val="215845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CU-014</a:t>
            </a:r>
          </a:p>
          <a:p xmlns:a="http://schemas.openxmlformats.org/drawingml/2006/main">
            <a:pPr algn="ctr">
              <a:defRPr sz="120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20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Reintentar</a:t>
            </a:r>
          </a:p>
        </p:txBody>
      </p:sp>
    </p:spTree>
    <p:extLst>
      <p:ext uri="{BB962C8B-B14F-4D97-AF65-F5344CB8AC3E}">
        <p14:creationId xmlns:p14="http://schemas.microsoft.com/office/powerpoint/2010/main" val="123073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634F3-CB89-4266-BC2C-C750943FCF1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019925" y="3667125"/>
            <a:ext cx="2847975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15845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CB3D9-3EA7-4AD4-9056-B4D9E101FF9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743575" y="3667125"/>
            <a:ext cx="12763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15845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FC12-1BC6-4AB3-B67D-AA397650324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5845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5CF41-8A5C-4DDD-9EF4-9FA137C77CB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6255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5845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AD794-2796-4887-95DA-2F5CC033AE6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47925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15845"/>
            </a:solidFill>
            <a:prstDash val="solid"/>
            <a:tailEnd type="triangle" w="sm" len="sm"/>
          </a:ln>
        </p:spPr>
      </p:cxnSp>
      <p:sp>
        <p:nvSpPr>
          <p:cNvPr id="19" name="alunza.">
            <a:extLst xmlns:a="http://schemas.openxmlformats.org/drawingml/2006/main">
              <a:ext uri="{FF2B5EF4-FFF2-40B4-BE49-F238E27FC236}">
                <a16:creationId xmlns:a16="http://schemas.microsoft.com/office/drawing/2014/main" id="{6F7A0D66-7C96-48ED-B529-A61581C0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29CD9C80-DD7C-407C-B06E-7938E85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Tecnologías y arquitectura">
            <a:extLst xmlns:a="http://schemas.openxmlformats.org/drawingml/2006/main">
              <a:ext uri="{FF2B5EF4-FFF2-40B4-BE49-F238E27FC236}">
                <a16:creationId xmlns:a16="http://schemas.microsoft.com/office/drawing/2014/main" id="{F8B6CB02-F5D1-4716-AAC7-668CBDA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Tecnologías y arquitectura</a:t>
            </a:r>
          </a:p>
        </p:txBody>
      </p:sp>
      <p:sp>
        <p:nvSpPr>
          <p:cNvPr id="4" name="10 / 14">
            <a:extLst xmlns:a="http://schemas.openxmlformats.org/drawingml/2006/main">
              <a:ext uri="{FF2B5EF4-FFF2-40B4-BE49-F238E27FC236}">
                <a16:creationId xmlns:a16="http://schemas.microsoft.com/office/drawing/2014/main" id="{8859DA34-8963-4011-AE92-52DF6CDA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10 / 14</a:t>
            </a:r>
          </a:p>
        </p:txBody>
      </p:sp>
      <p:sp>
        <p:nvSpPr>
          <p:cNvPr id="5" name="Arquitectura definida, con integración local parcial">
            <a:extLst xmlns:a="http://schemas.openxmlformats.org/drawingml/2006/main">
              <a:ext uri="{FF2B5EF4-FFF2-40B4-BE49-F238E27FC236}">
                <a16:creationId xmlns:a16="http://schemas.microsoft.com/office/drawing/2014/main" id="{05B5B35A-32B8-45D1-997B-191382E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Práctica integrada localmente y servicios remotos pendientes</a:t>
            </a:r>
          </a:p>
        </p:txBody>
      </p:sp>
      <p:sp>
        <p:nvSpPr>
          <p:cNvPr id="6" name="Navegador">
            <a:extLst xmlns:a="http://schemas.openxmlformats.org/drawingml/2006/main">
              <a:ext uri="{FF2B5EF4-FFF2-40B4-BE49-F238E27FC236}">
                <a16:creationId xmlns:a16="http://schemas.microsoft.com/office/drawing/2014/main" id="{5CD6CBA8-33FF-4717-9F02-404FC50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8383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7" name="Next.js React Vercel">
            <a:extLst xmlns:a="http://schemas.openxmlformats.org/drawingml/2006/main">
              <a:ext uri="{FF2B5EF4-FFF2-40B4-BE49-F238E27FC236}">
                <a16:creationId xmlns:a16="http://schemas.microsoft.com/office/drawing/2014/main" id="{2CCC8986-9838-4653-B351-80A41136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19375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9"/>
          </a:solidFill>
          <a:ln xmlns:a="http://schemas.openxmlformats.org/drawingml/2006/main" w="11906">
            <a:solidFill>
              <a:srgbClr val="21584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Next.js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React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Vercel</a:t>
            </a:r>
          </a:p>
        </p:txBody>
      </p:sp>
      <p:sp>
        <p:nvSpPr>
          <p:cNvPr id="8" name="NestJS API de dominio Azure Container Apps">
            <a:extLst xmlns:a="http://schemas.openxmlformats.org/drawingml/2006/main">
              <a:ext uri="{FF2B5EF4-FFF2-40B4-BE49-F238E27FC236}">
                <a16:creationId xmlns:a16="http://schemas.microsoft.com/office/drawing/2014/main" id="{C393178B-0866-40F6-8B6A-C983D7B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1937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845"/>
          </a:solidFill>
          <a:ln xmlns:a="http://schemas.openxmlformats.org/drawingml/2006/main" w="11906">
            <a:solidFill>
              <a:srgbClr val="21584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NestJS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API de dominio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Azure Container Apps</a:t>
            </a:r>
          </a:p>
        </p:txBody>
      </p:sp>
      <p:sp>
        <p:nvSpPr>
          <p:cNvPr id="9" name="Supabase Auth y PostgreSQL / RLS Storage y pgvector">
            <a:extLst xmlns:a="http://schemas.openxmlformats.org/drawingml/2006/main">
              <a:ext uri="{FF2B5EF4-FFF2-40B4-BE49-F238E27FC236}">
                <a16:creationId xmlns:a16="http://schemas.microsoft.com/office/drawing/2014/main" id="{F032083B-215C-46D8-B040-9E286A0B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705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9"/>
          </a:solidFill>
          <a:ln xmlns:a="http://schemas.openxmlformats.org/drawingml/2006/main" w="11906">
            <a:solidFill>
              <a:srgbClr val="21584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Supabase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Auth y PostgreSQL / RLS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Storage y pgvector</a:t>
            </a:r>
          </a:p>
        </p:txBody>
      </p:sp>
      <p:sp>
        <p:nvSpPr>
          <p:cNvPr id="13" name="Ejecución aislada Docker local Vercel Sandbox productivo">
            <a:extLst xmlns:a="http://schemas.openxmlformats.org/drawingml/2006/main">
              <a:ext uri="{FF2B5EF4-FFF2-40B4-BE49-F238E27FC236}">
                <a16:creationId xmlns:a16="http://schemas.microsoft.com/office/drawing/2014/main" id="{FFECE55C-18B7-4D76-9212-FB74C2FE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562475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  <a:prstDash val="solid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Ejecución local integrada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QuickJS/WASM y Docker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Sandbox remoto pendiente</a:t>
            </a:r>
          </a:p>
        </p:txBody>
      </p:sp>
      <p:sp>
        <p:nvSpPr>
          <p:cNvPr id="14" name="Ayuda contextual Azure OpenAI inicial Proveedor configurable">
            <a:extLst xmlns:a="http://schemas.openxmlformats.org/drawingml/2006/main">
              <a:ext uri="{FF2B5EF4-FFF2-40B4-BE49-F238E27FC236}">
                <a16:creationId xmlns:a16="http://schemas.microsoft.com/office/drawing/2014/main" id="{AE82628C-C433-48AC-997C-C28C149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62475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215845"/>
            </a:solidFill>
            <a:prstDash val="dash"/>
          </a:ln>
        </p:spPr>
        <p:txBody>
          <a:bodyPr xmlns:a="http://schemas.openxmlformats.org/drawingml/2006/main" wrap="square" lIns="66675" tIns="66675" rIns="66675" bIns="666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Ayuda contextual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Azure OpenAI inicial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Proveedor configurable</a:t>
            </a:r>
          </a:p>
        </p:txBody>
      </p:sp>
      <p:sp>
        <p:nvSpPr>
          <p:cNvPr id="17" name="Línea discontinua: ensayos locales e integraciones previstas, con validación rem">
            <a:extLst xmlns:a="http://schemas.openxmlformats.org/drawingml/2006/main">
              <a:ext uri="{FF2B5EF4-FFF2-40B4-BE49-F238E27FC236}">
                <a16:creationId xmlns:a16="http://schemas.microsoft.com/office/drawing/2014/main" id="{DFC446CF-DF86-4D30-AE3D-738F83B4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RUN y SUBMIT integrados en local. Ayuda IA y despliegue remoto pendientes.</a:t>
            </a:r>
          </a:p>
        </p:txBody>
      </p:sp>
      <p:sp>
        <p:nvSpPr>
          <p:cNvPr id="18" name="Node 24.21.0 · Next 16.3.4 · React 19.3.0 · Nest 12.0.1 · TypeScript 5.9.3">
            <a:extLst xmlns:a="http://schemas.openxmlformats.org/drawingml/2006/main">
              <a:ext uri="{FF2B5EF4-FFF2-40B4-BE49-F238E27FC236}">
                <a16:creationId xmlns:a16="http://schemas.microsoft.com/office/drawing/2014/main" id="{26E9D3B9-0156-46C8-A7EE-2BA6899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Node 24.21.0 · Next 16.3.4 · React 19.3.0 · Nest 12.0.1 · TypeScript 5.9.3</a:t>
            </a:r>
          </a:p>
        </p:txBody>
      </p:sp>
    </p:spTree>
    <p:extLst>
      <p:ext uri="{BB962C8B-B14F-4D97-AF65-F5344CB8AC3E}">
        <p14:creationId xmlns:p14="http://schemas.microsoft.com/office/powerpoint/2010/main" val="21167112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lunza.">
            <a:extLst xmlns:a="http://schemas.openxmlformats.org/drawingml/2006/main">
              <a:ext uri="{FF2B5EF4-FFF2-40B4-BE49-F238E27FC236}">
                <a16:creationId xmlns:a16="http://schemas.microsoft.com/office/drawing/2014/main" id="{14AA523D-991F-41F5-87EC-C04B313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EF91B4AA-F197-44CA-BEEE-A1D0956D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Riesgos del próximo incremento">
            <a:extLst xmlns:a="http://schemas.openxmlformats.org/drawingml/2006/main">
              <a:ext uri="{FF2B5EF4-FFF2-40B4-BE49-F238E27FC236}">
                <a16:creationId xmlns:a16="http://schemas.microsoft.com/office/drawing/2014/main" id="{F6A1E26B-FE31-4D15-8132-483DB9E0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Riesgos del próximo incremento</a:t>
            </a:r>
          </a:p>
        </p:txBody>
      </p:sp>
      <p:sp>
        <p:nvSpPr>
          <p:cNvPr id="4" name="11 / 14">
            <a:extLst xmlns:a="http://schemas.openxmlformats.org/drawingml/2006/main">
              <a:ext uri="{FF2B5EF4-FFF2-40B4-BE49-F238E27FC236}">
                <a16:creationId xmlns:a16="http://schemas.microsoft.com/office/drawing/2014/main" id="{421AEAF5-187B-45A0-B605-2447E6D0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11 / 14</a:t>
            </a:r>
          </a:p>
        </p:txBody>
      </p:sp>
      <p:sp>
        <p:nvSpPr>
          <p:cNvPr id="5" name="Evaluación cualitativa propuesta">
            <a:extLst xmlns:a="http://schemas.openxmlformats.org/drawingml/2006/main">
              <a:ext uri="{FF2B5EF4-FFF2-40B4-BE49-F238E27FC236}">
                <a16:creationId xmlns:a16="http://schemas.microsoft.com/office/drawing/2014/main" id="{58113152-4887-4E26-B444-36662CA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Evaluación cualitativa propuesta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65330-8901-4FAC-A3E3-199FEE576A06}"/>
              </a:ext>
            </a:extLst>
          </p:cNvPr>
          <p:cNvGraphicFramePr/>
          <p:nvPr/>
        </p:nvGraphicFramePr>
        <p:xfrm>
          <a:off xmlns:a="http://schemas.openxmlformats.org/drawingml/2006/main" x="609600" y="235267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62300"/>
                <a:gridCol w="6324600"/>
                <a:gridCol w="1485900"/>
              </a:tblGrid>
              <a:tr h="6572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Riesgo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Respuesta prevista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Prioridad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Integración tardía y alcance restante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Priorizar material y ayuda contextual. Acordar capacidad y fecha de congelamiento.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7C5A20"/>
                          </a:solidFill>
                          <a:latin typeface="Segoe UI"/>
                          <a:ea typeface="Segoe UI"/>
                          <a:cs typeface="Segoe UI"/>
                        </a:rPr>
                        <a:t>Alta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8F0D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Regresión de aislamiento y deuda de dependencias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Conservar controles locales, revisar dependencias y validar el adaptador remoto antes de publicar.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7C5A20"/>
                          </a:solidFill>
                          <a:latin typeface="Segoe UI"/>
                          <a:ea typeface="Segoe UI"/>
                          <a:cs typeface="Segoe UI"/>
                        </a:rPr>
                        <a:t>Alta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8F0D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Ayuda incorrecta o falla del proveedor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Validar contrato y fuentes. Conservar el resultado técnico ante falta de evidencia o de servicio.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7C5A20"/>
                          </a:solidFill>
                          <a:latin typeface="Segoe UI"/>
                          <a:ea typeface="Segoe UI"/>
                          <a:cs typeface="Segoe UI"/>
                        </a:rPr>
                        <a:t>Alta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8F0DE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Consumo excesivo y capacidad insuficiente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Medir latencia y consumo. Revisar cuotas, costos y carga antes de ampliar el alcance.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215845"/>
                          </a:solidFill>
                          <a:latin typeface="Segoe UI"/>
                          <a:ea typeface="Segoe UI"/>
                          <a:cs typeface="Segoe UI"/>
                        </a:rPr>
                        <a:t>Media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</a:tr>
            </a:tbl>
          </a:graphicData>
        </a:graphic>
      </p:graphicFrame>
      <p:sp>
        <p:nvSpPr>
          <p:cNvPr id="7" name="Criterio de avance">
            <a:extLst xmlns:a="http://schemas.openxmlformats.org/drawingml/2006/main">
              <a:ext uri="{FF2B5EF4-FFF2-40B4-BE49-F238E27FC236}">
                <a16:creationId xmlns:a16="http://schemas.microsoft.com/office/drawing/2014/main" id="{2E6F2C23-ECBC-4C58-A7C8-25EBD524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242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Criterio de avance</a:t>
            </a:r>
          </a:p>
        </p:txBody>
      </p:sp>
      <p:sp>
        <p:nvSpPr>
          <p:cNvPr id="8" name="Integrar y verificar cada flujo antes de ampliarlo.">
            <a:extLst xmlns:a="http://schemas.openxmlformats.org/drawingml/2006/main">
              <a:ext uri="{FF2B5EF4-FFF2-40B4-BE49-F238E27FC236}">
                <a16:creationId xmlns:a16="http://schemas.microsoft.com/office/drawing/2014/main" id="{E9C82A20-2F2D-459F-9971-E77E9F37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981700"/>
            <a:ext cx="8334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Integrar y verificar cada flujo antes de ampliarlo.</a:t>
            </a:r>
          </a:p>
        </p:txBody>
      </p:sp>
    </p:spTree>
    <p:extLst>
      <p:ext uri="{BB962C8B-B14F-4D97-AF65-F5344CB8AC3E}">
        <p14:creationId xmlns:p14="http://schemas.microsoft.com/office/powerpoint/2010/main" val="469139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lunza.">
            <a:extLst xmlns:a="http://schemas.openxmlformats.org/drawingml/2006/main">
              <a:ext uri="{FF2B5EF4-FFF2-40B4-BE49-F238E27FC236}">
                <a16:creationId xmlns:a16="http://schemas.microsoft.com/office/drawing/2014/main" id="{46574A6A-0356-4D98-8E6F-2F3BFA27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E862C53A-F293-44FA-98F4-24916C06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Planificación: carta Gantt">
            <a:extLst xmlns:a="http://schemas.openxmlformats.org/drawingml/2006/main">
              <a:ext uri="{FF2B5EF4-FFF2-40B4-BE49-F238E27FC236}">
                <a16:creationId xmlns:a16="http://schemas.microsoft.com/office/drawing/2014/main" id="{6A5DFA1F-5717-4135-B83C-27706910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Planificación: carta Gantt</a:t>
            </a:r>
          </a:p>
        </p:txBody>
      </p:sp>
      <p:sp>
        <p:nvSpPr>
          <p:cNvPr id="4" name="12 / 14">
            <a:extLst xmlns:a="http://schemas.openxmlformats.org/drawingml/2006/main">
              <a:ext uri="{FF2B5EF4-FFF2-40B4-BE49-F238E27FC236}">
                <a16:creationId xmlns:a16="http://schemas.microsoft.com/office/drawing/2014/main" id="{0FCEF021-F0CC-4A61-8A66-70AEA834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12 / 14</a:t>
            </a:r>
          </a:p>
        </p:txBody>
      </p:sp>
      <p:sp>
        <p:nvSpPr>
          <p:cNvPr id="5" name="18 semanas · 9 sprints de 2 semanas · 11/08 al 17/12/2026">
            <a:extLst xmlns:a="http://schemas.openxmlformats.org/drawingml/2006/main">
              <a:ext uri="{FF2B5EF4-FFF2-40B4-BE49-F238E27FC236}">
                <a16:creationId xmlns:a16="http://schemas.microsoft.com/office/drawing/2014/main" id="{8D678E74-544B-4DF8-B6E6-361811F1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18 semanas · 9 sprints de 2 semanas · 11/08 al 17/12/2026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B53D9-ED0C-4C99-AFCB-7021348096D2}"/>
              </a:ext>
            </a:extLst>
          </p:cNvPr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</a:tblGrid>
              <a:tr h="333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Sprint y foco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6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7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8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9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11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12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13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14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15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16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17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18</a:t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S0  Descubrimiento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S1  Definición y diseño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S2  Plataforma y acceso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S3  Contenido y editor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S4  Ejecución e intentos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S5  Ayuda contextual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S6  Progreso y señales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S7  Gobierno y estabilización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D7B6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S8  Defensa y cierre</a:t>
                      </a:r>
                    </a:p>
                  </a:txBody>
                  <a:tcPr marL="57150" marR="57150" marT="28575" marB="285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57150" marR="57150" marT="28575" marB="285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</a:tr>
            </a:tbl>
          </a:graphicData>
        </a:graphic>
      </p:graphicFrame>
      <p:sp>
        <p:nvSpPr>
          <p:cNvPr id="7" name="Plan de referencia. La tabla muestra asignación prevista, no avance ejecutado.">
            <a:extLst xmlns:a="http://schemas.openxmlformats.org/drawingml/2006/main">
              <a:ext uri="{FF2B5EF4-FFF2-40B4-BE49-F238E27FC236}">
                <a16:creationId xmlns:a16="http://schemas.microsoft.com/office/drawing/2014/main" id="{EB2D2827-0E76-4A84-9C0C-015A8550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Plan de referencia. La tabla muestra asignación prevista, no avance ejecutado.</a:t>
            </a:r>
          </a:p>
        </p:txBody>
      </p:sp>
      <p:sp>
        <p:nvSpPr>
          <p:cNvPr id="8" name="Congelamiento previsto en semana 15. Capacidad y fecha exacta pendientes de acue">
            <a:extLst xmlns:a="http://schemas.openxmlformats.org/drawingml/2006/main">
              <a:ext uri="{FF2B5EF4-FFF2-40B4-BE49-F238E27FC236}">
                <a16:creationId xmlns:a16="http://schemas.microsoft.com/office/drawing/2014/main" id="{8C8C73DF-D736-4BF8-8737-D8074EE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Congelamiento previsto en semana 15. Capacidad y fecha exacta pendientes de acuerdo.</a:t>
            </a:r>
          </a:p>
        </p:txBody>
      </p:sp>
    </p:spTree>
    <p:extLst>
      <p:ext uri="{BB962C8B-B14F-4D97-AF65-F5344CB8AC3E}">
        <p14:creationId xmlns:p14="http://schemas.microsoft.com/office/powerpoint/2010/main" val="7740591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3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lunza.">
            <a:extLst xmlns:a="http://schemas.openxmlformats.org/drawingml/2006/main">
              <a:ext uri="{FF2B5EF4-FFF2-40B4-BE49-F238E27FC236}">
                <a16:creationId xmlns:a16="http://schemas.microsoft.com/office/drawing/2014/main" id="{FC51492C-EA0B-4F70-8189-507B0B3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01475B29-1ACA-41E4-BF29-6BE50AC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Costos estimados del proyecto">
            <a:extLst xmlns:a="http://schemas.openxmlformats.org/drawingml/2006/main">
              <a:ext uri="{FF2B5EF4-FFF2-40B4-BE49-F238E27FC236}">
                <a16:creationId xmlns:a16="http://schemas.microsoft.com/office/drawing/2014/main" id="{A4F74511-4FBE-4D6D-B968-4E5B9795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Costos estimados del proyecto</a:t>
            </a:r>
          </a:p>
        </p:txBody>
      </p:sp>
      <p:sp>
        <p:nvSpPr>
          <p:cNvPr id="4" name="13 / 14">
            <a:extLst xmlns:a="http://schemas.openxmlformats.org/drawingml/2006/main">
              <a:ext uri="{FF2B5EF4-FFF2-40B4-BE49-F238E27FC236}">
                <a16:creationId xmlns:a16="http://schemas.microsoft.com/office/drawing/2014/main" id="{5BD945BE-B970-459C-94E2-6BB287A0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13 / 14</a:t>
            </a:r>
          </a:p>
        </p:txBody>
      </p:sp>
      <p:sp>
        <p:nvSpPr>
          <p:cNvPr id="5" name="Total referencial">
            <a:extLst xmlns:a="http://schemas.openxmlformats.org/drawingml/2006/main">
              <a:ext uri="{FF2B5EF4-FFF2-40B4-BE49-F238E27FC236}">
                <a16:creationId xmlns:a16="http://schemas.microsoft.com/office/drawing/2014/main" id="{3A2108D4-D960-4C7A-99D5-D98F4B56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57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Total referencial</a:t>
            </a:r>
          </a:p>
        </p:txBody>
      </p:sp>
      <p:sp>
        <p:nvSpPr>
          <p:cNvPr id="6" name="$4.585.000">
            <a:extLst xmlns:a="http://schemas.openxmlformats.org/drawingml/2006/main">
              <a:ext uri="{FF2B5EF4-FFF2-40B4-BE49-F238E27FC236}">
                <a16:creationId xmlns:a16="http://schemas.microsoft.com/office/drawing/2014/main" id="{94EAF47F-3D22-49FF-9D80-6B4B90DB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$4.585.000</a:t>
            </a:r>
          </a:p>
        </p:txBody>
      </p:sp>
      <p:sp>
        <p:nvSpPr>
          <p:cNvPr id="7" name="Pesos chilenos">
            <a:extLst xmlns:a="http://schemas.openxmlformats.org/drawingml/2006/main">
              <a:ext uri="{FF2B5EF4-FFF2-40B4-BE49-F238E27FC236}">
                <a16:creationId xmlns:a16="http://schemas.microsoft.com/office/drawing/2014/main" id="{4051B48B-020C-4FF7-93E2-29AFCACF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762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Pesos chilenos</a:t>
            </a:r>
          </a:p>
        </p:txBody>
      </p:sp>
      <p:sp>
        <p:nvSpPr>
          <p:cNvPr id="8" name="540 horas valoradas a $8.000 por hora">
            <a:extLst xmlns:a="http://schemas.openxmlformats.org/drawingml/2006/main">
              <a:ext uri="{FF2B5EF4-FFF2-40B4-BE49-F238E27FC236}">
                <a16:creationId xmlns:a16="http://schemas.microsoft.com/office/drawing/2014/main" id="{B9EE23CA-C79C-44CD-9646-8EBB0DF2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4857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540 horas valoradas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$8.000 por hora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5EC8-5484-4C67-BBE6-49A35E7BA730}"/>
              </a:ext>
            </a:extLst>
          </p:cNvPr>
          <p:cNvGraphicFramePr/>
          <p:nvPr/>
        </p:nvGraphicFramePr>
        <p:xfrm>
          <a:off xmlns:a="http://schemas.openxmlformats.org/drawingml/2006/main" x="6248400" y="2333625"/>
          <a:ext xmlns:a="http://schemas.openxmlformats.org/drawingml/2006/main" cx="53340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0400"/>
                <a:gridCol w="213360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Concepto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Estimación CLP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T w="7144">
                      <a:solidFill>
                        <a:srgbClr val="D9E0D7"/>
                      </a:solidFill>
                      <a:prstDash val="solid"/>
                    </a:lnT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215845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Trabajo del equipo</a:t>
                      </a:r>
                    </a:p>
                    <a:p>
                      <a:r>
                        <a:rPr sz="16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540 h × $8.000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$4.320.000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Tope de costos directos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A32"/>
                          </a:solidFill>
                          <a:latin typeface="Segoe UI"/>
                          <a:ea typeface="Segoe UI"/>
                          <a:cs typeface="Segoe UI"/>
                        </a:rPr>
                        <a:t>$265.000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EDF2E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D30"/>
                          </a:solidFill>
                          <a:latin typeface="Segoe UI"/>
                          <a:ea typeface="Segoe UI"/>
                          <a:cs typeface="Segoe UI"/>
                        </a:rPr>
                        <a:t>Total estimado</a:t>
                      </a:r>
                    </a:p>
                  </a:txBody>
                  <a:tcPr marL="123825" marR="123825" marT="66675" marB="66675" anchor="ctr">
                    <a:lnL w="7144">
                      <a:solidFill>
                        <a:srgbClr val="D9E0D7"/>
                      </a:solidFill>
                      <a:prstDash val="solid"/>
                    </a:lnL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CDE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D30"/>
                          </a:solidFill>
                          <a:latin typeface="Segoe UI"/>
                          <a:ea typeface="Segoe UI"/>
                          <a:cs typeface="Segoe UI"/>
                        </a:rPr>
                        <a:t>$4.585.000</a:t>
                      </a:r>
                    </a:p>
                  </a:txBody>
                  <a:tcPr marL="123825" marR="123825" marT="66675" marB="66675" anchor="ctr">
                    <a:lnR w="7144">
                      <a:solidFill>
                        <a:srgbClr val="D9E0D7"/>
                      </a:solidFill>
                      <a:prstDash val="solid"/>
                    </a:lnR>
                    <a:lnB w="7144">
                      <a:solidFill>
                        <a:srgbClr val="D9E0D7"/>
                      </a:solidFill>
                      <a:prstDash val="solid"/>
                    </a:lnB>
                    <a:solidFill>
                      <a:srgbClr val="CDE2CC"/>
                    </a:solidFill>
                  </a:tcPr>
                </a:tc>
              </a:tr>
            </a:tbl>
          </a:graphicData>
        </a:graphic>
      </p:graphicFrame>
      <p:sp>
        <p:nvSpPr>
          <p:cNvPr id="10" name="Costos directos: nube, herramientas y contingencia. Equipos existentes, sin nuev">
            <a:extLst xmlns:a="http://schemas.openxmlformats.org/drawingml/2006/main">
              <a:ext uri="{FF2B5EF4-FFF2-40B4-BE49-F238E27FC236}">
                <a16:creationId xmlns:a16="http://schemas.microsoft.com/office/drawing/2014/main" id="{95A8ED95-28C5-4EEF-A9E9-AAFD7140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816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Costos directos: nube, herramientas y contingencia.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Equipos existentes, sin nuevas compras.</a:t>
            </a:r>
          </a:p>
        </p:txBody>
      </p:sp>
      <p:sp>
        <p:nvSpPr>
          <p:cNvPr id="11" name="La estimación no acredita gastos, pagos ni contratación de servicios.">
            <a:extLst xmlns:a="http://schemas.openxmlformats.org/drawingml/2006/main">
              <a:ext uri="{FF2B5EF4-FFF2-40B4-BE49-F238E27FC236}">
                <a16:creationId xmlns:a16="http://schemas.microsoft.com/office/drawing/2014/main" id="{21642F23-FD56-441E-B338-CF83725B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CDE2CC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DE2CC"/>
                </a:solidFill>
                <a:latin typeface="Segoe UI"/>
                <a:ea typeface="Segoe UI"/>
                <a:cs typeface="Segoe UI"/>
              </a:rPr>
              <a:t>La estimación no acredita gastos, pagos ni contratación de servicios.</a:t>
            </a:r>
          </a:p>
        </p:txBody>
      </p:sp>
    </p:spTree>
    <p:extLst>
      <p:ext uri="{BB962C8B-B14F-4D97-AF65-F5344CB8AC3E}">
        <p14:creationId xmlns:p14="http://schemas.microsoft.com/office/powerpoint/2010/main" val="19251331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lunza.">
            <a:extLst xmlns:a="http://schemas.openxmlformats.org/drawingml/2006/main">
              <a:ext uri="{FF2B5EF4-FFF2-40B4-BE49-F238E27FC236}">
                <a16:creationId xmlns:a16="http://schemas.microsoft.com/office/drawing/2014/main" id="{E4C952E4-5FA2-48E5-B1EC-78B7EB3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alunza.</a:t>
            </a:r>
          </a:p>
        </p:txBody>
      </p:sp>
      <p:sp>
        <p:nvSpPr>
          <p:cNvPr id="2" name="CAPSTONE · FASE 2">
            <a:extLst xmlns:a="http://schemas.openxmlformats.org/drawingml/2006/main">
              <a:ext uri="{FF2B5EF4-FFF2-40B4-BE49-F238E27FC236}">
                <a16:creationId xmlns:a16="http://schemas.microsoft.com/office/drawing/2014/main" id="{15C91909-AD15-415C-B112-36150FF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CAPSTONE · FASE 2</a:t>
            </a:r>
          </a:p>
        </p:txBody>
      </p:sp>
      <p:sp>
        <p:nvSpPr>
          <p:cNvPr id="3" name="Demostración del incremento local">
            <a:extLst xmlns:a="http://schemas.openxmlformats.org/drawingml/2006/main">
              <a:ext uri="{FF2B5EF4-FFF2-40B4-BE49-F238E27FC236}">
                <a16:creationId xmlns:a16="http://schemas.microsoft.com/office/drawing/2014/main" id="{7F833EA8-AF8B-4121-B5D0-E1EFBDD9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Demostración del incremento local</a:t>
            </a:r>
          </a:p>
        </p:txBody>
      </p:sp>
      <p:sp>
        <p:nvSpPr>
          <p:cNvPr id="4" name="14 / 14">
            <a:extLst xmlns:a="http://schemas.openxmlformats.org/drawingml/2006/main">
              <a:ext uri="{FF2B5EF4-FFF2-40B4-BE49-F238E27FC236}">
                <a16:creationId xmlns:a16="http://schemas.microsoft.com/office/drawing/2014/main" id="{D68FF169-C8F3-4CAA-BD69-80C7F210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14 / 14</a:t>
            </a:r>
          </a:p>
        </p:txBody>
      </p:sp>
      <p:sp>
        <p:nvSpPr>
          <p:cNvPr id="5" name="Recorrido disponible">
            <a:extLst xmlns:a="http://schemas.openxmlformats.org/drawingml/2006/main">
              <a:ext uri="{FF2B5EF4-FFF2-40B4-BE49-F238E27FC236}">
                <a16:creationId xmlns:a16="http://schemas.microsoft.com/office/drawing/2014/main" id="{BFCD1A6F-8FD7-49F5-8146-8CA8903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429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Recorrido disponible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84D82D78-5652-40CA-BA42-8CAD117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Preparar curso y clase">
            <a:extLst xmlns:a="http://schemas.openxmlformats.org/drawingml/2006/main">
              <a:ext uri="{FF2B5EF4-FFF2-40B4-BE49-F238E27FC236}">
                <a16:creationId xmlns:a16="http://schemas.microsoft.com/office/drawing/2014/main" id="{8FADFF71-8B0B-49FD-9A53-BB5604CE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00350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Abrir actividad autorizada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8265D1A1-88BC-4FB2-8147-10B0B27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9" name="Preparar y publicar actividad">
            <a:extLst xmlns:a="http://schemas.openxmlformats.org/drawingml/2006/main">
              <a:ext uri="{FF2B5EF4-FFF2-40B4-BE49-F238E27FC236}">
                <a16:creationId xmlns:a16="http://schemas.microsoft.com/office/drawing/2014/main" id="{40C0A7E9-9016-4440-B3CD-18CCD2A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29000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Ejecutar RUN sin crear intento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346AC735-1E2C-4E34-AEDD-C6F2A2C5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Confirmar incorporación">
            <a:extLst xmlns:a="http://schemas.openxmlformats.org/drawingml/2006/main">
              <a:ext uri="{FF2B5EF4-FFF2-40B4-BE49-F238E27FC236}">
                <a16:creationId xmlns:a16="http://schemas.microsoft.com/office/drawing/2014/main" id="{14188EF0-7CEA-4C57-BA57-7EFF11DD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57650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Confirmar envío y diagnóstico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4FBC4E25-E58A-4D65-BFDF-9A954548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Abrir editor y recuperar borrador">
            <a:extLst xmlns:a="http://schemas.openxmlformats.org/drawingml/2006/main">
              <a:ext uri="{FF2B5EF4-FFF2-40B4-BE49-F238E27FC236}">
                <a16:creationId xmlns:a16="http://schemas.microsoft.com/office/drawing/2014/main" id="{312262E1-7AFF-44C2-AB94-369E649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686300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Reintentar y comparar historial</a:t>
            </a:r>
          </a:p>
        </p:txBody>
      </p:sp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9CDE1DAC-D516-4CD8-AA55-3B5E68A0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5" name="Comprobar permisos y cierre">
            <a:extLst xmlns:a="http://schemas.openxmlformats.org/drawingml/2006/main">
              <a:ext uri="{FF2B5EF4-FFF2-40B4-BE49-F238E27FC236}">
                <a16:creationId xmlns:a16="http://schemas.microsoft.com/office/drawing/2014/main" id="{BB230FB5-130F-446E-8B5C-4ADEF12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314950"/>
            <a:ext cx="3524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A32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03A32"/>
                </a:solidFill>
                <a:latin typeface="Segoe UI"/>
                <a:ea typeface="Segoe UI"/>
                <a:cs typeface="Segoe UI"/>
              </a:rPr>
              <a:t>Cerrar y consultar evidencia propia</a:t>
            </a:r>
          </a:p>
        </p:txBody>
      </p:sp>
      <p:sp>
        <p:nvSpPr>
          <p:cNvPr id="16" name="Administración de cursos">
            <a:extLst xmlns:a="http://schemas.openxmlformats.org/drawingml/2006/main">
              <a:ext uri="{FF2B5EF4-FFF2-40B4-BE49-F238E27FC236}">
                <a16:creationId xmlns:a16="http://schemas.microsoft.com/office/drawing/2014/main" id="{601C127D-C2F0-47FF-AA01-910AC67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47875"/>
            <a:ext cx="621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Historial y avance por actividad</a:t>
            </a:r>
          </a:p>
        </p:txBody>
      </p:sp>
      <p:sp>
        <p:nvSpPr>
          <p:cNvPr id="18" name="Captura del 23/10/2026, con datos ficticios de prueba.">
            <a:extLst xmlns:a="http://schemas.openxmlformats.org/drawingml/2006/main">
              <a:ext uri="{FF2B5EF4-FFF2-40B4-BE49-F238E27FC236}">
                <a16:creationId xmlns:a16="http://schemas.microsoft.com/office/drawing/2014/main" id="{0534D6EB-C92C-4095-9F8B-B7E050E2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72175"/>
            <a:ext cx="621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65F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9665F"/>
                </a:solidFill>
                <a:latin typeface="Segoe UI"/>
                <a:ea typeface="Segoe UI"/>
                <a:cs typeface="Segoe UI"/>
              </a:rPr>
              <a:t>Captura del 23/10/2026, con datos ficticios de prueba.</a:t>
            </a:r>
          </a:p>
        </p:txBody>
      </p:sp>
      <p:sp>
        <p:nvSpPr>
          <p:cNvPr id="19" name="Próximo paso: integrar ejecución y persistencia de intentos.">
            <a:extLst xmlns:a="http://schemas.openxmlformats.org/drawingml/2006/main">
              <a:ext uri="{FF2B5EF4-FFF2-40B4-BE49-F238E27FC236}">
                <a16:creationId xmlns:a16="http://schemas.microsoft.com/office/drawing/2014/main" id="{F212CEF6-348F-4AC5-A52B-165457C8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defPPr>
            <a:lvl1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1pPr>
            <a:lvl2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2pPr>
            <a:lvl3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3pPr>
            <a:lvl4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4pPr>
            <a:lvl5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5pPr>
            <a:lvl6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6pPr>
            <a:lvl7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7pPr>
            <a:lvl8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8pPr>
            <a:lvl9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1584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215845"/>
                </a:solidFill>
                <a:latin typeface="Segoe UI"/>
                <a:ea typeface="Segoe UI"/>
                <a:cs typeface="Segoe UI"/>
              </a:rPr>
              <a:t>Próximo paso: integrar material docente y ayuda contextual.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840A3-12FB-451B-BDB0-555940713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c383888b54c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100" y="2708091"/>
            <a:ext cx="6210300" cy="30705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13663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Equipo Alunza</dc:creator>
  <lastModifiedBy>Walnut Exporter</lastModifiedBy>
  <dc:title>Presentation</dc:title>
  <dcterms:created xsi:type="dcterms:W3CDTF">2026-10-23T17:07:02.8560000Z</dcterms:created>
  <dcterms:modified xsi:type="dcterms:W3CDTF">2026-10-23T17:07:02.8560000Z</dcterms:modified>
</coreProperties>
</file>