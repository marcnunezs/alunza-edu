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01f150d77f34f0d" /><Relationship Type="http://schemas.openxmlformats.org/officeDocument/2006/relationships/extended-properties" Target="/docProps/app.xml" Id="R7dfaee846b324e1e" /><Relationship Type="http://schemas.openxmlformats.org/officeDocument/2006/relationships/officeDocument" Target="/ppt/presentation.xml" Id="Rf54e3919aac54e7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3961d39050f42d7"/>
  </p:sldMasterIdLst>
  <p:notesMasterIdLst>
    <p:notesMasterId xmlns:r="http://schemas.openxmlformats.org/officeDocument/2006/relationships" r:id="R8e46a911d49047d2"/>
  </p:notesMasterIdLst>
  <p:sldIdLst>
    <p:sldId xmlns:r="http://schemas.openxmlformats.org/officeDocument/2006/relationships" id="256" r:id="Rf2dc96823b444b4f"/>
    <p:sldId xmlns:r="http://schemas.openxmlformats.org/officeDocument/2006/relationships" id="257" r:id="R101f63d0e2a04a1e"/>
    <p:sldId xmlns:r="http://schemas.openxmlformats.org/officeDocument/2006/relationships" id="258" r:id="Rce97cf90d59a4820"/>
    <p:sldId xmlns:r="http://schemas.openxmlformats.org/officeDocument/2006/relationships" id="259" r:id="R869141f1dba24bbd"/>
    <p:sldId xmlns:r="http://schemas.openxmlformats.org/officeDocument/2006/relationships" id="260" r:id="Re8ac340120054998"/>
    <p:sldId xmlns:r="http://schemas.openxmlformats.org/officeDocument/2006/relationships" id="261" r:id="R98f8fb1c1dac4da9"/>
    <p:sldId xmlns:r="http://schemas.openxmlformats.org/officeDocument/2006/relationships" id="262" r:id="Rb649573e8f7845c5"/>
    <p:sldId xmlns:r="http://schemas.openxmlformats.org/officeDocument/2006/relationships" id="263" r:id="R65f963cf39d64f0b"/>
    <p:sldId xmlns:r="http://schemas.openxmlformats.org/officeDocument/2006/relationships" id="264" r:id="R139a9bb9635c4d23"/>
    <p:sldId xmlns:r="http://schemas.openxmlformats.org/officeDocument/2006/relationships" id="265" r:id="Rc246cd1e97c340ab"/>
    <p:sldId xmlns:r="http://schemas.openxmlformats.org/officeDocument/2006/relationships" id="266" r:id="R0d76cec0a22245b3"/>
    <p:sldId xmlns:r="http://schemas.openxmlformats.org/officeDocument/2006/relationships" id="267" r:id="R31f7fb79ba6547d9"/>
    <p:sldId xmlns:r="http://schemas.openxmlformats.org/officeDocument/2006/relationships" id="268" r:id="R578f01f1c320411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51100dcd7f0446a" /><Relationship Type="http://schemas.openxmlformats.org/officeDocument/2006/relationships/slideMaster" Target="/ppt/slideMasters/slideMaster1.xml" Id="R03961d39050f42d7" /><Relationship Type="http://schemas.openxmlformats.org/officeDocument/2006/relationships/notesMaster" Target="/ppt/notesMasters/notesMaster1.xml" Id="R8e46a911d49047d2" /><Relationship Type="http://schemas.openxmlformats.org/officeDocument/2006/relationships/presProps" Target="/ppt/presProps.xml" Id="R7519845bbafa44d2" /><Relationship Type="http://schemas.openxmlformats.org/officeDocument/2006/relationships/tableStyles" Target="/ppt/tableStyles.xml" Id="Rea8d592b88614a60" /><Relationship Type="http://schemas.openxmlformats.org/officeDocument/2006/relationships/slide" Target="/ppt/slides/slide1.xml" Id="Rf2dc96823b444b4f" /><Relationship Type="http://schemas.openxmlformats.org/officeDocument/2006/relationships/slide" Target="/ppt/slides/slide2.xml" Id="R101f63d0e2a04a1e" /><Relationship Type="http://schemas.openxmlformats.org/officeDocument/2006/relationships/slide" Target="/ppt/slides/slide3.xml" Id="Rce97cf90d59a4820" /><Relationship Type="http://schemas.openxmlformats.org/officeDocument/2006/relationships/slide" Target="/ppt/slides/slide4.xml" Id="R869141f1dba24bbd" /><Relationship Type="http://schemas.openxmlformats.org/officeDocument/2006/relationships/slide" Target="/ppt/slides/slide5.xml" Id="Re8ac340120054998" /><Relationship Type="http://schemas.openxmlformats.org/officeDocument/2006/relationships/slide" Target="/ppt/slides/slide6.xml" Id="R98f8fb1c1dac4da9" /><Relationship Type="http://schemas.openxmlformats.org/officeDocument/2006/relationships/slide" Target="/ppt/slides/slide7.xml" Id="Rb649573e8f7845c5" /><Relationship Type="http://schemas.openxmlformats.org/officeDocument/2006/relationships/slide" Target="/ppt/slides/slide8.xml" Id="R65f963cf39d64f0b" /><Relationship Type="http://schemas.openxmlformats.org/officeDocument/2006/relationships/slide" Target="/ppt/slides/slide9.xml" Id="R139a9bb9635c4d23" /><Relationship Type="http://schemas.openxmlformats.org/officeDocument/2006/relationships/slide" Target="/ppt/slides/slide10.xml" Id="Rc246cd1e97c340ab" /><Relationship Type="http://schemas.openxmlformats.org/officeDocument/2006/relationships/slide" Target="/ppt/slides/slide11.xml" Id="R0d76cec0a22245b3" /><Relationship Type="http://schemas.openxmlformats.org/officeDocument/2006/relationships/slide" Target="/ppt/slides/slide12.xml" Id="R31f7fb79ba6547d9" /><Relationship Type="http://schemas.openxmlformats.org/officeDocument/2006/relationships/slide" Target="/ppt/slides/slide13.xml" Id="R578f01f1c32041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2aae06acd414f7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9ee757e5074e61" /><Relationship Type="http://schemas.openxmlformats.org/officeDocument/2006/relationships/notesMaster" Target="/ppt/notesMasters/notesMaster1.xml" Id="R148a1be469f345d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ae1ac9a4f2f41ec" /><Relationship Type="http://schemas.openxmlformats.org/officeDocument/2006/relationships/notesMaster" Target="/ppt/notesMasters/notesMaster1.xml" Id="R8482b8d7be5f471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18d1835279e4a46" /><Relationship Type="http://schemas.openxmlformats.org/officeDocument/2006/relationships/notesMaster" Target="/ppt/notesMasters/notesMaster1.xml" Id="R043eebe551ad420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2141e842f74940" /><Relationship Type="http://schemas.openxmlformats.org/officeDocument/2006/relationships/notesMaster" Target="/ppt/notesMasters/notesMaster1.xml" Id="Reabcd8fe48c5445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649727d4aa544b6" /><Relationship Type="http://schemas.openxmlformats.org/officeDocument/2006/relationships/notesMaster" Target="/ppt/notesMasters/notesMaster1.xml" Id="R1f264b73269b4ec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09890c777524a09" /><Relationship Type="http://schemas.openxmlformats.org/officeDocument/2006/relationships/notesMaster" Target="/ppt/notesMasters/notesMaster1.xml" Id="R751d12d31f9b4d9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f0cd028b0d54c32" /><Relationship Type="http://schemas.openxmlformats.org/officeDocument/2006/relationships/notesMaster" Target="/ppt/notesMasters/notesMaster1.xml" Id="R11938405d7ea450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8595c34ac4c43a8" /><Relationship Type="http://schemas.openxmlformats.org/officeDocument/2006/relationships/notesMaster" Target="/ppt/notesMasters/notesMaster1.xml" Id="R8d466654f81b4bf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4c943430164a0e" /><Relationship Type="http://schemas.openxmlformats.org/officeDocument/2006/relationships/notesMaster" Target="/ppt/notesMasters/notesMaster1.xml" Id="Rea37d97351bb440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36c309e7fe147fc" /><Relationship Type="http://schemas.openxmlformats.org/officeDocument/2006/relationships/notesMaster" Target="/ppt/notesMasters/notesMaster1.xml" Id="Rd3375277322447b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4ffe7e041764c76" /><Relationship Type="http://schemas.openxmlformats.org/officeDocument/2006/relationships/notesMaster" Target="/ppt/notesMasters/notesMaster1.xml" Id="R77072e1cc23e44d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3b582e8d9e7481d" /><Relationship Type="http://schemas.openxmlformats.org/officeDocument/2006/relationships/notesMaster" Target="/ppt/notesMasters/notesMaster1.xml" Id="R5e08c814aa3f404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89fded18ec54a0e" /><Relationship Type="http://schemas.openxmlformats.org/officeDocument/2006/relationships/notesMaster" Target="/ppt/notesMasters/notesMaster1.xml" Id="Rb7b23ad8128e4ab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Acta_de_Constitucion_Alunza.docx, versión 1.3.</a:t>
            </a:r>
          </a:p>
          <a:p xmlns:a="http://schemas.openxmlformats.org/drawingml/2006/main">
            <a:r>
              <a:t>- Informe_ERS_Alunza.docx, versión 1.3.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[Accessibility]</a:t>
            </a:r>
          </a:p>
          <a:p xmlns:a="http://schemas.openxmlformats.org/drawingml/2006/main">
            <a:r>
              <a:t>Portada de Alunza. El estado indica cierre documental al 02/09/2026 y revisión técnica de la arquitectura al 04/09/2026. Las cuatro etapas permanecen a la derecha.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[Status]</a:t>
            </a:r>
          </a:p>
          <a:p xmlns:a="http://schemas.openxmlformats.org/drawingml/2006/main">
            <a:r>
              <a:t>La arquitectura híbrida está definida; no se afirma funcionalidad implementada.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Informe_ERS_Alunza.docx — problema, usuarios y oportunidad.</a:t>
            </a:r>
          </a:p>
          <a:p xmlns:a="http://schemas.openxmlformats.org/drawingml/2006/main">
            <a:r>
              <a:t>- Documento_Avance_Sprint_1_Alunza.docx — supuestos y validación pendiente.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[Accessibility]</a:t>
            </a:r>
          </a:p>
          <a:p xmlns:a="http://schemas.openxmlformats.org/drawingml/2006/main">
            <a:r>
              <a:t>Dos columnas comparan las necesidades hipotéticas del estudiante y del profesor. Una franja inferior resume el resultado buscado.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[Status]</a:t>
            </a:r>
          </a:p>
          <a:p xmlns:a="http://schemas.openxmlformats.org/drawingml/2006/main">
            <a:r>
              <a:t>Las afirmaciones se presentan como hipótesis de diseño, no como hallazgos empíricos ya validados.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Informe_ERS_Alunza.docx — objetivo general y propuesta de solución.</a:t>
            </a:r>
          </a:p>
          <a:p xmlns:a="http://schemas.openxmlformats.org/drawingml/2006/main">
            <a:r>
              <a:t>- Plantilla_Historias_Usuario_Alunza.xlsx — HU004, HU009–HU019.</a:t>
            </a:r>
          </a:p>
          <a:p xmlns:a="http://schemas.openxmlformats.org/drawingml/2006/main">
            <a:r>
              <a:t>- Documento_Casos_de_Uso_Extendidos_Alunza.docx — flujo principal.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[Accessibility]</a:t>
            </a:r>
          </a:p>
          <a:p xmlns:a="http://schemas.openxmlformats.org/drawingml/2006/main">
            <a:r>
              <a:t>Secuencia de ocho pasos: publicar, programar, evaluar, persistir, diagnosticar, recuperar una fuente, orientar/reintentar y observar evidencia. Tres tarjetas explican los principios determinístico, RAG acotado y decisión humana.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[Status]</a:t>
            </a:r>
          </a:p>
          <a:p xmlns:a="http://schemas.openxmlformats.org/drawingml/2006/main">
            <a:r>
              <a:t>Al cierre de semana 4, la vertical está definida; su construcción comienza en S2.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Informe_ERS_Alunza.docx, versión 1.3.</a:t>
            </a:r>
          </a:p>
          <a:p xmlns:a="http://schemas.openxmlformats.org/drawingml/2006/main">
            <a:r>
              <a:t>- Roadmap_Agil_Alunza_2026.pptx.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[Accessibility]</a:t>
            </a:r>
          </a:p>
          <a:p xmlns:a="http://schemas.openxmlformats.org/drawingml/2006/main">
            <a:r>
              <a:t>Tres columnas resumen alcance, exclusiones y guardrails. La demo canónica incluye 2 organizaciones, 2 administradores, 2 profesores, 8 estudiantes, 3 clases, 10 ejercicios y 2 documentos por clase.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[Status]</a:t>
            </a:r>
          </a:p>
          <a:p xmlns:a="http://schemas.openxmlformats.org/drawingml/2006/main">
            <a:r>
              <a:t>Alcance aprobado; implementación pendiente.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Informe_ERS_Alunza.docx, versión 1.3.</a:t>
            </a:r>
          </a:p>
          <a:p xmlns:a="http://schemas.openxmlformats.org/drawingml/2006/main">
            <a:r>
              <a:t>- Product_Backlog_Alunza.xlsx.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[Accessibility]</a:t>
            </a:r>
          </a:p>
          <a:p xmlns:a="http://schemas.openxmlformats.org/drawingml/2006/main">
            <a:r>
              <a:t>Seis grupos cubren los 27 requisitos. La franja inferior separa los objetivos p95 de interfaz/API, ejecución completa y feedback de IA, además del límite de 3 segundos del proceso.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[Status]</a:t>
            </a:r>
          </a:p>
          <a:p xmlns:a="http://schemas.openxmlformats.org/drawingml/2006/main">
            <a:r>
              <a:t>Los requisitos están planificados y no acreditan pruebas ejecutadas.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Informe_ERS_Alunza.docx — modelo de datos preliminar.</a:t>
            </a:r>
          </a:p>
          <a:p xmlns:a="http://schemas.openxmlformats.org/drawingml/2006/main">
            <a:r>
              <a:t>- Plantilla_Historias_Usuario_Alunza.xlsx — HU002, HU004–HU006, HU010, HU018–HU019.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[Accessibility]</a:t>
            </a:r>
          </a:p>
          <a:p xmlns:a="http://schemas.openxmlformats.org/drawingml/2006/main">
            <a:r>
              <a:t>Diez entidades editables muestran relaciones corregidas. Organization y Class, Class y ClassMember, User y ClassMember, Activity y Attempt, Exercise y Attempt, Attempt y LearningEvent, y Class y Document se relacionan uno a muchos. Signal conserva versión de regla, evidencia y revisión.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[Status]</a:t>
            </a:r>
          </a:p>
          <a:p xmlns:a="http://schemas.openxmlformats.org/drawingml/2006/main">
            <a:r>
              <a:t>Modelo simplificado de Fase 1; tipos, índices y migraciones se confirman durante S2–S4.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Documento_Casos_de_Uso_Extendidos_Alunza.docx — actores y casos ALZ-CU-001–027.</a:t>
            </a:r>
          </a:p>
          <a:p xmlns:a="http://schemas.openxmlformats.org/drawingml/2006/main">
            <a:r>
              <a:t>- Product_Backlog_Alunza.xlsx — Product Backlog!A6:M32.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[Accessibility]</a:t>
            </a:r>
          </a:p>
          <a:p xmlns:a="http://schemas.openxmlformats.org/drawingml/2006/main">
            <a:r>
              <a:t>Tres columnas describen las responsabilidades del administrador, el profesor y el estudiante. El administrador cubre organizaciones, usuarios y roles, cursos y clases, taxonomía, banco de ejercicios, materiales RAG, reglas, auditoría y exportación CSV.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[Status]</a:t>
            </a:r>
          </a:p>
          <a:p xmlns:a="http://schemas.openxmlformats.org/drawingml/2006/main">
            <a:r>
              <a:t>El mapa representa los tres roles comprometidos por el MVP y su núcleo compartido.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Documento_Casos_de_Uso_Extendidos_Alunza.docx — actividad principal y alternativas.</a:t>
            </a:r>
          </a:p>
          <a:p xmlns:a="http://schemas.openxmlformats.org/drawingml/2006/main">
            <a:r>
              <a:t>- Plantilla_Historias_Usuario_Alunza.xlsx — HU009–HU014 y HU018–HU019.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[Accessibility]</a:t>
            </a:r>
          </a:p>
          <a:p xmlns:a="http://schemas.openxmlformats.org/drawingml/2006/main">
            <a:r>
              <a:t>El flujo comienza con envío, ejecución y persistencia para todos los resultados. Si pasa las pruebas actualiza progreso. Si falla, intenta recuperar evidencia; con evidencia cita la fuente y sin ella entrega feedback técnico/unknown. Ambas rutas permiten reintentar. Los eventos alimentan señales revisadas por el profesor.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[Status]</a:t>
            </a:r>
          </a:p>
          <a:p xmlns:a="http://schemas.openxmlformats.org/drawingml/2006/main">
            <a:r>
              <a:t>Se corrigió el defecto previo: la rama exitosa ya no omite la persistencia.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Informe_ERS_Alunza.docx, versión 1.3.</a:t>
            </a:r>
          </a:p>
          <a:p xmlns:a="http://schemas.openxmlformats.org/drawingml/2006/main">
            <a:r>
              <a:t>- Node.js: https://nodejs.org/en/about/previous-releases</a:t>
            </a:r>
          </a:p>
          <a:p xmlns:a="http://schemas.openxmlformats.org/drawingml/2006/main">
            <a:r>
              <a:t>- NestJS: https://docs.nestjs.com/migration-guide</a:t>
            </a:r>
          </a:p>
          <a:p xmlns:a="http://schemas.openxmlformats.org/drawingml/2006/main">
            <a:r>
              <a:t>- Supabase Auth: https://supabase.com/docs/guides/auth/architecture</a:t>
            </a:r>
          </a:p>
          <a:p xmlns:a="http://schemas.openxmlformats.org/drawingml/2006/main">
            <a:r>
              <a:t>- Supabase RLS: https://supabase.com/docs/guides/database/postgres/row-level-security</a:t>
            </a:r>
          </a:p>
          <a:p xmlns:a="http://schemas.openxmlformats.org/drawingml/2006/main">
            <a:r>
              <a:t>- Supabase pgvector: https://supabase.com/docs/guides/ai/vector-columns</a:t>
            </a:r>
          </a:p>
          <a:p xmlns:a="http://schemas.openxmlformats.org/drawingml/2006/main">
            <a:r>
              <a:t>- Vercel Sandbox: https://vercel.com/docs/sandbox</a:t>
            </a:r>
          </a:p>
          <a:p xmlns:a="http://schemas.openxmlformats.org/drawingml/2006/main">
            <a:r>
              <a:t>- Azure Container Apps: https://learn.microsoft.com/en-us/azure/container-apps/billing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[Accessibility]</a:t>
            </a:r>
          </a:p>
          <a:p xmlns:a="http://schemas.openxmlformats.org/drawingml/2006/main">
            <a:r>
              <a:t>El flujo superior muestra Next.js en Vercel, NestJS en Azure Container Apps, Vercel Sandbox, Supabase, reglas y tablero. El flujo inferior conserva la recuperación RAG con Azure OpenAI y pgvector en Supabase.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[Status]</a:t>
            </a:r>
          </a:p>
          <a:p xmlns:a="http://schemas.openxmlformats.org/drawingml/2006/main">
            <a:r>
              <a:t>AD-ARQ-001 es definitiva. La validación operativa está pendiente.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Acta_de_Constitucion_Alunza.docx — roles del equipo.</a:t>
            </a:r>
          </a:p>
          <a:p xmlns:a="http://schemas.openxmlformats.org/drawingml/2006/main">
            <a:r>
              <a:t>- Sprint_Backlog_Alunza_Sprint_2.xlsx — Sprint Backlog!A6:T17, responsables y 60 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[Accessibility]</a:t>
            </a:r>
          </a:p>
          <a:p xmlns:a="http://schemas.openxmlformats.org/drawingml/2006/main">
            <a:r>
              <a:t>Tres tarjetas identifican a los integrantes. Una matriz de ocho filas asigna Accountable/Responsible/Consulted/Informed. Una alerta inferior muestra la carga Marcelo 21, Abraham 20 y Benjamin 19 horas.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[Status]</a:t>
            </a:r>
          </a:p>
          <a:p xmlns:a="http://schemas.openxmlformats.org/drawingml/2006/main">
            <a:r>
              <a:t>La capacidad real debe aprobarse en Sprint Planning antes de comprometer las 60 horas.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Informe_ERS_Alunza.docx, versión 1.3.</a:t>
            </a:r>
          </a:p>
          <a:p xmlns:a="http://schemas.openxmlformats.org/drawingml/2006/main">
            <a:r>
              <a:t>- Vercel Sandbox: https://vercel.com/docs/sandbox</a:t>
            </a:r>
          </a:p>
          <a:p xmlns:a="http://schemas.openxmlformats.org/drawingml/2006/main">
            <a:r>
              <a:t>- Supabase RLS: https://supabase.com/docs/guides/database/postgres/row-level-security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[Accessibility]</a:t>
            </a:r>
          </a:p>
          <a:p xmlns:a="http://schemas.openxmlformats.org/drawingml/2006/main">
            <a:r>
              <a:t>Ocho riesgos muestran dueño, disparador y respuesta. Los controles actualizados incluyen Vercel Sandbox, RLS, secretos sólo en servidor y observabilidad por proveedor.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[Status]</a:t>
            </a:r>
          </a:p>
          <a:p xmlns:a="http://schemas.openxmlformats.org/drawingml/2006/main">
            <a:r>
              <a:t>Los riesgos y respuestas están definidos; las pruebas siguen pendientes.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Roadmap_Agil_Alunza_2026.pptx.</a:t>
            </a:r>
          </a:p>
          <a:p xmlns:a="http://schemas.openxmlformats.org/drawingml/2006/main">
            <a:r>
              <a:t>- Sprint_Backlog_Alunza_Sprint_2.xlsx.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[Accessibility]</a:t>
            </a:r>
          </a:p>
          <a:p xmlns:a="http://schemas.openxmlformats.org/drawingml/2006/main">
            <a:r>
              <a:t>Cuatro columnas muestran las etapas del proyecto. Construir comienza en S2 con base Vercel, Supabase y Azure, junto con RLS, CI y validación de Sandbox.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[Status]</a:t>
            </a:r>
          </a:p>
          <a:p xmlns:a="http://schemas.openxmlformats.org/drawingml/2006/main">
            <a:r>
              <a:t>La planificación no presenta trabajo técnico como implementado.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Informe_ERS_Alunza.docx, versión 1.3.</a:t>
            </a:r>
          </a:p>
          <a:p xmlns:a="http://schemas.openxmlformats.org/drawingml/2006/main">
            <a:r>
              <a:t>- Supabase Pricing: https://supabase.com/pricing</a:t>
            </a:r>
          </a:p>
          <a:p xmlns:a="http://schemas.openxmlformats.org/drawingml/2006/main">
            <a:r>
              <a:t>- Vercel Pricing: https://vercel.com/pricing</a:t>
            </a:r>
          </a:p>
          <a:p xmlns:a="http://schemas.openxmlformats.org/drawingml/2006/main">
            <a:r>
              <a:t>- Vercel Sandbox Pricing: https://vercel.com/docs/sandbox/pricing</a:t>
            </a:r>
          </a:p>
          <a:p xmlns:a="http://schemas.openxmlformats.org/drawingml/2006/main">
            <a:r>
              <a:t>- Azure Container Apps Billing: https://learn.microsoft.com/en-us/azure/container-apps/billing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[Accessibility]</a:t>
            </a:r>
          </a:p>
          <a:p xmlns:a="http://schemas.openxmlformats.org/drawingml/2006/main">
            <a:r>
              <a:t>El panel izquierdo muestra el tope directo de CLP 265.000, las reservas opcionales de Supabase Pro y Vercel Pro y el consumo variable de nube. El panel derecho conserva 540 horas valorizadas y el total referencial de CLP 4.585.000.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[Status]</a:t>
            </a:r>
          </a:p>
          <a:p xmlns:a="http://schemas.openxmlformats.org/drawingml/2006/main">
            <a:r>
              <a:t>Los montos en USD se convierten al valor real de facturación y todo consumo queda dentro del tope directo.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d2db17bb474b9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924ee7a7a64563" /><Relationship Type="http://schemas.openxmlformats.org/officeDocument/2006/relationships/slideLayout" Target="/ppt/slideLayouts/slideLayout1.xml" Id="R4469b45afa1b44a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469b45afa1b44a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eefb8117fd4532" /><Relationship Type="http://schemas.openxmlformats.org/officeDocument/2006/relationships/notesSlide" Target="/ppt/notesSlides/notesSlide1.xml" Id="R9a9ae9ceb4b04dc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42c7cddfaa4273" /><Relationship Type="http://schemas.openxmlformats.org/officeDocument/2006/relationships/notesSlide" Target="/ppt/notesSlides/notesSlide2.xml" Id="Rf7610634d524499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3dcb915ccc4e97" /><Relationship Type="http://schemas.openxmlformats.org/officeDocument/2006/relationships/notesSlide" Target="/ppt/notesSlides/notesSlide3.xml" Id="R3b8e2187c7ec41c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b82cf7919a45ea" /><Relationship Type="http://schemas.openxmlformats.org/officeDocument/2006/relationships/notesSlide" Target="/ppt/notesSlides/notesSlide4.xml" Id="R42dcb3083c224af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ddc0c1ef624202" /><Relationship Type="http://schemas.openxmlformats.org/officeDocument/2006/relationships/notesSlide" Target="/ppt/notesSlides/notesSlide5.xml" Id="R604dcedba5734b1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ab325ea0ca4dc8" /><Relationship Type="http://schemas.openxmlformats.org/officeDocument/2006/relationships/notesSlide" Target="/ppt/notesSlides/notesSlide6.xml" Id="R4532ea639908423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c5b356034e4504" /><Relationship Type="http://schemas.openxmlformats.org/officeDocument/2006/relationships/notesSlide" Target="/ppt/notesSlides/notesSlide7.xml" Id="Re6fb238c1495461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d8763ce5194101" /><Relationship Type="http://schemas.openxmlformats.org/officeDocument/2006/relationships/notesSlide" Target="/ppt/notesSlides/notesSlide8.xml" Id="Rc8e125a6f05242c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0a1d38f7c6418a" /><Relationship Type="http://schemas.openxmlformats.org/officeDocument/2006/relationships/notesSlide" Target="/ppt/notesSlides/notesSlide9.xml" Id="Rce29328f6ae8409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84dbf46ed04cb4" /><Relationship Type="http://schemas.openxmlformats.org/officeDocument/2006/relationships/notesSlide" Target="/ppt/notesSlides/notesSlide10.xml" Id="R78a780ef7c3946a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b64f1b47424f83" /><Relationship Type="http://schemas.openxmlformats.org/officeDocument/2006/relationships/notesSlide" Target="/ppt/notesSlides/notesSlide11.xml" Id="Rc9d8f8769f7f4a8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239cb73c374d43" /><Relationship Type="http://schemas.openxmlformats.org/officeDocument/2006/relationships/notesSlide" Target="/ppt/notesSlides/notesSlide12.xml" Id="R9f825c7409cc4ab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d5ae4c50b1484d" /><Relationship Type="http://schemas.openxmlformats.org/officeDocument/2006/relationships/notesSlide" Target="/ppt/notesSlides/notesSlide13.xml" Id="R4d58f86efe43460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cover-rail">
            <a:extLst xmlns:a="http://schemas.openxmlformats.org/drawingml/2006/main">
              <a:ext uri="{FF2B5EF4-FFF2-40B4-BE49-F238E27FC236}">
                <a16:creationId xmlns:a16="http://schemas.microsoft.com/office/drawing/2014/main" id="{07453D58-B0FF-4AE6-BDD5-0EBFEE1C3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2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909C0AEA-AA1E-4B63-860A-04D326628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F6FED"/>
                </a:solidFill>
              </a:defRPr>
            </a:pPr>
            <a:r>
              <a:rPr sz="1050" b="1" i="0">
                <a:solidFill>
                  <a:srgbClr val="2F6FED"/>
                </a:solidFill>
              </a:rPr>
              <a:t>ALUNZA · CAPSTONE 2026 · FASE 1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E5361FB-62E2-4AD1-9D5E-0C55DB85D9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1200150"/>
            <a:ext cx="5619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 i="0">
                <a:solidFill>
                  <a:srgbClr val="102A43"/>
                </a:solidFill>
              </a:defRPr>
            </a:pPr>
            <a:r>
              <a:rPr sz="4350" b="1" i="0">
                <a:solidFill>
                  <a:srgbClr val="102A43"/>
                </a:solidFill>
              </a:rPr>
              <a:t>Alunza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A3DD2E05-51B7-4B04-9556-F0FA554A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 i="0">
                <a:solidFill>
                  <a:srgbClr val="159A8C"/>
                </a:solidFill>
              </a:defRPr>
            </a:pPr>
            <a:r>
              <a:rPr sz="2175" b="1" i="0">
                <a:solidFill>
                  <a:srgbClr val="159A8C"/>
                </a:solidFill>
              </a:rPr>
              <a:t>Tutor inteligente para Programación I</a:t>
            </a:r>
          </a:p>
        </p:txBody>
      </p:sp>
      <p:sp>
        <p:nvSpPr>
          <p:cNvPr id="5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E264F086-4F4B-44FC-95FE-BC2E4F3C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5810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243B53"/>
                </a:solidFill>
              </a:defRPr>
            </a:pPr>
            <a:r>
              <a:rPr sz="1575" b="0" i="0">
                <a:solidFill>
                  <a:srgbClr val="243B53"/>
                </a:solidFill>
              </a:rPr>
              <a:t>MVP web con evaluación JavaScript determinística, feedback RAG y tres señales docentes explicables.</a:t>
            </a:r>
          </a:p>
        </p:txBody>
      </p:sp>
      <p:sp>
        <p:nvSpPr>
          <p:cNvPr id="6" name="cover-status-bg">
            <a:extLst xmlns:a="http://schemas.openxmlformats.org/drawingml/2006/main">
              <a:ext uri="{FF2B5EF4-FFF2-40B4-BE49-F238E27FC236}">
                <a16:creationId xmlns:a16="http://schemas.microsoft.com/office/drawing/2014/main" id="{B41BAC98-F652-41D0-9F5C-89DCAB51D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0"/>
            <a:ext cx="5905500" cy="12001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F6FED"/>
            </a:solidFill>
            <a:prstDash val="solid"/>
          </a:ln>
        </p:spPr>
      </p:sp>
      <p:sp>
        <p:nvSpPr>
          <p:cNvPr id="7" name="cover-status-label">
            <a:extLst xmlns:a="http://schemas.openxmlformats.org/drawingml/2006/main">
              <a:ext uri="{FF2B5EF4-FFF2-40B4-BE49-F238E27FC236}">
                <a16:creationId xmlns:a16="http://schemas.microsoft.com/office/drawing/2014/main" id="{7D9CCED3-295E-4F29-8433-E8F757292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910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2F6FED"/>
                </a:solidFill>
              </a:defRPr>
            </a:pPr>
            <a:r>
              <a:rPr sz="975" b="1" i="0">
                <a:solidFill>
                  <a:srgbClr val="2F6FED"/>
                </a:solidFill>
              </a:rPr>
              <a:t>CIERRE DE SEMANA 4</a:t>
            </a:r>
          </a:p>
        </p:txBody>
      </p:sp>
      <p:sp>
        <p:nvSpPr>
          <p:cNvPr id="8" name="cover-status-copy">
            <a:extLst xmlns:a="http://schemas.openxmlformats.org/drawingml/2006/main">
              <a:ext uri="{FF2B5EF4-FFF2-40B4-BE49-F238E27FC236}">
                <a16:creationId xmlns:a16="http://schemas.microsoft.com/office/drawing/2014/main" id="{37BF1B8D-AC4B-4014-A539-7C4FE93A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533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Alcance y backlog consolidados. Arquitectura híbrida definida el 04/09/2026; la implementación comienza en Sprint 2.</a:t>
            </a:r>
          </a:p>
        </p:txBody>
      </p:sp>
      <p:sp>
        <p:nvSpPr>
          <p:cNvPr id="9" name="cover-team">
            <a:extLst xmlns:a="http://schemas.openxmlformats.org/drawingml/2006/main">
              <a:ext uri="{FF2B5EF4-FFF2-40B4-BE49-F238E27FC236}">
                <a16:creationId xmlns:a16="http://schemas.microsoft.com/office/drawing/2014/main" id="{4CC50A7B-7001-4FA3-9095-53E3FFB3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Benjamin Pérez · Abraham Retamal · Marcelo Núñez</a:t>
            </a:r>
          </a:p>
        </p:txBody>
      </p:sp>
      <p:sp>
        <p:nvSpPr>
          <p:cNvPr id="10" name="cover-meta">
            <a:extLst xmlns:a="http://schemas.openxmlformats.org/drawingml/2006/main">
              <a:ext uri="{FF2B5EF4-FFF2-40B4-BE49-F238E27FC236}">
                <a16:creationId xmlns:a16="http://schemas.microsoft.com/office/drawing/2014/main" id="{B8DA981C-646E-4CBC-B750-8A8240DD1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626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4748B"/>
                </a:solidFill>
              </a:defRPr>
            </a:pPr>
            <a:r>
              <a:rPr sz="975" b="0" i="0">
                <a:solidFill>
                  <a:srgbClr val="64748B"/>
                </a:solidFill>
              </a:rPr>
              <a:t>Ingeniería Informática, Sede Puente Alto, docente Fabián Saldaño. Corte 02/09/2026, revisión 04/09/2026</a:t>
            </a:r>
          </a:p>
        </p:txBody>
      </p:sp>
      <p:sp>
        <p:nvSpPr>
          <p:cNvPr id="11" name="cover-path">
            <a:extLst xmlns:a="http://schemas.openxmlformats.org/drawingml/2006/main">
              <a:ext uri="{FF2B5EF4-FFF2-40B4-BE49-F238E27FC236}">
                <a16:creationId xmlns:a16="http://schemas.microsoft.com/office/drawing/2014/main" id="{23590383-A293-4A31-906F-960B4CB0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428750"/>
            <a:ext cx="0" cy="3657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8E3EF"/>
            </a:solidFill>
            <a:prstDash val="solid"/>
          </a:ln>
        </p:spPr>
      </p:sp>
      <p:sp>
        <p:nvSpPr>
          <p:cNvPr id="12" name="cover-stage-0">
            <a:extLst xmlns:a="http://schemas.openxmlformats.org/drawingml/2006/main">
              <a:ext uri="{FF2B5EF4-FFF2-40B4-BE49-F238E27FC236}">
                <a16:creationId xmlns:a16="http://schemas.microsoft.com/office/drawing/2014/main" id="{9B32DA99-F755-4DA6-94BC-7641A0D4B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066800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13" name="cover-stage-n-0">
            <a:extLst xmlns:a="http://schemas.openxmlformats.org/drawingml/2006/main">
              <a:ext uri="{FF2B5EF4-FFF2-40B4-BE49-F238E27FC236}">
                <a16:creationId xmlns:a16="http://schemas.microsoft.com/office/drawing/2014/main" id="{2461A68B-2DAA-4DEE-B6B0-D2690FA7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257300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FFFFFF"/>
                </a:solidFill>
              </a:defRPr>
            </a:pPr>
            <a:r>
              <a:rPr sz="15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cover-stage-l-0">
            <a:extLst xmlns:a="http://schemas.openxmlformats.org/drawingml/2006/main">
              <a:ext uri="{FF2B5EF4-FFF2-40B4-BE49-F238E27FC236}">
                <a16:creationId xmlns:a16="http://schemas.microsoft.com/office/drawing/2014/main" id="{EBB45005-E860-4A5C-B440-88D04945D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1525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Definir</a:t>
            </a:r>
          </a:p>
        </p:txBody>
      </p:sp>
      <p:sp>
        <p:nvSpPr>
          <p:cNvPr id="15" name="cover-stage-s-0">
            <a:extLst xmlns:a="http://schemas.openxmlformats.org/drawingml/2006/main">
              <a:ext uri="{FF2B5EF4-FFF2-40B4-BE49-F238E27FC236}">
                <a16:creationId xmlns:a16="http://schemas.microsoft.com/office/drawing/2014/main" id="{D0C429F6-B905-410B-9DFD-373C796FE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7637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2F6FED"/>
                </a:solidFill>
              </a:defRPr>
            </a:pPr>
            <a:r>
              <a:rPr sz="975" b="1" i="0">
                <a:solidFill>
                  <a:srgbClr val="2F6FED"/>
                </a:solidFill>
              </a:rPr>
              <a:t>COMPLETADO</a:t>
            </a:r>
          </a:p>
        </p:txBody>
      </p:sp>
      <p:sp>
        <p:nvSpPr>
          <p:cNvPr id="16" name="cover-stage-1">
            <a:extLst xmlns:a="http://schemas.openxmlformats.org/drawingml/2006/main">
              <a:ext uri="{FF2B5EF4-FFF2-40B4-BE49-F238E27FC236}">
                <a16:creationId xmlns:a16="http://schemas.microsoft.com/office/drawing/2014/main" id="{B8CFBE95-49C5-4708-A340-F7BD379AB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86000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9A8C"/>
          </a:solidFill>
          <a:ln xmlns:a="http://schemas.openxmlformats.org/drawingml/2006/main" w="0">
            <a:solidFill>
              <a:srgbClr val="159A8C"/>
            </a:solidFill>
            <a:prstDash val="solid"/>
          </a:ln>
        </p:spPr>
      </p:sp>
      <p:sp>
        <p:nvSpPr>
          <p:cNvPr id="17" name="cover-stage-n-1">
            <a:extLst xmlns:a="http://schemas.openxmlformats.org/drawingml/2006/main">
              <a:ext uri="{FF2B5EF4-FFF2-40B4-BE49-F238E27FC236}">
                <a16:creationId xmlns:a16="http://schemas.microsoft.com/office/drawing/2014/main" id="{2DC62EF5-D5E3-49ED-AAD7-565FEE53A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476500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FFFFFF"/>
                </a:solidFill>
              </a:defRPr>
            </a:pPr>
            <a:r>
              <a:rPr sz="15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cover-stage-l-1">
            <a:extLst xmlns:a="http://schemas.openxmlformats.org/drawingml/2006/main">
              <a:ext uri="{FF2B5EF4-FFF2-40B4-BE49-F238E27FC236}">
                <a16:creationId xmlns:a16="http://schemas.microsoft.com/office/drawing/2014/main" id="{C3A26C54-49C1-4B22-94A8-9BFD14BC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717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Construir</a:t>
            </a:r>
          </a:p>
        </p:txBody>
      </p:sp>
      <p:sp>
        <p:nvSpPr>
          <p:cNvPr id="19" name="cover-stage-s-1">
            <a:extLst xmlns:a="http://schemas.openxmlformats.org/drawingml/2006/main">
              <a:ext uri="{FF2B5EF4-FFF2-40B4-BE49-F238E27FC236}">
                <a16:creationId xmlns:a16="http://schemas.microsoft.com/office/drawing/2014/main" id="{5EC80E3C-F41E-4B78-9BA3-FEE45226D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9557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59A8C"/>
                </a:solidFill>
              </a:defRPr>
            </a:pPr>
            <a:r>
              <a:rPr sz="975" b="1" i="0">
                <a:solidFill>
                  <a:srgbClr val="159A8C"/>
                </a:solidFill>
              </a:rPr>
              <a:t>S2–S4</a:t>
            </a:r>
          </a:p>
        </p:txBody>
      </p:sp>
      <p:sp>
        <p:nvSpPr>
          <p:cNvPr id="20" name="cover-stage-2">
            <a:extLst xmlns:a="http://schemas.openxmlformats.org/drawingml/2006/main">
              <a:ext uri="{FF2B5EF4-FFF2-40B4-BE49-F238E27FC236}">
                <a16:creationId xmlns:a16="http://schemas.microsoft.com/office/drawing/2014/main" id="{6AACADD7-9CC8-489E-B20A-36D76FF9D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505200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63E"/>
          </a:solidFill>
          <a:ln xmlns:a="http://schemas.openxmlformats.org/drawingml/2006/main" w="0">
            <a:solidFill>
              <a:srgbClr val="F4B63E"/>
            </a:solidFill>
            <a:prstDash val="solid"/>
          </a:ln>
        </p:spPr>
      </p:sp>
      <p:sp>
        <p:nvSpPr>
          <p:cNvPr id="21" name="cover-stage-n-2">
            <a:extLst xmlns:a="http://schemas.openxmlformats.org/drawingml/2006/main">
              <a:ext uri="{FF2B5EF4-FFF2-40B4-BE49-F238E27FC236}">
                <a16:creationId xmlns:a16="http://schemas.microsoft.com/office/drawing/2014/main" id="{241E6C8B-2D15-47F1-A418-BDC72E443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695700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FFFFFF"/>
                </a:solidFill>
              </a:defRPr>
            </a:pPr>
            <a:r>
              <a:rPr sz="15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cover-stage-l-2">
            <a:extLst xmlns:a="http://schemas.openxmlformats.org/drawingml/2006/main">
              <a:ext uri="{FF2B5EF4-FFF2-40B4-BE49-F238E27FC236}">
                <a16:creationId xmlns:a16="http://schemas.microsoft.com/office/drawing/2014/main" id="{DB1EE53F-E3B2-4614-BF38-1646266B9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909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Validar</a:t>
            </a:r>
          </a:p>
        </p:txBody>
      </p:sp>
      <p:sp>
        <p:nvSpPr>
          <p:cNvPr id="23" name="cover-stage-s-2">
            <a:extLst xmlns:a="http://schemas.openxmlformats.org/drawingml/2006/main">
              <a:ext uri="{FF2B5EF4-FFF2-40B4-BE49-F238E27FC236}">
                <a16:creationId xmlns:a16="http://schemas.microsoft.com/office/drawing/2014/main" id="{9FD5B68C-B962-4AF0-A986-5D20BBF4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1477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4B63E"/>
                </a:solidFill>
              </a:defRPr>
            </a:pPr>
            <a:r>
              <a:rPr sz="975" b="1" i="0">
                <a:solidFill>
                  <a:srgbClr val="F4B63E"/>
                </a:solidFill>
              </a:rPr>
              <a:t>S5–S6</a:t>
            </a:r>
          </a:p>
        </p:txBody>
      </p:sp>
      <p:sp>
        <p:nvSpPr>
          <p:cNvPr id="24" name="cover-stage-3">
            <a:extLst xmlns:a="http://schemas.openxmlformats.org/drawingml/2006/main">
              <a:ext uri="{FF2B5EF4-FFF2-40B4-BE49-F238E27FC236}">
                <a16:creationId xmlns:a16="http://schemas.microsoft.com/office/drawing/2014/main" id="{0F0B9013-AA12-44A5-B7D0-30C417328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724400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5C6B"/>
          </a:solidFill>
          <a:ln xmlns:a="http://schemas.openxmlformats.org/drawingml/2006/main" w="0">
            <a:solidFill>
              <a:srgbClr val="DE5C6B"/>
            </a:solidFill>
            <a:prstDash val="solid"/>
          </a:ln>
        </p:spPr>
      </p:sp>
      <p:sp>
        <p:nvSpPr>
          <p:cNvPr id="25" name="cover-stage-n-3">
            <a:extLst xmlns:a="http://schemas.openxmlformats.org/drawingml/2006/main">
              <a:ext uri="{FF2B5EF4-FFF2-40B4-BE49-F238E27FC236}">
                <a16:creationId xmlns:a16="http://schemas.microsoft.com/office/drawing/2014/main" id="{01FB33CF-18F3-48DD-BC8C-9E372445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914900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FFFFFF"/>
                </a:solidFill>
              </a:defRPr>
            </a:pPr>
            <a:r>
              <a:rPr sz="15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cover-stage-l-3">
            <a:extLst xmlns:a="http://schemas.openxmlformats.org/drawingml/2006/main">
              <a:ext uri="{FF2B5EF4-FFF2-40B4-BE49-F238E27FC236}">
                <a16:creationId xmlns:a16="http://schemas.microsoft.com/office/drawing/2014/main" id="{CE8AD260-D3DF-4416-BE9C-57B1092AE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8101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Estabilizar</a:t>
            </a:r>
          </a:p>
        </p:txBody>
      </p:sp>
      <p:sp>
        <p:nvSpPr>
          <p:cNvPr id="27" name="cover-stage-s-3">
            <a:extLst xmlns:a="http://schemas.openxmlformats.org/drawingml/2006/main">
              <a:ext uri="{FF2B5EF4-FFF2-40B4-BE49-F238E27FC236}">
                <a16:creationId xmlns:a16="http://schemas.microsoft.com/office/drawing/2014/main" id="{0D97899E-331B-44C6-AB99-C870C3F6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13397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DE5C6B"/>
                </a:solidFill>
              </a:defRPr>
            </a:pPr>
            <a:r>
              <a:rPr sz="975" b="1" i="0">
                <a:solidFill>
                  <a:srgbClr val="DE5C6B"/>
                </a:solidFill>
              </a:rPr>
              <a:t>S7–S8</a:t>
            </a:r>
          </a:p>
        </p:txBody>
      </p:sp>
    </p:spTree>
    <p:extLst>
      <p:ext uri="{BB962C8B-B14F-4D97-AF65-F5344CB8AC3E}">
        <p14:creationId xmlns:p14="http://schemas.microsoft.com/office/powerpoint/2010/main" val="9307607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rail-2">
            <a:extLst xmlns:a="http://schemas.openxmlformats.org/drawingml/2006/main">
              <a:ext uri="{FF2B5EF4-FFF2-40B4-BE49-F238E27FC236}">
                <a16:creationId xmlns:a16="http://schemas.microsoft.com/office/drawing/2014/main" id="{9822E31F-BEE7-4FE1-BD52-A6E8F2A90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2" name="kicker-2">
            <a:extLst xmlns:a="http://schemas.openxmlformats.org/drawingml/2006/main">
              <a:ext uri="{FF2B5EF4-FFF2-40B4-BE49-F238E27FC236}">
                <a16:creationId xmlns:a16="http://schemas.microsoft.com/office/drawing/2014/main" id="{4867F24B-03E4-400C-9920-24BEC2B90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2F6FED"/>
                </a:solidFill>
              </a:defRPr>
            </a:pPr>
            <a:r>
              <a:rPr sz="900" b="1" i="0">
                <a:solidFill>
                  <a:srgbClr val="2F6FED"/>
                </a:solidFill>
              </a:rPr>
              <a:t>DEFINICIÓN DEL CASO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23BB5057-4544-47CD-9E4E-F17A6C197F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53340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102A43"/>
                </a:solidFill>
              </a:defRPr>
            </a:pPr>
            <a:r>
              <a:rPr sz="2400" b="1" i="0">
                <a:solidFill>
                  <a:srgbClr val="102A43"/>
                </a:solidFill>
              </a:rPr>
              <a:t>La evidencia existe, pero todavía cuesta convertirla en apoyo oportuno</a:t>
            </a:r>
          </a:p>
        </p:txBody>
      </p:sp>
      <p:sp>
        <p:nvSpPr>
          <p:cNvPr id="4" name="header-line-2">
            <a:extLst xmlns:a="http://schemas.openxmlformats.org/drawingml/2006/main">
              <a:ext uri="{FF2B5EF4-FFF2-40B4-BE49-F238E27FC236}">
                <a16:creationId xmlns:a16="http://schemas.microsoft.com/office/drawing/2014/main" id="{3CED30C3-4D16-43EE-AA40-4DD2325BA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ED"/>
            </a:solidFill>
            <a:prstDash val="solid"/>
          </a:ln>
        </p:spPr>
      </p:sp>
      <p:sp>
        <p:nvSpPr>
          <p:cNvPr id="5" name="footer-2">
            <a:extLst xmlns:a="http://schemas.openxmlformats.org/drawingml/2006/main">
              <a:ext uri="{FF2B5EF4-FFF2-40B4-BE49-F238E27FC236}">
                <a16:creationId xmlns:a16="http://schemas.microsoft.com/office/drawing/2014/main" id="{6D51F1B5-5971-40DB-8E2D-3C4F6A773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4748B"/>
                </a:solidFill>
              </a:defRPr>
            </a:pPr>
            <a:r>
              <a:rPr sz="750" b="0" i="0">
                <a:solidFill>
                  <a:srgbClr val="64748B"/>
                </a:solidFill>
              </a:rPr>
              <a:t>ALUNZA · CAPSTONE 2026 · SEDE PUENTE ALTO</a:t>
            </a:r>
          </a:p>
        </p:txBody>
      </p:sp>
      <p:sp>
        <p:nvSpPr>
          <p:cNvPr id="6" name="page-2">
            <a:extLst xmlns:a="http://schemas.openxmlformats.org/drawingml/2006/main">
              <a:ext uri="{FF2B5EF4-FFF2-40B4-BE49-F238E27FC236}">
                <a16:creationId xmlns:a16="http://schemas.microsoft.com/office/drawing/2014/main" id="{8E251592-F0F7-4A17-8743-32C0DE6B7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579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4748B"/>
                </a:solidFill>
              </a:defRPr>
            </a:pPr>
            <a:r>
              <a:rPr sz="825" b="0" i="0">
                <a:solidFill>
                  <a:srgbClr val="64748B"/>
                </a:solidFill>
              </a:rPr>
              <a:t>02</a:t>
            </a:r>
          </a:p>
        </p:txBody>
      </p:sp>
      <p:sp>
        <p:nvSpPr>
          <p:cNvPr id="7" name="problem-lead">
            <a:extLst xmlns:a="http://schemas.openxmlformats.org/drawingml/2006/main">
              <a:ext uri="{FF2B5EF4-FFF2-40B4-BE49-F238E27FC236}">
                <a16:creationId xmlns:a16="http://schemas.microsoft.com/office/drawing/2014/main" id="{33993F2B-001F-4782-A0F1-692234494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</a:defRPr>
            </a:pPr>
            <a:r>
              <a:rPr sz="1275" b="0" i="0">
                <a:solidFill>
                  <a:srgbClr val="64748B"/>
                </a:solidFill>
              </a:rPr>
              <a:t>Hipótesis de Fase 1 que deberán validarse con estudiantes y docentes durante el MVP.</a:t>
            </a:r>
          </a:p>
        </p:txBody>
      </p:sp>
      <p:sp>
        <p:nvSpPr>
          <p:cNvPr id="8" name="problem-student-bg">
            <a:extLst xmlns:a="http://schemas.openxmlformats.org/drawingml/2006/main">
              <a:ext uri="{FF2B5EF4-FFF2-40B4-BE49-F238E27FC236}">
                <a16:creationId xmlns:a16="http://schemas.microsoft.com/office/drawing/2014/main" id="{13753521-4AF9-4BC9-88A1-AF9400DA1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5200650" cy="337185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problem-student-band">
            <a:extLst xmlns:a="http://schemas.openxmlformats.org/drawingml/2006/main">
              <a:ext uri="{FF2B5EF4-FFF2-40B4-BE49-F238E27FC236}">
                <a16:creationId xmlns:a16="http://schemas.microsoft.com/office/drawing/2014/main" id="{53422B94-3CC1-4882-91A8-D4E0C2F58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5200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6F3"/>
          </a:solidFill>
          <a:ln xmlns:a="http://schemas.openxmlformats.org/drawingml/2006/main" w="0">
            <a:solidFill>
              <a:srgbClr val="E6F6F3"/>
            </a:solidFill>
            <a:prstDash val="solid"/>
          </a:ln>
        </p:spPr>
      </p:sp>
      <p:sp>
        <p:nvSpPr>
          <p:cNvPr id="10" name="problem-student-accent">
            <a:extLst xmlns:a="http://schemas.openxmlformats.org/drawingml/2006/main">
              <a:ext uri="{FF2B5EF4-FFF2-40B4-BE49-F238E27FC236}">
                <a16:creationId xmlns:a16="http://schemas.microsoft.com/office/drawing/2014/main" id="{9B810CD2-7FD0-4FA2-A6D7-05201DCB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66675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A8C"/>
          </a:solidFill>
          <a:ln xmlns:a="http://schemas.openxmlformats.org/drawingml/2006/main" w="0">
            <a:solidFill>
              <a:srgbClr val="159A8C"/>
            </a:solidFill>
            <a:prstDash val="solid"/>
          </a:ln>
        </p:spPr>
      </p:sp>
      <p:sp>
        <p:nvSpPr>
          <p:cNvPr id="11" name="problem-student-title">
            <a:extLst xmlns:a="http://schemas.openxmlformats.org/drawingml/2006/main">
              <a:ext uri="{FF2B5EF4-FFF2-40B4-BE49-F238E27FC236}">
                <a16:creationId xmlns:a16="http://schemas.microsoft.com/office/drawing/2014/main" id="{E5C885D6-FD6F-4E12-A41A-B3CABAFF2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71700"/>
            <a:ext cx="4781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59A8C"/>
                </a:solidFill>
              </a:defRPr>
            </a:pPr>
            <a:r>
              <a:rPr sz="1800" b="1" i="0">
                <a:solidFill>
                  <a:srgbClr val="159A8C"/>
                </a:solidFill>
              </a:rPr>
              <a:t>Estudiante</a:t>
            </a:r>
          </a:p>
        </p:txBody>
      </p:sp>
      <p:sp>
        <p:nvSpPr>
          <p:cNvPr id="12" name="problem-student-items">
            <a:extLst xmlns:a="http://schemas.openxmlformats.org/drawingml/2006/main">
              <a:ext uri="{FF2B5EF4-FFF2-40B4-BE49-F238E27FC236}">
                <a16:creationId xmlns:a16="http://schemas.microsoft.com/office/drawing/2014/main" id="{FC4EDC4A-6DD1-421F-BED7-7D28856A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4743450" cy="24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• Sabe que falló, pero no siempre comprende la causa.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• Recibe feedback tardío o demasiado general.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• Repite errores de sintaxis, lógica o interpretación.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• No siempre identifica el siguiente paso útil.</a:t>
            </a:r>
          </a:p>
        </p:txBody>
      </p:sp>
      <p:sp>
        <p:nvSpPr>
          <p:cNvPr id="13" name="problem-teacher-bg">
            <a:extLst xmlns:a="http://schemas.openxmlformats.org/drawingml/2006/main">
              <a:ext uri="{FF2B5EF4-FFF2-40B4-BE49-F238E27FC236}">
                <a16:creationId xmlns:a16="http://schemas.microsoft.com/office/drawing/2014/main" id="{3B243CF0-5E7F-4002-ACF7-403FAF9A5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019300"/>
            <a:ext cx="5200650" cy="337185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problem-teacher-band">
            <a:extLst xmlns:a="http://schemas.openxmlformats.org/drawingml/2006/main">
              <a:ext uri="{FF2B5EF4-FFF2-40B4-BE49-F238E27FC236}">
                <a16:creationId xmlns:a16="http://schemas.microsoft.com/office/drawing/2014/main" id="{BE0A87C6-A7E2-425C-B9E6-7491728F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019300"/>
            <a:ext cx="5200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6"/>
          </a:solidFill>
          <a:ln xmlns:a="http://schemas.openxmlformats.org/drawingml/2006/main" w="0">
            <a:solidFill>
              <a:srgbClr val="FFF4D6"/>
            </a:solidFill>
            <a:prstDash val="solid"/>
          </a:ln>
        </p:spPr>
      </p:sp>
      <p:sp>
        <p:nvSpPr>
          <p:cNvPr id="15" name="problem-teacher-accent">
            <a:extLst xmlns:a="http://schemas.openxmlformats.org/drawingml/2006/main">
              <a:ext uri="{FF2B5EF4-FFF2-40B4-BE49-F238E27FC236}">
                <a16:creationId xmlns:a16="http://schemas.microsoft.com/office/drawing/2014/main" id="{A69EE057-457C-4D72-9994-3A32C4E34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019300"/>
            <a:ext cx="66675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63E"/>
          </a:solidFill>
          <a:ln xmlns:a="http://schemas.openxmlformats.org/drawingml/2006/main" w="0">
            <a:solidFill>
              <a:srgbClr val="F4B63E"/>
            </a:solidFill>
            <a:prstDash val="solid"/>
          </a:ln>
        </p:spPr>
      </p:sp>
      <p:sp>
        <p:nvSpPr>
          <p:cNvPr id="16" name="problem-teacher-title">
            <a:extLst xmlns:a="http://schemas.openxmlformats.org/drawingml/2006/main">
              <a:ext uri="{FF2B5EF4-FFF2-40B4-BE49-F238E27FC236}">
                <a16:creationId xmlns:a16="http://schemas.microsoft.com/office/drawing/2014/main" id="{85D6E950-1B88-4D0A-A0A1-E85D617FE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171700"/>
            <a:ext cx="4781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F4B63E"/>
                </a:solidFill>
              </a:defRPr>
            </a:pPr>
            <a:r>
              <a:rPr sz="1800" b="1" i="0">
                <a:solidFill>
                  <a:srgbClr val="F4B63E"/>
                </a:solidFill>
              </a:rPr>
              <a:t>Profesor</a:t>
            </a:r>
          </a:p>
        </p:txBody>
      </p:sp>
      <p:sp>
        <p:nvSpPr>
          <p:cNvPr id="17" name="problem-teacher-items">
            <a:extLst xmlns:a="http://schemas.openxmlformats.org/drawingml/2006/main">
              <a:ext uri="{FF2B5EF4-FFF2-40B4-BE49-F238E27FC236}">
                <a16:creationId xmlns:a16="http://schemas.microsoft.com/office/drawing/2014/main" id="{77AECE2D-70D6-4BC5-8352-88FAC1141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00350"/>
            <a:ext cx="4743450" cy="24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• Revisa intentos, pruebas y pistas en fuentes separadas.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• Detecta dificultades cuando ya se consolidaron.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• Le cuesta priorizar a quién apoyar y qué concepto reforzar.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• Necesita evidencia antes de intervenir.</a:t>
            </a:r>
          </a:p>
        </p:txBody>
      </p:sp>
      <p:sp>
        <p:nvSpPr>
          <p:cNvPr id="18" name="problem-outcome-bg">
            <a:extLst xmlns:a="http://schemas.openxmlformats.org/drawingml/2006/main">
              <a:ext uri="{FF2B5EF4-FFF2-40B4-BE49-F238E27FC236}">
                <a16:creationId xmlns:a16="http://schemas.microsoft.com/office/drawing/2014/main" id="{7D12DF69-1C0C-4A7D-8496-ECB8796E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19750"/>
            <a:ext cx="82296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F6FED"/>
            </a:solidFill>
            <a:prstDash val="solid"/>
          </a:ln>
        </p:spPr>
      </p:sp>
      <p:sp>
        <p:nvSpPr>
          <p:cNvPr id="19" name="problem-outcome">
            <a:extLst xmlns:a="http://schemas.openxmlformats.org/drawingml/2006/main">
              <a:ext uri="{FF2B5EF4-FFF2-40B4-BE49-F238E27FC236}">
                <a16:creationId xmlns:a16="http://schemas.microsoft.com/office/drawing/2014/main" id="{13F00102-F111-4A04-803E-C45E5BCBA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753100"/>
            <a:ext cx="781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Resultado buscado: feedback trazable para el estudiante y señales revisables para el profesor.</a:t>
            </a:r>
          </a:p>
        </p:txBody>
      </p:sp>
    </p:spTree>
    <p:extLst>
      <p:ext uri="{BB962C8B-B14F-4D97-AF65-F5344CB8AC3E}">
        <p14:creationId xmlns:p14="http://schemas.microsoft.com/office/powerpoint/2010/main" val="13969050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ail-3">
            <a:extLst xmlns:a="http://schemas.openxmlformats.org/drawingml/2006/main">
              <a:ext uri="{FF2B5EF4-FFF2-40B4-BE49-F238E27FC236}">
                <a16:creationId xmlns:a16="http://schemas.microsoft.com/office/drawing/2014/main" id="{383F85C5-6215-4577-8D88-15FB989FD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2" name="kicker-3">
            <a:extLst xmlns:a="http://schemas.openxmlformats.org/drawingml/2006/main">
              <a:ext uri="{FF2B5EF4-FFF2-40B4-BE49-F238E27FC236}">
                <a16:creationId xmlns:a16="http://schemas.microsoft.com/office/drawing/2014/main" id="{F689F832-F278-42F3-ADD5-F23F78095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2F6FED"/>
                </a:solidFill>
              </a:defRPr>
            </a:pPr>
            <a:r>
              <a:rPr sz="900" b="1" i="0">
                <a:solidFill>
                  <a:srgbClr val="2F6FED"/>
                </a:solidFill>
              </a:rPr>
              <a:t>PROPUESTA DE VALOR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EA70A047-EE6A-4D26-8922-7993DF73C0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53340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102A43"/>
                </a:solidFill>
              </a:defRPr>
            </a:pPr>
            <a:r>
              <a:rPr sz="2400" b="1" i="0">
                <a:solidFill>
                  <a:srgbClr val="102A43"/>
                </a:solidFill>
              </a:rPr>
              <a:t>Una vertical completa separa evaluación, contexto y decisión humana</a:t>
            </a:r>
          </a:p>
        </p:txBody>
      </p:sp>
      <p:sp>
        <p:nvSpPr>
          <p:cNvPr id="4" name="header-line-3">
            <a:extLst xmlns:a="http://schemas.openxmlformats.org/drawingml/2006/main">
              <a:ext uri="{FF2B5EF4-FFF2-40B4-BE49-F238E27FC236}">
                <a16:creationId xmlns:a16="http://schemas.microsoft.com/office/drawing/2014/main" id="{9671AB01-832D-49D4-9417-6C7A66E85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ED"/>
            </a:solidFill>
            <a:prstDash val="solid"/>
          </a:ln>
        </p:spPr>
      </p:sp>
      <p:sp>
        <p:nvSpPr>
          <p:cNvPr id="5" name="footer-3">
            <a:extLst xmlns:a="http://schemas.openxmlformats.org/drawingml/2006/main">
              <a:ext uri="{FF2B5EF4-FFF2-40B4-BE49-F238E27FC236}">
                <a16:creationId xmlns:a16="http://schemas.microsoft.com/office/drawing/2014/main" id="{8BA13794-5347-47E4-813D-F3C18CF7C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4748B"/>
                </a:solidFill>
              </a:defRPr>
            </a:pPr>
            <a:r>
              <a:rPr sz="750" b="0" i="0">
                <a:solidFill>
                  <a:srgbClr val="64748B"/>
                </a:solidFill>
              </a:rPr>
              <a:t>ALUNZA · CAPSTONE 2026 · SEDE PUENTE ALTO</a:t>
            </a:r>
          </a:p>
        </p:txBody>
      </p:sp>
      <p:sp>
        <p:nvSpPr>
          <p:cNvPr id="6" name="page-3">
            <a:extLst xmlns:a="http://schemas.openxmlformats.org/drawingml/2006/main">
              <a:ext uri="{FF2B5EF4-FFF2-40B4-BE49-F238E27FC236}">
                <a16:creationId xmlns:a16="http://schemas.microsoft.com/office/drawing/2014/main" id="{AEE3B657-A80A-4E2D-A580-B7F87B9B1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579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4748B"/>
                </a:solidFill>
              </a:defRPr>
            </a:pPr>
            <a:r>
              <a:rPr sz="825" b="0" i="0">
                <a:solidFill>
                  <a:srgbClr val="64748B"/>
                </a:solidFill>
              </a:rPr>
              <a:t>03</a:t>
            </a:r>
          </a:p>
        </p:txBody>
      </p:sp>
      <p:sp>
        <p:nvSpPr>
          <p:cNvPr id="7" name="solution-lead">
            <a:extLst xmlns:a="http://schemas.openxmlformats.org/drawingml/2006/main">
              <a:ext uri="{FF2B5EF4-FFF2-40B4-BE49-F238E27FC236}">
                <a16:creationId xmlns:a16="http://schemas.microsoft.com/office/drawing/2014/main" id="{33F23A9A-E94C-4F50-98DA-8FD2912E3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</a:defRPr>
            </a:pPr>
            <a:r>
              <a:rPr sz="1275" b="0" i="0">
                <a:solidFill>
                  <a:srgbClr val="64748B"/>
                </a:solidFill>
              </a:rPr>
              <a:t>La fuente de verdad son los test cases; IA y RAG contextualizan sin bloquear el resultado técnico.</a:t>
            </a:r>
          </a:p>
        </p:txBody>
      </p:sp>
      <p:sp>
        <p:nvSpPr>
          <p:cNvPr id="8" name="solution-flow-line">
            <a:extLst xmlns:a="http://schemas.openxmlformats.org/drawingml/2006/main">
              <a:ext uri="{FF2B5EF4-FFF2-40B4-BE49-F238E27FC236}">
                <a16:creationId xmlns:a16="http://schemas.microsoft.com/office/drawing/2014/main" id="{A4686735-6B6B-49BB-8043-DEE8AC04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09850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D8E3EF"/>
            </a:solidFill>
            <a:prstDash val="solid"/>
          </a:ln>
        </p:spPr>
      </p:sp>
      <p:sp>
        <p:nvSpPr>
          <p:cNvPr id="9" name="solution-step-0-circle">
            <a:extLst xmlns:a="http://schemas.openxmlformats.org/drawingml/2006/main">
              <a:ext uri="{FF2B5EF4-FFF2-40B4-BE49-F238E27FC236}">
                <a16:creationId xmlns:a16="http://schemas.microsoft.com/office/drawing/2014/main" id="{0776F522-23FE-41CC-9170-412B33EC1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343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63E"/>
          </a:solidFill>
          <a:ln xmlns:a="http://schemas.openxmlformats.org/drawingml/2006/main" w="0">
            <a:solidFill>
              <a:srgbClr val="F4B63E"/>
            </a:solidFill>
            <a:prstDash val="solid"/>
          </a:ln>
        </p:spPr>
      </p:sp>
      <p:sp>
        <p:nvSpPr>
          <p:cNvPr id="10" name="solution-step-0-number">
            <a:extLst xmlns:a="http://schemas.openxmlformats.org/drawingml/2006/main">
              <a:ext uri="{FF2B5EF4-FFF2-40B4-BE49-F238E27FC236}">
                <a16:creationId xmlns:a16="http://schemas.microsoft.com/office/drawing/2014/main" id="{C03762E3-64C7-4363-BBC5-246C5B39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4384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solution-step-0-label">
            <a:extLst xmlns:a="http://schemas.openxmlformats.org/drawingml/2006/main">
              <a:ext uri="{FF2B5EF4-FFF2-40B4-BE49-F238E27FC236}">
                <a16:creationId xmlns:a16="http://schemas.microsoft.com/office/drawing/2014/main" id="{26049EC2-5688-4AAA-8D42-026AA625C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62275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243B53"/>
                </a:solidFill>
              </a:defRPr>
            </a:pPr>
            <a:r>
              <a:rPr sz="1125" b="1" i="0">
                <a:solidFill>
                  <a:srgbClr val="243B53"/>
                </a:solidFill>
              </a:rPr>
              <a:t>Publicar</a:t>
            </a:r>
          </a:p>
          <a:p xmlns:a="http://schemas.openxmlformats.org/drawingml/2006/main">
            <a:pPr algn="ctr">
              <a:buNone/>
              <a:defRPr sz="1125" b="1" i="0">
                <a:solidFill>
                  <a:srgbClr val="243B53"/>
                </a:solidFill>
              </a:defRPr>
            </a:pPr>
            <a:r>
              <a:rPr sz="1125" b="1" i="0">
                <a:solidFill>
                  <a:srgbClr val="243B53"/>
                </a:solidFill>
              </a:rPr>
              <a:t>actividad</a:t>
            </a:r>
          </a:p>
        </p:txBody>
      </p:sp>
      <p:sp>
        <p:nvSpPr>
          <p:cNvPr id="12" name="solution-step-1-circle">
            <a:extLst xmlns:a="http://schemas.openxmlformats.org/drawingml/2006/main">
              <a:ext uri="{FF2B5EF4-FFF2-40B4-BE49-F238E27FC236}">
                <a16:creationId xmlns:a16="http://schemas.microsoft.com/office/drawing/2014/main" id="{E2BEB37D-C5CD-4EAD-B1C3-ADFC96665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343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9A8C"/>
          </a:solidFill>
          <a:ln xmlns:a="http://schemas.openxmlformats.org/drawingml/2006/main" w="0">
            <a:solidFill>
              <a:srgbClr val="159A8C"/>
            </a:solidFill>
            <a:prstDash val="solid"/>
          </a:ln>
        </p:spPr>
      </p:sp>
      <p:sp>
        <p:nvSpPr>
          <p:cNvPr id="13" name="solution-step-1-number">
            <a:extLst xmlns:a="http://schemas.openxmlformats.org/drawingml/2006/main">
              <a:ext uri="{FF2B5EF4-FFF2-40B4-BE49-F238E27FC236}">
                <a16:creationId xmlns:a16="http://schemas.microsoft.com/office/drawing/2014/main" id="{C99DD001-BE59-48B4-A106-8BDFDE619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4384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solution-step-1-label">
            <a:extLst xmlns:a="http://schemas.openxmlformats.org/drawingml/2006/main">
              <a:ext uri="{FF2B5EF4-FFF2-40B4-BE49-F238E27FC236}">
                <a16:creationId xmlns:a16="http://schemas.microsoft.com/office/drawing/2014/main" id="{B6E22DCE-3727-4C96-867C-FBCD8AD5D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962275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243B53"/>
                </a:solidFill>
              </a:defRPr>
            </a:pPr>
            <a:r>
              <a:rPr sz="1125" b="1" i="0">
                <a:solidFill>
                  <a:srgbClr val="243B53"/>
                </a:solidFill>
              </a:rPr>
              <a:t>Programar</a:t>
            </a:r>
          </a:p>
          <a:p xmlns:a="http://schemas.openxmlformats.org/drawingml/2006/main">
            <a:pPr algn="ctr">
              <a:buNone/>
              <a:defRPr sz="1125" b="1" i="0">
                <a:solidFill>
                  <a:srgbClr val="243B53"/>
                </a:solidFill>
              </a:defRPr>
            </a:pPr>
            <a:r>
              <a:rPr sz="1125" b="1" i="0">
                <a:solidFill>
                  <a:srgbClr val="243B53"/>
                </a:solidFill>
              </a:rPr>
              <a:t>en JS</a:t>
            </a:r>
          </a:p>
        </p:txBody>
      </p:sp>
      <p:sp>
        <p:nvSpPr>
          <p:cNvPr id="15" name="solution-step-2-circle">
            <a:extLst xmlns:a="http://schemas.openxmlformats.org/drawingml/2006/main">
              <a:ext uri="{FF2B5EF4-FFF2-40B4-BE49-F238E27FC236}">
                <a16:creationId xmlns:a16="http://schemas.microsoft.com/office/drawing/2014/main" id="{8E04AE72-8EE5-4E1A-87E9-3EBA02DE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2343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16" name="solution-step-2-number">
            <a:extLst xmlns:a="http://schemas.openxmlformats.org/drawingml/2006/main">
              <a:ext uri="{FF2B5EF4-FFF2-40B4-BE49-F238E27FC236}">
                <a16:creationId xmlns:a16="http://schemas.microsoft.com/office/drawing/2014/main" id="{298C3CB6-250A-4E1D-A116-9237A4A7F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24384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solution-step-2-label">
            <a:extLst xmlns:a="http://schemas.openxmlformats.org/drawingml/2006/main">
              <a:ext uri="{FF2B5EF4-FFF2-40B4-BE49-F238E27FC236}">
                <a16:creationId xmlns:a16="http://schemas.microsoft.com/office/drawing/2014/main" id="{42621663-670F-4B1C-BB44-9F6FB348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962275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243B53"/>
                </a:solidFill>
              </a:defRPr>
            </a:pPr>
            <a:r>
              <a:rPr sz="1125" b="1" i="0">
                <a:solidFill>
                  <a:srgbClr val="243B53"/>
                </a:solidFill>
              </a:rPr>
              <a:t>Evaluar</a:t>
            </a:r>
          </a:p>
          <a:p xmlns:a="http://schemas.openxmlformats.org/drawingml/2006/main">
            <a:pPr algn="ctr">
              <a:buNone/>
              <a:defRPr sz="1125" b="1" i="0">
                <a:solidFill>
                  <a:srgbClr val="243B53"/>
                </a:solidFill>
              </a:defRPr>
            </a:pPr>
            <a:r>
              <a:rPr sz="1125" b="1" i="0">
                <a:solidFill>
                  <a:srgbClr val="243B53"/>
                </a:solidFill>
              </a:rPr>
              <a:t>test cases</a:t>
            </a:r>
          </a:p>
        </p:txBody>
      </p:sp>
      <p:sp>
        <p:nvSpPr>
          <p:cNvPr id="18" name="solution-step-3-circle">
            <a:extLst xmlns:a="http://schemas.openxmlformats.org/drawingml/2006/main">
              <a:ext uri="{FF2B5EF4-FFF2-40B4-BE49-F238E27FC236}">
                <a16:creationId xmlns:a16="http://schemas.microsoft.com/office/drawing/2014/main" id="{638E2FC1-05C6-4D59-A2E4-FEB10363F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43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6C6"/>
          </a:solidFill>
          <a:ln xmlns:a="http://schemas.openxmlformats.org/drawingml/2006/main" w="0">
            <a:solidFill>
              <a:srgbClr val="4F86C6"/>
            </a:solidFill>
            <a:prstDash val="solid"/>
          </a:ln>
        </p:spPr>
      </p:sp>
      <p:sp>
        <p:nvSpPr>
          <p:cNvPr id="19" name="solution-step-3-number">
            <a:extLst xmlns:a="http://schemas.openxmlformats.org/drawingml/2006/main">
              <a:ext uri="{FF2B5EF4-FFF2-40B4-BE49-F238E27FC236}">
                <a16:creationId xmlns:a16="http://schemas.microsoft.com/office/drawing/2014/main" id="{94D531D2-4997-4478-9738-89605A63E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4384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solution-step-3-label">
            <a:extLst xmlns:a="http://schemas.openxmlformats.org/drawingml/2006/main">
              <a:ext uri="{FF2B5EF4-FFF2-40B4-BE49-F238E27FC236}">
                <a16:creationId xmlns:a16="http://schemas.microsoft.com/office/drawing/2014/main" id="{4D9FE18D-A0A3-46A8-AE51-10B4E6A0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962275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243B53"/>
                </a:solidFill>
              </a:defRPr>
            </a:pPr>
            <a:r>
              <a:rPr sz="1125" b="1" i="0">
                <a:solidFill>
                  <a:srgbClr val="243B53"/>
                </a:solidFill>
              </a:rPr>
              <a:t>Persistir</a:t>
            </a:r>
          </a:p>
          <a:p xmlns:a="http://schemas.openxmlformats.org/drawingml/2006/main">
            <a:pPr algn="ctr">
              <a:buNone/>
              <a:defRPr sz="1125" b="1" i="0">
                <a:solidFill>
                  <a:srgbClr val="243B53"/>
                </a:solidFill>
              </a:defRPr>
            </a:pPr>
            <a:r>
              <a:rPr sz="1125" b="1" i="0">
                <a:solidFill>
                  <a:srgbClr val="243B53"/>
                </a:solidFill>
              </a:rPr>
              <a:t>intento</a:t>
            </a:r>
          </a:p>
        </p:txBody>
      </p:sp>
      <p:sp>
        <p:nvSpPr>
          <p:cNvPr id="21" name="solution-step-4-circle">
            <a:extLst xmlns:a="http://schemas.openxmlformats.org/drawingml/2006/main">
              <a:ext uri="{FF2B5EF4-FFF2-40B4-BE49-F238E27FC236}">
                <a16:creationId xmlns:a16="http://schemas.microsoft.com/office/drawing/2014/main" id="{920FB8D5-E14C-4A89-B2C8-D77114CEA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343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63C9"/>
          </a:solidFill>
          <a:ln xmlns:a="http://schemas.openxmlformats.org/drawingml/2006/main" w="0">
            <a:solidFill>
              <a:srgbClr val="7563C9"/>
            </a:solidFill>
            <a:prstDash val="solid"/>
          </a:ln>
        </p:spPr>
      </p:sp>
      <p:sp>
        <p:nvSpPr>
          <p:cNvPr id="22" name="solution-step-4-number">
            <a:extLst xmlns:a="http://schemas.openxmlformats.org/drawingml/2006/main">
              <a:ext uri="{FF2B5EF4-FFF2-40B4-BE49-F238E27FC236}">
                <a16:creationId xmlns:a16="http://schemas.microsoft.com/office/drawing/2014/main" id="{F56B4B96-4E27-4914-A0C2-69929C8E9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384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3" name="solution-step-4-label">
            <a:extLst xmlns:a="http://schemas.openxmlformats.org/drawingml/2006/main">
              <a:ext uri="{FF2B5EF4-FFF2-40B4-BE49-F238E27FC236}">
                <a16:creationId xmlns:a16="http://schemas.microsoft.com/office/drawing/2014/main" id="{A7650453-BD5C-4D9E-90E1-3FD6E7755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962275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243B53"/>
                </a:solidFill>
              </a:defRPr>
            </a:pPr>
            <a:r>
              <a:rPr sz="1125" b="1" i="0">
                <a:solidFill>
                  <a:srgbClr val="243B53"/>
                </a:solidFill>
              </a:rPr>
              <a:t>Diagnosticar</a:t>
            </a:r>
          </a:p>
          <a:p xmlns:a="http://schemas.openxmlformats.org/drawingml/2006/main">
            <a:pPr algn="ctr">
              <a:buNone/>
              <a:defRPr sz="1125" b="1" i="0">
                <a:solidFill>
                  <a:srgbClr val="243B53"/>
                </a:solidFill>
              </a:defRPr>
            </a:pPr>
            <a:r>
              <a:rPr sz="1125" b="1" i="0">
                <a:solidFill>
                  <a:srgbClr val="243B53"/>
                </a:solidFill>
              </a:rPr>
              <a:t>error</a:t>
            </a:r>
          </a:p>
        </p:txBody>
      </p:sp>
      <p:sp>
        <p:nvSpPr>
          <p:cNvPr id="24" name="solution-step-5-circle">
            <a:extLst xmlns:a="http://schemas.openxmlformats.org/drawingml/2006/main">
              <a:ext uri="{FF2B5EF4-FFF2-40B4-BE49-F238E27FC236}">
                <a16:creationId xmlns:a16="http://schemas.microsoft.com/office/drawing/2014/main" id="{F114A085-8535-4993-A7B9-D10EDB3E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43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63C9"/>
          </a:solidFill>
          <a:ln xmlns:a="http://schemas.openxmlformats.org/drawingml/2006/main" w="0">
            <a:solidFill>
              <a:srgbClr val="7563C9"/>
            </a:solidFill>
            <a:prstDash val="solid"/>
          </a:ln>
        </p:spPr>
      </p:sp>
      <p:sp>
        <p:nvSpPr>
          <p:cNvPr id="25" name="solution-step-5-number">
            <a:extLst xmlns:a="http://schemas.openxmlformats.org/drawingml/2006/main">
              <a:ext uri="{FF2B5EF4-FFF2-40B4-BE49-F238E27FC236}">
                <a16:creationId xmlns:a16="http://schemas.microsoft.com/office/drawing/2014/main" id="{24E5BC85-3EEE-4D5E-8EC9-6B81040E5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4384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6" name="solution-step-5-label">
            <a:extLst xmlns:a="http://schemas.openxmlformats.org/drawingml/2006/main">
              <a:ext uri="{FF2B5EF4-FFF2-40B4-BE49-F238E27FC236}">
                <a16:creationId xmlns:a16="http://schemas.microsoft.com/office/drawing/2014/main" id="{1FDE0042-C2C4-4E0D-816A-63A8DBCA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962275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243B53"/>
                </a:solidFill>
              </a:defRPr>
            </a:pPr>
            <a:r>
              <a:rPr sz="1125" b="1" i="0">
                <a:solidFill>
                  <a:srgbClr val="243B53"/>
                </a:solidFill>
              </a:rPr>
              <a:t>Recuperar</a:t>
            </a:r>
          </a:p>
          <a:p xmlns:a="http://schemas.openxmlformats.org/drawingml/2006/main">
            <a:pPr algn="ctr">
              <a:buNone/>
              <a:defRPr sz="1125" b="1" i="0">
                <a:solidFill>
                  <a:srgbClr val="243B53"/>
                </a:solidFill>
              </a:defRPr>
            </a:pPr>
            <a:r>
              <a:rPr sz="1125" b="1" i="0">
                <a:solidFill>
                  <a:srgbClr val="243B53"/>
                </a:solidFill>
              </a:rPr>
              <a:t>fuente RAG</a:t>
            </a:r>
          </a:p>
        </p:txBody>
      </p:sp>
      <p:sp>
        <p:nvSpPr>
          <p:cNvPr id="27" name="solution-step-6-circle">
            <a:extLst xmlns:a="http://schemas.openxmlformats.org/drawingml/2006/main">
              <a:ext uri="{FF2B5EF4-FFF2-40B4-BE49-F238E27FC236}">
                <a16:creationId xmlns:a16="http://schemas.microsoft.com/office/drawing/2014/main" id="{771F06B5-BD5A-4DB9-A84B-89FFAB26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2343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9A8C"/>
          </a:solidFill>
          <a:ln xmlns:a="http://schemas.openxmlformats.org/drawingml/2006/main" w="0">
            <a:solidFill>
              <a:srgbClr val="159A8C"/>
            </a:solidFill>
            <a:prstDash val="solid"/>
          </a:ln>
        </p:spPr>
      </p:sp>
      <p:sp>
        <p:nvSpPr>
          <p:cNvPr id="28" name="solution-step-6-number">
            <a:extLst xmlns:a="http://schemas.openxmlformats.org/drawingml/2006/main">
              <a:ext uri="{FF2B5EF4-FFF2-40B4-BE49-F238E27FC236}">
                <a16:creationId xmlns:a16="http://schemas.microsoft.com/office/drawing/2014/main" id="{2DF24FD3-B1D8-4DB9-B165-7E2AC4EB4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24384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9" name="solution-step-6-label">
            <a:extLst xmlns:a="http://schemas.openxmlformats.org/drawingml/2006/main">
              <a:ext uri="{FF2B5EF4-FFF2-40B4-BE49-F238E27FC236}">
                <a16:creationId xmlns:a16="http://schemas.microsoft.com/office/drawing/2014/main" id="{3BBC1A80-7FAD-4B51-89AC-AE9707B1C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62275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243B53"/>
                </a:solidFill>
              </a:defRPr>
            </a:pPr>
            <a:r>
              <a:rPr sz="1125" b="1" i="0">
                <a:solidFill>
                  <a:srgbClr val="243B53"/>
                </a:solidFill>
              </a:rPr>
              <a:t>Orientar y</a:t>
            </a:r>
          </a:p>
          <a:p xmlns:a="http://schemas.openxmlformats.org/drawingml/2006/main">
            <a:pPr algn="ctr">
              <a:buNone/>
              <a:defRPr sz="1125" b="1" i="0">
                <a:solidFill>
                  <a:srgbClr val="243B53"/>
                </a:solidFill>
              </a:defRPr>
            </a:pPr>
            <a:r>
              <a:rPr sz="1125" b="1" i="0">
                <a:solidFill>
                  <a:srgbClr val="243B53"/>
                </a:solidFill>
              </a:rPr>
              <a:t>reintentar</a:t>
            </a:r>
          </a:p>
        </p:txBody>
      </p:sp>
      <p:sp>
        <p:nvSpPr>
          <p:cNvPr id="30" name="solution-step-7-circle">
            <a:extLst xmlns:a="http://schemas.openxmlformats.org/drawingml/2006/main">
              <a:ext uri="{FF2B5EF4-FFF2-40B4-BE49-F238E27FC236}">
                <a16:creationId xmlns:a16="http://schemas.microsoft.com/office/drawing/2014/main" id="{18D4C14F-7728-46AD-BC2C-46FEA4AC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2343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5C6B"/>
          </a:solidFill>
          <a:ln xmlns:a="http://schemas.openxmlformats.org/drawingml/2006/main" w="0">
            <a:solidFill>
              <a:srgbClr val="DE5C6B"/>
            </a:solidFill>
            <a:prstDash val="solid"/>
          </a:ln>
        </p:spPr>
      </p:sp>
      <p:sp>
        <p:nvSpPr>
          <p:cNvPr id="31" name="solution-step-7-number">
            <a:extLst xmlns:a="http://schemas.openxmlformats.org/drawingml/2006/main">
              <a:ext uri="{FF2B5EF4-FFF2-40B4-BE49-F238E27FC236}">
                <a16:creationId xmlns:a16="http://schemas.microsoft.com/office/drawing/2014/main" id="{447FBAD2-8F52-4F7A-9818-82BD84EE3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24384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2" name="solution-step-7-label">
            <a:extLst xmlns:a="http://schemas.openxmlformats.org/drawingml/2006/main">
              <a:ext uri="{FF2B5EF4-FFF2-40B4-BE49-F238E27FC236}">
                <a16:creationId xmlns:a16="http://schemas.microsoft.com/office/drawing/2014/main" id="{00BC7721-07E7-46FF-969B-2CF292DD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2962275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243B53"/>
                </a:solidFill>
              </a:defRPr>
            </a:pPr>
            <a:r>
              <a:rPr sz="1125" b="1" i="0">
                <a:solidFill>
                  <a:srgbClr val="243B53"/>
                </a:solidFill>
              </a:rPr>
              <a:t>Observar</a:t>
            </a:r>
          </a:p>
          <a:p xmlns:a="http://schemas.openxmlformats.org/drawingml/2006/main">
            <a:pPr algn="ctr">
              <a:buNone/>
              <a:defRPr sz="1125" b="1" i="0">
                <a:solidFill>
                  <a:srgbClr val="243B53"/>
                </a:solidFill>
              </a:defRPr>
            </a:pPr>
            <a:r>
              <a:rPr sz="1125" b="1" i="0">
                <a:solidFill>
                  <a:srgbClr val="243B53"/>
                </a:solidFill>
              </a:rPr>
              <a:t>evidencia</a:t>
            </a:r>
          </a:p>
        </p:txBody>
      </p:sp>
      <p:sp>
        <p:nvSpPr>
          <p:cNvPr id="33" name="principle-1-bg">
            <a:extLst xmlns:a="http://schemas.openxmlformats.org/drawingml/2006/main">
              <a:ext uri="{FF2B5EF4-FFF2-40B4-BE49-F238E27FC236}">
                <a16:creationId xmlns:a16="http://schemas.microsoft.com/office/drawing/2014/main" id="{0DDCA324-9555-4776-B208-D8B4AD53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33337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F6FED"/>
            </a:solidFill>
            <a:prstDash val="solid"/>
          </a:ln>
        </p:spPr>
      </p:sp>
      <p:sp>
        <p:nvSpPr>
          <p:cNvPr id="34" name="principle-1-title">
            <a:extLst xmlns:a="http://schemas.openxmlformats.org/drawingml/2006/main">
              <a:ext uri="{FF2B5EF4-FFF2-40B4-BE49-F238E27FC236}">
                <a16:creationId xmlns:a16="http://schemas.microsoft.com/office/drawing/2014/main" id="{0970C470-1277-4FDC-90BF-66F759A4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0050"/>
            <a:ext cx="302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2F6FED"/>
                </a:solidFill>
              </a:defRPr>
            </a:pPr>
            <a:r>
              <a:rPr sz="1500" b="1" i="0">
                <a:solidFill>
                  <a:srgbClr val="2F6FED"/>
                </a:solidFill>
              </a:rPr>
              <a:t>Determinístico primero</a:t>
            </a:r>
          </a:p>
        </p:txBody>
      </p:sp>
      <p:sp>
        <p:nvSpPr>
          <p:cNvPr id="35" name="principle-1-body">
            <a:extLst xmlns:a="http://schemas.openxmlformats.org/drawingml/2006/main">
              <a:ext uri="{FF2B5EF4-FFF2-40B4-BE49-F238E27FC236}">
                <a16:creationId xmlns:a16="http://schemas.microsoft.com/office/drawing/2014/main" id="{80DB5F36-B848-42CB-B44A-BCD185047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33900"/>
            <a:ext cx="3028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Sintaxis, ejecución y pruebas no dependen de IA.</a:t>
            </a:r>
          </a:p>
        </p:txBody>
      </p:sp>
      <p:sp>
        <p:nvSpPr>
          <p:cNvPr id="36" name="principle-2-bg">
            <a:extLst xmlns:a="http://schemas.openxmlformats.org/drawingml/2006/main">
              <a:ext uri="{FF2B5EF4-FFF2-40B4-BE49-F238E27FC236}">
                <a16:creationId xmlns:a16="http://schemas.microsoft.com/office/drawing/2014/main" id="{109FBC6C-2854-4449-B886-09534BDE2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095750"/>
            <a:ext cx="33337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0EDFF"/>
          </a:solidFill>
          <a:ln xmlns:a="http://schemas.openxmlformats.org/drawingml/2006/main" w="9525">
            <a:solidFill>
              <a:srgbClr val="7563C9"/>
            </a:solidFill>
            <a:prstDash val="solid"/>
          </a:ln>
        </p:spPr>
      </p:sp>
      <p:sp>
        <p:nvSpPr>
          <p:cNvPr id="37" name="principle-2-title">
            <a:extLst xmlns:a="http://schemas.openxmlformats.org/drawingml/2006/main">
              <a:ext uri="{FF2B5EF4-FFF2-40B4-BE49-F238E27FC236}">
                <a16:creationId xmlns:a16="http://schemas.microsoft.com/office/drawing/2014/main" id="{E1C2AA28-AB80-443E-8997-DBB0A680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210050"/>
            <a:ext cx="302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7563C9"/>
                </a:solidFill>
              </a:defRPr>
            </a:pPr>
            <a:r>
              <a:rPr sz="1500" b="1" i="0">
                <a:solidFill>
                  <a:srgbClr val="7563C9"/>
                </a:solidFill>
              </a:rPr>
              <a:t>RAG acotado</a:t>
            </a:r>
          </a:p>
        </p:txBody>
      </p:sp>
      <p:sp>
        <p:nvSpPr>
          <p:cNvPr id="38" name="principle-2-body">
            <a:extLst xmlns:a="http://schemas.openxmlformats.org/drawingml/2006/main">
              <a:ext uri="{FF2B5EF4-FFF2-40B4-BE49-F238E27FC236}">
                <a16:creationId xmlns:a16="http://schemas.microsoft.com/office/drawing/2014/main" id="{C8B8C73C-D6BD-4290-B4E4-645EC1CA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533900"/>
            <a:ext cx="3028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Recupera top-k=5 fragmentos autorizados y muestra la cita; falla de forma segura.</a:t>
            </a:r>
          </a:p>
        </p:txBody>
      </p:sp>
      <p:sp>
        <p:nvSpPr>
          <p:cNvPr id="39" name="principle-3-bg">
            <a:extLst xmlns:a="http://schemas.openxmlformats.org/drawingml/2006/main">
              <a:ext uri="{FF2B5EF4-FFF2-40B4-BE49-F238E27FC236}">
                <a16:creationId xmlns:a16="http://schemas.microsoft.com/office/drawing/2014/main" id="{D5FE1288-CAF1-4792-AF00-9FD3CA856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95750"/>
            <a:ext cx="35623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6F6F3"/>
          </a:solidFill>
          <a:ln xmlns:a="http://schemas.openxmlformats.org/drawingml/2006/main" w="9525">
            <a:solidFill>
              <a:srgbClr val="159A8C"/>
            </a:solidFill>
            <a:prstDash val="solid"/>
          </a:ln>
        </p:spPr>
      </p:sp>
      <p:sp>
        <p:nvSpPr>
          <p:cNvPr id="40" name="principle-3-title">
            <a:extLst xmlns:a="http://schemas.openxmlformats.org/drawingml/2006/main">
              <a:ext uri="{FF2B5EF4-FFF2-40B4-BE49-F238E27FC236}">
                <a16:creationId xmlns:a16="http://schemas.microsoft.com/office/drawing/2014/main" id="{2317C0C5-1B5E-4FBA-82D8-97C885EA4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210050"/>
            <a:ext cx="3257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59A8C"/>
                </a:solidFill>
              </a:defRPr>
            </a:pPr>
            <a:r>
              <a:rPr sz="1500" b="1" i="0">
                <a:solidFill>
                  <a:srgbClr val="159A8C"/>
                </a:solidFill>
              </a:rPr>
              <a:t>Decisión humana</a:t>
            </a:r>
          </a:p>
        </p:txBody>
      </p:sp>
      <p:sp>
        <p:nvSpPr>
          <p:cNvPr id="41" name="principle-3-body">
            <a:extLst xmlns:a="http://schemas.openxmlformats.org/drawingml/2006/main">
              <a:ext uri="{FF2B5EF4-FFF2-40B4-BE49-F238E27FC236}">
                <a16:creationId xmlns:a16="http://schemas.microsoft.com/office/drawing/2014/main" id="{0C97EF41-75C0-4544-876C-6D0BE06E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533900"/>
            <a:ext cx="3257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Las señales explican la regla y la evidencia; nunca califican ni sancionan.</a:t>
            </a:r>
          </a:p>
        </p:txBody>
      </p:sp>
      <p:sp>
        <p:nvSpPr>
          <p:cNvPr id="42" name="solution-goal">
            <a:extLst xmlns:a="http://schemas.openxmlformats.org/drawingml/2006/main">
              <a:ext uri="{FF2B5EF4-FFF2-40B4-BE49-F238E27FC236}">
                <a16:creationId xmlns:a16="http://schemas.microsoft.com/office/drawing/2014/main" id="{3D36D34A-BFD3-4C59-AF01-75FCD51F5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102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Objetivo: desarrollar y validar en 18 semanas un MVP web estable, trazable y demostrable.</a:t>
            </a:r>
          </a:p>
        </p:txBody>
      </p:sp>
    </p:spTree>
    <p:extLst>
      <p:ext uri="{BB962C8B-B14F-4D97-AF65-F5344CB8AC3E}">
        <p14:creationId xmlns:p14="http://schemas.microsoft.com/office/powerpoint/2010/main" val="15881644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rail-4">
            <a:extLst xmlns:a="http://schemas.openxmlformats.org/drawingml/2006/main">
              <a:ext uri="{FF2B5EF4-FFF2-40B4-BE49-F238E27FC236}">
                <a16:creationId xmlns:a16="http://schemas.microsoft.com/office/drawing/2014/main" id="{A47F7F44-8326-4DD3-9DD9-59DB6262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2" name="kicker-4">
            <a:extLst xmlns:a="http://schemas.openxmlformats.org/drawingml/2006/main">
              <a:ext uri="{FF2B5EF4-FFF2-40B4-BE49-F238E27FC236}">
                <a16:creationId xmlns:a16="http://schemas.microsoft.com/office/drawing/2014/main" id="{12C1DD57-0C16-4C93-9C82-5162F6C43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2F6FED"/>
                </a:solidFill>
              </a:defRPr>
            </a:pPr>
            <a:r>
              <a:rPr sz="900" b="1" i="0">
                <a:solidFill>
                  <a:srgbClr val="2F6FED"/>
                </a:solidFill>
              </a:rPr>
              <a:t>DEFINICIÓN DE PRODUCTO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8595AA20-9D5C-48E5-AD75-37BA116E02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53340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102A43"/>
                </a:solidFill>
              </a:defRPr>
            </a:pPr>
            <a:r>
              <a:rPr sz="2400" b="1" i="0">
                <a:solidFill>
                  <a:srgbClr val="102A43"/>
                </a:solidFill>
              </a:rPr>
              <a:t>El MVP integra tres roles, multi-organización y evidencia demostrable</a:t>
            </a:r>
          </a:p>
        </p:txBody>
      </p:sp>
      <p:sp>
        <p:nvSpPr>
          <p:cNvPr id="4" name="header-line-4">
            <a:extLst xmlns:a="http://schemas.openxmlformats.org/drawingml/2006/main">
              <a:ext uri="{FF2B5EF4-FFF2-40B4-BE49-F238E27FC236}">
                <a16:creationId xmlns:a16="http://schemas.microsoft.com/office/drawing/2014/main" id="{F56B7DA4-BB2D-4170-87E3-5E9329901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ED"/>
            </a:solidFill>
            <a:prstDash val="solid"/>
          </a:ln>
        </p:spPr>
      </p:sp>
      <p:sp>
        <p:nvSpPr>
          <p:cNvPr id="5" name="footer-4">
            <a:extLst xmlns:a="http://schemas.openxmlformats.org/drawingml/2006/main">
              <a:ext uri="{FF2B5EF4-FFF2-40B4-BE49-F238E27FC236}">
                <a16:creationId xmlns:a16="http://schemas.microsoft.com/office/drawing/2014/main" id="{B0200CDE-9D80-43F2-A439-25D539186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4748B"/>
                </a:solidFill>
              </a:defRPr>
            </a:pPr>
            <a:r>
              <a:rPr sz="750" b="0" i="0">
                <a:solidFill>
                  <a:srgbClr val="64748B"/>
                </a:solidFill>
              </a:rPr>
              <a:t>ALUNZA · CAPSTONE 2026 · SEDE PUENTE ALTO</a:t>
            </a:r>
          </a:p>
        </p:txBody>
      </p:sp>
      <p:sp>
        <p:nvSpPr>
          <p:cNvPr id="6" name="page-4">
            <a:extLst xmlns:a="http://schemas.openxmlformats.org/drawingml/2006/main">
              <a:ext uri="{FF2B5EF4-FFF2-40B4-BE49-F238E27FC236}">
                <a16:creationId xmlns:a16="http://schemas.microsoft.com/office/drawing/2014/main" id="{2C86A7E6-BA8A-437E-895C-2EC66B94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579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4748B"/>
                </a:solidFill>
              </a:defRPr>
            </a:pPr>
            <a:r>
              <a:rPr sz="825" b="0" i="0">
                <a:solidFill>
                  <a:srgbClr val="64748B"/>
                </a:solidFill>
              </a:rPr>
              <a:t>04</a:t>
            </a:r>
          </a:p>
        </p:txBody>
      </p:sp>
      <p:sp>
        <p:nvSpPr>
          <p:cNvPr id="7" name="scope-in-bg">
            <a:extLst xmlns:a="http://schemas.openxmlformats.org/drawingml/2006/main">
              <a:ext uri="{FF2B5EF4-FFF2-40B4-BE49-F238E27FC236}">
                <a16:creationId xmlns:a16="http://schemas.microsoft.com/office/drawing/2014/main" id="{9831490A-0F0E-4AF3-ADAB-1DA170F0A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3333750" cy="45529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scope-in-band">
            <a:extLst xmlns:a="http://schemas.openxmlformats.org/drawingml/2006/main">
              <a:ext uri="{FF2B5EF4-FFF2-40B4-BE49-F238E27FC236}">
                <a16:creationId xmlns:a16="http://schemas.microsoft.com/office/drawing/2014/main" id="{F6776970-CE58-4C8C-8058-F26E4431C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3333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6F3"/>
          </a:solidFill>
          <a:ln xmlns:a="http://schemas.openxmlformats.org/drawingml/2006/main" w="0">
            <a:solidFill>
              <a:srgbClr val="E6F6F3"/>
            </a:solidFill>
            <a:prstDash val="solid"/>
          </a:ln>
        </p:spPr>
      </p:sp>
      <p:sp>
        <p:nvSpPr>
          <p:cNvPr id="9" name="scope-in-accent">
            <a:extLst xmlns:a="http://schemas.openxmlformats.org/drawingml/2006/main">
              <a:ext uri="{FF2B5EF4-FFF2-40B4-BE49-F238E27FC236}">
                <a16:creationId xmlns:a16="http://schemas.microsoft.com/office/drawing/2014/main" id="{DDE2F3A5-BF6A-431C-B1A5-03BF7D962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66675" cy="455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A8C"/>
          </a:solidFill>
          <a:ln xmlns:a="http://schemas.openxmlformats.org/drawingml/2006/main" w="0">
            <a:solidFill>
              <a:srgbClr val="159A8C"/>
            </a:solidFill>
            <a:prstDash val="solid"/>
          </a:ln>
        </p:spPr>
      </p:sp>
      <p:sp>
        <p:nvSpPr>
          <p:cNvPr id="10" name="scope-in-title">
            <a:extLst xmlns:a="http://schemas.openxmlformats.org/drawingml/2006/main">
              <a:ext uri="{FF2B5EF4-FFF2-40B4-BE49-F238E27FC236}">
                <a16:creationId xmlns:a16="http://schemas.microsoft.com/office/drawing/2014/main" id="{133990B9-643D-4E0F-A77C-E8106A11C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52600"/>
            <a:ext cx="2914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59A8C"/>
                </a:solidFill>
              </a:defRPr>
            </a:pPr>
            <a:r>
              <a:rPr sz="1725" b="1" i="0">
                <a:solidFill>
                  <a:srgbClr val="159A8C"/>
                </a:solidFill>
              </a:rPr>
              <a:t>Incluye</a:t>
            </a:r>
          </a:p>
        </p:txBody>
      </p:sp>
      <p:sp>
        <p:nvSpPr>
          <p:cNvPr id="11" name="scope-in-items">
            <a:extLst xmlns:a="http://schemas.openxmlformats.org/drawingml/2006/main">
              <a:ext uri="{FF2B5EF4-FFF2-40B4-BE49-F238E27FC236}">
                <a16:creationId xmlns:a16="http://schemas.microsoft.com/office/drawing/2014/main" id="{D0C53454-1491-45F2-B77F-998A0FCAD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81250"/>
            <a:ext cx="28765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43B53"/>
                </a:solidFill>
              </a:defRPr>
            </a:pPr>
            <a:r>
              <a:rPr sz="1125" b="0" i="0">
                <a:solidFill>
                  <a:srgbClr val="243B53"/>
                </a:solidFill>
              </a:rPr>
              <a:t>• Administrador, profesor y estudiante.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243B53"/>
                </a:solidFill>
              </a:defRPr>
            </a:pPr>
            <a:r>
              <a:rPr sz="1125" b="0" i="0">
                <a:solidFill>
                  <a:srgbClr val="243B53"/>
                </a:solidFill>
              </a:rPr>
              <a:t>• 10 ejercicios JavaScript con test cases controlados.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243B53"/>
                </a:solidFill>
              </a:defRPr>
            </a:pPr>
            <a:r>
              <a:rPr sz="1125" b="0" i="0">
                <a:solidFill>
                  <a:srgbClr val="243B53"/>
                </a:solidFill>
              </a:rPr>
              <a:t>• Intentos, historial, progreso y tres señales explicables.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243B53"/>
                </a:solidFill>
              </a:defRPr>
            </a:pPr>
            <a:r>
              <a:rPr sz="1125" b="0" i="0">
                <a:solidFill>
                  <a:srgbClr val="243B53"/>
                </a:solidFill>
              </a:rPr>
              <a:t>• 2 documentos por clase y top-k=5 fragmentos con fuente.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243B53"/>
                </a:solidFill>
              </a:defRPr>
            </a:pPr>
            <a:r>
              <a:rPr sz="1125" b="0" i="0">
                <a:solidFill>
                  <a:srgbClr val="243B53"/>
                </a:solidFill>
              </a:rPr>
              <a:t>• Gobierno de usuarios, clases, banco, RAG, reglas y auditoría/CSV.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243B53"/>
                </a:solidFill>
              </a:defRPr>
            </a:pPr>
            <a:r>
              <a:rPr sz="1125" b="0" i="0">
                <a:solidFill>
                  <a:srgbClr val="243B53"/>
                </a:solidFill>
              </a:rPr>
              <a:t>• Vercel, Supabase y Azure; Docker Compose local y GitHub Actions.</a:t>
            </a:r>
          </a:p>
        </p:txBody>
      </p:sp>
      <p:sp>
        <p:nvSpPr>
          <p:cNvPr id="12" name="scope-out-bg">
            <a:extLst xmlns:a="http://schemas.openxmlformats.org/drawingml/2006/main">
              <a:ext uri="{FF2B5EF4-FFF2-40B4-BE49-F238E27FC236}">
                <a16:creationId xmlns:a16="http://schemas.microsoft.com/office/drawing/2014/main" id="{CB1EAD6D-6051-4894-8A57-6F401F9AE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600200"/>
            <a:ext cx="3714750" cy="4552950"/>
          </a:xfrm>
          <a:prstGeom xmlns:a="http://schemas.openxmlformats.org/drawingml/2006/main" prst="roundRect">
            <a:avLst>
              <a:gd name="adj" fmla="val 35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scope-out-band">
            <a:extLst xmlns:a="http://schemas.openxmlformats.org/drawingml/2006/main">
              <a:ext uri="{FF2B5EF4-FFF2-40B4-BE49-F238E27FC236}">
                <a16:creationId xmlns:a16="http://schemas.microsoft.com/office/drawing/2014/main" id="{5AA4970A-185A-4C68-B017-A761301CD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600200"/>
            <a:ext cx="3714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E"/>
          </a:solidFill>
          <a:ln xmlns:a="http://schemas.openxmlformats.org/drawingml/2006/main" w="0">
            <a:solidFill>
              <a:srgbClr val="FDECEE"/>
            </a:solidFill>
            <a:prstDash val="solid"/>
          </a:ln>
        </p:spPr>
      </p:sp>
      <p:sp>
        <p:nvSpPr>
          <p:cNvPr id="14" name="scope-out-accent">
            <a:extLst xmlns:a="http://schemas.openxmlformats.org/drawingml/2006/main">
              <a:ext uri="{FF2B5EF4-FFF2-40B4-BE49-F238E27FC236}">
                <a16:creationId xmlns:a16="http://schemas.microsoft.com/office/drawing/2014/main" id="{A8C42C22-7ABB-4F0A-9841-123D1D38E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600200"/>
            <a:ext cx="66675" cy="455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5C6B"/>
          </a:solidFill>
          <a:ln xmlns:a="http://schemas.openxmlformats.org/drawingml/2006/main" w="0">
            <a:solidFill>
              <a:srgbClr val="DE5C6B"/>
            </a:solidFill>
            <a:prstDash val="solid"/>
          </a:ln>
        </p:spPr>
      </p:sp>
      <p:sp>
        <p:nvSpPr>
          <p:cNvPr id="15" name="scope-out-title">
            <a:extLst xmlns:a="http://schemas.openxmlformats.org/drawingml/2006/main">
              <a:ext uri="{FF2B5EF4-FFF2-40B4-BE49-F238E27FC236}">
                <a16:creationId xmlns:a16="http://schemas.microsoft.com/office/drawing/2014/main" id="{971E9B0B-D5D4-4770-86E5-D8710666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752600"/>
            <a:ext cx="3295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DE5C6B"/>
                </a:solidFill>
              </a:defRPr>
            </a:pPr>
            <a:r>
              <a:rPr sz="1725" b="1" i="0">
                <a:solidFill>
                  <a:srgbClr val="DE5C6B"/>
                </a:solidFill>
              </a:rPr>
              <a:t>EXCLUSIÓN FORMAL</a:t>
            </a:r>
          </a:p>
        </p:txBody>
      </p:sp>
      <p:sp>
        <p:nvSpPr>
          <p:cNvPr id="16" name="scope-out-items">
            <a:extLst xmlns:a="http://schemas.openxmlformats.org/drawingml/2006/main">
              <a:ext uri="{FF2B5EF4-FFF2-40B4-BE49-F238E27FC236}">
                <a16:creationId xmlns:a16="http://schemas.microsoft.com/office/drawing/2014/main" id="{CD79C547-C99E-4382-80CD-4DD4A1D2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81250"/>
            <a:ext cx="32575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• LMS completo o app móvil nativa.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• SSO, pagos, clases en vivo o red social.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• Plagio/uso de IA, OCR, RAG avanzado o calificación automática de alto impacto.</a:t>
            </a:r>
          </a:p>
        </p:txBody>
      </p:sp>
      <p:sp>
        <p:nvSpPr>
          <p:cNvPr id="17" name="scope-guard-bg">
            <a:extLst xmlns:a="http://schemas.openxmlformats.org/drawingml/2006/main">
              <a:ext uri="{FF2B5EF4-FFF2-40B4-BE49-F238E27FC236}">
                <a16:creationId xmlns:a16="http://schemas.microsoft.com/office/drawing/2014/main" id="{A0B6C012-7CB8-44C1-9365-0A1F428FA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00200"/>
            <a:ext cx="3276600" cy="4552950"/>
          </a:xfrm>
          <a:prstGeom xmlns:a="http://schemas.openxmlformats.org/drawingml/2006/main" prst="roundRect">
            <a:avLst>
              <a:gd name="adj" fmla="val 40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scope-guard-band">
            <a:extLst xmlns:a="http://schemas.openxmlformats.org/drawingml/2006/main">
              <a:ext uri="{FF2B5EF4-FFF2-40B4-BE49-F238E27FC236}">
                <a16:creationId xmlns:a16="http://schemas.microsoft.com/office/drawing/2014/main" id="{0E16B16F-3A35-4EED-A23B-0CB4DFC4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00200"/>
            <a:ext cx="3276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solidFill>
              <a:srgbClr val="EAF2FF"/>
            </a:solidFill>
            <a:prstDash val="solid"/>
          </a:ln>
        </p:spPr>
      </p:sp>
      <p:sp>
        <p:nvSpPr>
          <p:cNvPr id="19" name="scope-guard-accent">
            <a:extLst xmlns:a="http://schemas.openxmlformats.org/drawingml/2006/main">
              <a:ext uri="{FF2B5EF4-FFF2-40B4-BE49-F238E27FC236}">
                <a16:creationId xmlns:a16="http://schemas.microsoft.com/office/drawing/2014/main" id="{D2FF0CD2-AF2D-4A04-86C8-360D51F1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00200"/>
            <a:ext cx="66675" cy="455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20" name="scope-guard-title">
            <a:extLst xmlns:a="http://schemas.openxmlformats.org/drawingml/2006/main">
              <a:ext uri="{FF2B5EF4-FFF2-40B4-BE49-F238E27FC236}">
                <a16:creationId xmlns:a16="http://schemas.microsoft.com/office/drawing/2014/main" id="{DB7052E6-124D-49EE-9BA9-EA78EE2C1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526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2F6FED"/>
                </a:solidFill>
              </a:defRPr>
            </a:pPr>
            <a:r>
              <a:rPr sz="1725" b="1" i="0">
                <a:solidFill>
                  <a:srgbClr val="2F6FED"/>
                </a:solidFill>
              </a:rPr>
              <a:t>Guardrails</a:t>
            </a:r>
          </a:p>
        </p:txBody>
      </p:sp>
      <p:sp>
        <p:nvSpPr>
          <p:cNvPr id="21" name="scope-guard-items">
            <a:extLst xmlns:a="http://schemas.openxmlformats.org/drawingml/2006/main">
              <a:ext uri="{FF2B5EF4-FFF2-40B4-BE49-F238E27FC236}">
                <a16:creationId xmlns:a16="http://schemas.microsoft.com/office/drawing/2014/main" id="{DA1E8238-461F-4F96-87A2-53F5F4B24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81250"/>
            <a:ext cx="28194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43B53"/>
                </a:solidFill>
              </a:defRPr>
            </a:pPr>
            <a:r>
              <a:rPr sz="1125" b="0" i="0">
                <a:solidFill>
                  <a:srgbClr val="243B53"/>
                </a:solidFill>
              </a:rPr>
              <a:t>• 18 semanas y 3 integrantes.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243B53"/>
                </a:solidFill>
              </a:defRPr>
            </a:pPr>
            <a:r>
              <a:rPr sz="1125" b="0" i="0">
                <a:solidFill>
                  <a:srgbClr val="243B53"/>
                </a:solidFill>
              </a:rPr>
              <a:t>• Demo: 2 organizaciones, 2 administradores y 2 profesores.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243B53"/>
                </a:solidFill>
              </a:defRPr>
            </a:pPr>
            <a:r>
              <a:rPr sz="1125" b="0" i="0">
                <a:solidFill>
                  <a:srgbClr val="243B53"/>
                </a:solidFill>
              </a:rPr>
              <a:t>• 8 estudiantes, 3 clases y 10 ejercicios.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243B53"/>
                </a:solidFill>
              </a:defRPr>
            </a:pPr>
            <a:r>
              <a:rPr sz="1125" b="0" i="0">
                <a:solidFill>
                  <a:srgbClr val="243B53"/>
                </a:solidFill>
              </a:rPr>
              <a:t>• 2 documentos por clase; top-k=5 fragmentos.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243B53"/>
                </a:solidFill>
              </a:defRPr>
            </a:pPr>
            <a:r>
              <a:rPr sz="1125" b="0" i="0">
                <a:solidFill>
                  <a:srgbClr val="243B53"/>
                </a:solidFill>
              </a:rPr>
              <a:t>• Repositorio público sin PII y datos sintéticos.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243B53"/>
                </a:solidFill>
              </a:defRPr>
            </a:pPr>
            <a:r>
              <a:rPr sz="1125" b="0" i="0">
                <a:solidFill>
                  <a:srgbClr val="243B53"/>
                </a:solidFill>
              </a:rPr>
              <a:t>• Los opcionales vuelven al backlog si amenazan el núcleo.</a:t>
            </a:r>
          </a:p>
        </p:txBody>
      </p:sp>
    </p:spTree>
    <p:extLst>
      <p:ext uri="{BB962C8B-B14F-4D97-AF65-F5344CB8AC3E}">
        <p14:creationId xmlns:p14="http://schemas.microsoft.com/office/powerpoint/2010/main" val="8898505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rail-5">
            <a:extLst xmlns:a="http://schemas.openxmlformats.org/drawingml/2006/main">
              <a:ext uri="{FF2B5EF4-FFF2-40B4-BE49-F238E27FC236}">
                <a16:creationId xmlns:a16="http://schemas.microsoft.com/office/drawing/2014/main" id="{7216B259-92A6-411E-96A2-47F11B86F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2" name="kicker-5">
            <a:extLst xmlns:a="http://schemas.openxmlformats.org/drawingml/2006/main">
              <a:ext uri="{FF2B5EF4-FFF2-40B4-BE49-F238E27FC236}">
                <a16:creationId xmlns:a16="http://schemas.microsoft.com/office/drawing/2014/main" id="{C9B43104-3724-4813-A461-CA1BF41C1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2F6FED"/>
                </a:solidFill>
              </a:defRPr>
            </a:pPr>
            <a:r>
              <a:rPr sz="900" b="1" i="0">
                <a:solidFill>
                  <a:srgbClr val="2F6FED"/>
                </a:solidFill>
              </a:rPr>
              <a:t>ESPECIFICACIÓN VIGENTE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56BD51BC-1147-47E5-9C9A-BDC16AA9E5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53340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102A43"/>
                </a:solidFill>
              </a:defRPr>
            </a:pPr>
            <a:r>
              <a:rPr sz="2400" b="1" i="0">
                <a:solidFill>
                  <a:srgbClr val="102A43"/>
                </a:solidFill>
              </a:rPr>
              <a:t>Veintisiete requisitos cubren la vertical y su gobierno</a:t>
            </a:r>
          </a:p>
        </p:txBody>
      </p:sp>
      <p:sp>
        <p:nvSpPr>
          <p:cNvPr id="4" name="header-line-5">
            <a:extLst xmlns:a="http://schemas.openxmlformats.org/drawingml/2006/main">
              <a:ext uri="{FF2B5EF4-FFF2-40B4-BE49-F238E27FC236}">
                <a16:creationId xmlns:a16="http://schemas.microsoft.com/office/drawing/2014/main" id="{BC803EDC-2F7E-4ECB-BDC4-5E59016CC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ED"/>
            </a:solidFill>
            <a:prstDash val="solid"/>
          </a:ln>
        </p:spPr>
      </p:sp>
      <p:sp>
        <p:nvSpPr>
          <p:cNvPr id="5" name="footer-5">
            <a:extLst xmlns:a="http://schemas.openxmlformats.org/drawingml/2006/main">
              <a:ext uri="{FF2B5EF4-FFF2-40B4-BE49-F238E27FC236}">
                <a16:creationId xmlns:a16="http://schemas.microsoft.com/office/drawing/2014/main" id="{312E5998-2F71-4667-A1B5-157EDCCB1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4748B"/>
                </a:solidFill>
              </a:defRPr>
            </a:pPr>
            <a:r>
              <a:rPr sz="750" b="0" i="0">
                <a:solidFill>
                  <a:srgbClr val="64748B"/>
                </a:solidFill>
              </a:rPr>
              <a:t>ALUNZA · CAPSTONE 2026 · SEDE PUENTE ALTO</a:t>
            </a:r>
          </a:p>
        </p:txBody>
      </p:sp>
      <p:sp>
        <p:nvSpPr>
          <p:cNvPr id="6" name="page-5">
            <a:extLst xmlns:a="http://schemas.openxmlformats.org/drawingml/2006/main">
              <a:ext uri="{FF2B5EF4-FFF2-40B4-BE49-F238E27FC236}">
                <a16:creationId xmlns:a16="http://schemas.microsoft.com/office/drawing/2014/main" id="{5F85E0CC-CE28-41C4-94FE-16471FF91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579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4748B"/>
                </a:solidFill>
              </a:defRPr>
            </a:pPr>
            <a:r>
              <a:rPr sz="825" b="0" i="0">
                <a:solidFill>
                  <a:srgbClr val="64748B"/>
                </a:solidFill>
              </a:rPr>
              <a:t>05</a:t>
            </a:r>
          </a:p>
        </p:txBody>
      </p:sp>
      <p:sp>
        <p:nvSpPr>
          <p:cNvPr id="7" name="req-group-0">
            <a:extLst xmlns:a="http://schemas.openxmlformats.org/drawingml/2006/main">
              <a:ext uri="{FF2B5EF4-FFF2-40B4-BE49-F238E27FC236}">
                <a16:creationId xmlns:a16="http://schemas.microsoft.com/office/drawing/2014/main" id="{0C93B448-F0C5-428F-A5E6-7EF2CFC5E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52197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8" name="req-group-tag-0">
            <a:extLst xmlns:a="http://schemas.openxmlformats.org/drawingml/2006/main">
              <a:ext uri="{FF2B5EF4-FFF2-40B4-BE49-F238E27FC236}">
                <a16:creationId xmlns:a16="http://schemas.microsoft.com/office/drawing/2014/main" id="{AEF4EE1E-9D3C-431D-AE37-93FC4AD0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146685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6F6F3"/>
          </a:solidFill>
          <a:ln xmlns:a="http://schemas.openxmlformats.org/drawingml/2006/main" w="9525">
            <a:solidFill>
              <a:srgbClr val="159A8C"/>
            </a:solidFill>
            <a:prstDash val="solid"/>
          </a:ln>
        </p:spPr>
      </p:sp>
      <p:sp>
        <p:nvSpPr>
          <p:cNvPr id="9" name="req-group-id-0">
            <a:extLst xmlns:a="http://schemas.openxmlformats.org/drawingml/2006/main">
              <a:ext uri="{FF2B5EF4-FFF2-40B4-BE49-F238E27FC236}">
                <a16:creationId xmlns:a16="http://schemas.microsoft.com/office/drawing/2014/main" id="{94220D1C-113A-41E0-89A1-EA88786AA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24025"/>
            <a:ext cx="1314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159A8C"/>
                </a:solidFill>
              </a:defRPr>
            </a:pPr>
            <a:r>
              <a:rPr sz="975" b="1" i="0">
                <a:solidFill>
                  <a:srgbClr val="159A8C"/>
                </a:solidFill>
              </a:rPr>
              <a:t>ALZ-RF-001–003</a:t>
            </a:r>
          </a:p>
        </p:txBody>
      </p:sp>
      <p:sp>
        <p:nvSpPr>
          <p:cNvPr id="10" name="req-group-title-0">
            <a:extLst xmlns:a="http://schemas.openxmlformats.org/drawingml/2006/main">
              <a:ext uri="{FF2B5EF4-FFF2-40B4-BE49-F238E27FC236}">
                <a16:creationId xmlns:a16="http://schemas.microsoft.com/office/drawing/2014/main" id="{91425F83-E01C-4076-ADC5-B57EE7045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638300"/>
            <a:ext cx="3219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Identidad y clases</a:t>
            </a:r>
          </a:p>
        </p:txBody>
      </p:sp>
      <p:sp>
        <p:nvSpPr>
          <p:cNvPr id="11" name="req-group-copy-0">
            <a:extLst xmlns:a="http://schemas.openxmlformats.org/drawingml/2006/main">
              <a:ext uri="{FF2B5EF4-FFF2-40B4-BE49-F238E27FC236}">
                <a16:creationId xmlns:a16="http://schemas.microsoft.com/office/drawing/2014/main" id="{C13D0EB2-F613-4C06-B7BF-AB9E7AD1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943100"/>
            <a:ext cx="3219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Sesión segura, roles, organización/clase e inscripción.</a:t>
            </a:r>
          </a:p>
        </p:txBody>
      </p:sp>
      <p:sp>
        <p:nvSpPr>
          <p:cNvPr id="12" name="req-group-1">
            <a:extLst xmlns:a="http://schemas.openxmlformats.org/drawingml/2006/main">
              <a:ext uri="{FF2B5EF4-FFF2-40B4-BE49-F238E27FC236}">
                <a16:creationId xmlns:a16="http://schemas.microsoft.com/office/drawing/2014/main" id="{C2F0380A-9A9A-463C-86AE-15636137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524000"/>
            <a:ext cx="52197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13" name="req-group-tag-1">
            <a:extLst xmlns:a="http://schemas.openxmlformats.org/drawingml/2006/main">
              <a:ext uri="{FF2B5EF4-FFF2-40B4-BE49-F238E27FC236}">
                <a16:creationId xmlns:a16="http://schemas.microsoft.com/office/drawing/2014/main" id="{667ABDF8-8AE6-4243-B290-CFEE529CF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57350"/>
            <a:ext cx="146685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F6FED"/>
            </a:solidFill>
            <a:prstDash val="solid"/>
          </a:ln>
        </p:spPr>
      </p:sp>
      <p:sp>
        <p:nvSpPr>
          <p:cNvPr id="14" name="req-group-id-1">
            <a:extLst xmlns:a="http://schemas.openxmlformats.org/drawingml/2006/main">
              <a:ext uri="{FF2B5EF4-FFF2-40B4-BE49-F238E27FC236}">
                <a16:creationId xmlns:a16="http://schemas.microsoft.com/office/drawing/2014/main" id="{A5775652-A367-4823-82FC-645303F09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724025"/>
            <a:ext cx="1314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2F6FED"/>
                </a:solidFill>
              </a:defRPr>
            </a:pPr>
            <a:r>
              <a:rPr sz="975" b="1" i="0">
                <a:solidFill>
                  <a:srgbClr val="2F6FED"/>
                </a:solidFill>
              </a:rPr>
              <a:t>ALZ-RF-004–008</a:t>
            </a:r>
          </a:p>
        </p:txBody>
      </p:sp>
      <p:sp>
        <p:nvSpPr>
          <p:cNvPr id="15" name="req-group-title-1">
            <a:extLst xmlns:a="http://schemas.openxmlformats.org/drawingml/2006/main">
              <a:ext uri="{FF2B5EF4-FFF2-40B4-BE49-F238E27FC236}">
                <a16:creationId xmlns:a16="http://schemas.microsoft.com/office/drawing/2014/main" id="{9EED9DDD-EBE3-4DA6-8304-E798E44E1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38300"/>
            <a:ext cx="3219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Contenido académico</a:t>
            </a:r>
          </a:p>
        </p:txBody>
      </p:sp>
      <p:sp>
        <p:nvSpPr>
          <p:cNvPr id="16" name="req-group-copy-1">
            <a:extLst xmlns:a="http://schemas.openxmlformats.org/drawingml/2006/main">
              <a:ext uri="{FF2B5EF4-FFF2-40B4-BE49-F238E27FC236}">
                <a16:creationId xmlns:a16="http://schemas.microsoft.com/office/drawing/2014/main" id="{C4DB5D0C-31C9-4B16-AF1E-12E84B600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43100"/>
            <a:ext cx="3219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Ejercicios, actividades, materiales y consulta autorizada.</a:t>
            </a:r>
          </a:p>
        </p:txBody>
      </p:sp>
      <p:sp>
        <p:nvSpPr>
          <p:cNvPr id="17" name="req-group-2">
            <a:extLst xmlns:a="http://schemas.openxmlformats.org/drawingml/2006/main">
              <a:ext uri="{FF2B5EF4-FFF2-40B4-BE49-F238E27FC236}">
                <a16:creationId xmlns:a16="http://schemas.microsoft.com/office/drawing/2014/main" id="{C28A7422-B261-440A-9886-6135470A9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52197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18" name="req-group-tag-2">
            <a:extLst xmlns:a="http://schemas.openxmlformats.org/drawingml/2006/main">
              <a:ext uri="{FF2B5EF4-FFF2-40B4-BE49-F238E27FC236}">
                <a16:creationId xmlns:a16="http://schemas.microsoft.com/office/drawing/2014/main" id="{BFE10726-4C23-43B0-91B9-53A36B29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81300"/>
            <a:ext cx="146685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6F6F3"/>
          </a:solidFill>
          <a:ln xmlns:a="http://schemas.openxmlformats.org/drawingml/2006/main" w="9525">
            <a:solidFill>
              <a:srgbClr val="159A8C"/>
            </a:solidFill>
            <a:prstDash val="solid"/>
          </a:ln>
        </p:spPr>
      </p:sp>
      <p:sp>
        <p:nvSpPr>
          <p:cNvPr id="19" name="req-group-id-2">
            <a:extLst xmlns:a="http://schemas.openxmlformats.org/drawingml/2006/main">
              <a:ext uri="{FF2B5EF4-FFF2-40B4-BE49-F238E27FC236}">
                <a16:creationId xmlns:a16="http://schemas.microsoft.com/office/drawing/2014/main" id="{20622A48-46B7-4252-8267-620417CC6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1314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159A8C"/>
                </a:solidFill>
              </a:defRPr>
            </a:pPr>
            <a:r>
              <a:rPr sz="975" b="1" i="0">
                <a:solidFill>
                  <a:srgbClr val="159A8C"/>
                </a:solidFill>
              </a:rPr>
              <a:t>ALZ-RF-009–014</a:t>
            </a:r>
          </a:p>
        </p:txBody>
      </p:sp>
      <p:sp>
        <p:nvSpPr>
          <p:cNvPr id="20" name="req-group-title-2">
            <a:extLst xmlns:a="http://schemas.openxmlformats.org/drawingml/2006/main">
              <a:ext uri="{FF2B5EF4-FFF2-40B4-BE49-F238E27FC236}">
                <a16:creationId xmlns:a16="http://schemas.microsoft.com/office/drawing/2014/main" id="{7F2A0BC0-AE44-406B-BE9E-78F8DBDA4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762250"/>
            <a:ext cx="3219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Ejecución y orientación</a:t>
            </a:r>
          </a:p>
        </p:txBody>
      </p:sp>
      <p:sp>
        <p:nvSpPr>
          <p:cNvPr id="21" name="req-group-copy-2">
            <a:extLst xmlns:a="http://schemas.openxmlformats.org/drawingml/2006/main">
              <a:ext uri="{FF2B5EF4-FFF2-40B4-BE49-F238E27FC236}">
                <a16:creationId xmlns:a16="http://schemas.microsoft.com/office/drawing/2014/main" id="{2CE60BFE-E645-472A-887D-20A13161F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067050"/>
            <a:ext cx="3219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Sandbox JS, intento persistido, diagnóstico, pistas, RAG y reintento.</a:t>
            </a:r>
          </a:p>
        </p:txBody>
      </p:sp>
      <p:sp>
        <p:nvSpPr>
          <p:cNvPr id="22" name="req-group-3">
            <a:extLst xmlns:a="http://schemas.openxmlformats.org/drawingml/2006/main">
              <a:ext uri="{FF2B5EF4-FFF2-40B4-BE49-F238E27FC236}">
                <a16:creationId xmlns:a16="http://schemas.microsoft.com/office/drawing/2014/main" id="{6A41AB41-4200-423E-92D0-3D78C893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647950"/>
            <a:ext cx="52197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23" name="req-group-tag-3">
            <a:extLst xmlns:a="http://schemas.openxmlformats.org/drawingml/2006/main">
              <a:ext uri="{FF2B5EF4-FFF2-40B4-BE49-F238E27FC236}">
                <a16:creationId xmlns:a16="http://schemas.microsoft.com/office/drawing/2014/main" id="{98D5DAB7-3A86-48D7-8997-56851DA0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81300"/>
            <a:ext cx="146685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F6FED"/>
            </a:solidFill>
            <a:prstDash val="solid"/>
          </a:ln>
        </p:spPr>
      </p:sp>
      <p:sp>
        <p:nvSpPr>
          <p:cNvPr id="24" name="req-group-id-3">
            <a:extLst xmlns:a="http://schemas.openxmlformats.org/drawingml/2006/main">
              <a:ext uri="{FF2B5EF4-FFF2-40B4-BE49-F238E27FC236}">
                <a16:creationId xmlns:a16="http://schemas.microsoft.com/office/drawing/2014/main" id="{E23071DE-73C9-4E05-9067-F3177009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47975"/>
            <a:ext cx="1314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2F6FED"/>
                </a:solidFill>
              </a:defRPr>
            </a:pPr>
            <a:r>
              <a:rPr sz="975" b="1" i="0">
                <a:solidFill>
                  <a:srgbClr val="2F6FED"/>
                </a:solidFill>
              </a:rPr>
              <a:t>ALZ-RF-015–019</a:t>
            </a:r>
          </a:p>
        </p:txBody>
      </p:sp>
      <p:sp>
        <p:nvSpPr>
          <p:cNvPr id="25" name="req-group-title-3">
            <a:extLst xmlns:a="http://schemas.openxmlformats.org/drawingml/2006/main">
              <a:ext uri="{FF2B5EF4-FFF2-40B4-BE49-F238E27FC236}">
                <a16:creationId xmlns:a16="http://schemas.microsoft.com/office/drawing/2014/main" id="{84803010-CCEE-4073-A441-393A8C2F0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62250"/>
            <a:ext cx="3219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Progreso docente</a:t>
            </a:r>
          </a:p>
        </p:txBody>
      </p:sp>
      <p:sp>
        <p:nvSpPr>
          <p:cNvPr id="26" name="req-group-copy-3">
            <a:extLst xmlns:a="http://schemas.openxmlformats.org/drawingml/2006/main">
              <a:ext uri="{FF2B5EF4-FFF2-40B4-BE49-F238E27FC236}">
                <a16:creationId xmlns:a16="http://schemas.microsoft.com/office/drawing/2014/main" id="{82BAFC8D-EF75-40CE-859D-00ED9CE8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67050"/>
            <a:ext cx="3219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Progreso, panel, detalle, señales deterministas y revisión.</a:t>
            </a:r>
          </a:p>
        </p:txBody>
      </p:sp>
      <p:sp>
        <p:nvSpPr>
          <p:cNvPr id="27" name="req-group-4">
            <a:extLst xmlns:a="http://schemas.openxmlformats.org/drawingml/2006/main">
              <a:ext uri="{FF2B5EF4-FFF2-40B4-BE49-F238E27FC236}">
                <a16:creationId xmlns:a16="http://schemas.microsoft.com/office/drawing/2014/main" id="{77A80281-E4E5-48BD-AB2F-8D9943C4A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52197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28" name="req-group-tag-4">
            <a:extLst xmlns:a="http://schemas.openxmlformats.org/drawingml/2006/main">
              <a:ext uri="{FF2B5EF4-FFF2-40B4-BE49-F238E27FC236}">
                <a16:creationId xmlns:a16="http://schemas.microsoft.com/office/drawing/2014/main" id="{8567C42E-4359-4D77-8B72-327AE38B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05250"/>
            <a:ext cx="146685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6F6F3"/>
          </a:solidFill>
          <a:ln xmlns:a="http://schemas.openxmlformats.org/drawingml/2006/main" w="9525">
            <a:solidFill>
              <a:srgbClr val="159A8C"/>
            </a:solidFill>
            <a:prstDash val="solid"/>
          </a:ln>
        </p:spPr>
      </p:sp>
      <p:sp>
        <p:nvSpPr>
          <p:cNvPr id="29" name="req-group-id-4">
            <a:extLst xmlns:a="http://schemas.openxmlformats.org/drawingml/2006/main">
              <a:ext uri="{FF2B5EF4-FFF2-40B4-BE49-F238E27FC236}">
                <a16:creationId xmlns:a16="http://schemas.microsoft.com/office/drawing/2014/main" id="{52864A84-1C26-4690-8741-4E62281FC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71925"/>
            <a:ext cx="1314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159A8C"/>
                </a:solidFill>
              </a:defRPr>
            </a:pPr>
            <a:r>
              <a:rPr sz="975" b="1" i="0">
                <a:solidFill>
                  <a:srgbClr val="159A8C"/>
                </a:solidFill>
              </a:rPr>
              <a:t>ALZ-RF-020–024</a:t>
            </a:r>
          </a:p>
        </p:txBody>
      </p:sp>
      <p:sp>
        <p:nvSpPr>
          <p:cNvPr id="30" name="req-group-title-4">
            <a:extLst xmlns:a="http://schemas.openxmlformats.org/drawingml/2006/main">
              <a:ext uri="{FF2B5EF4-FFF2-40B4-BE49-F238E27FC236}">
                <a16:creationId xmlns:a16="http://schemas.microsoft.com/office/drawing/2014/main" id="{BC7FBF7B-53A3-41C7-BDB4-33677DF8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886200"/>
            <a:ext cx="3219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Administración</a:t>
            </a:r>
          </a:p>
        </p:txBody>
      </p:sp>
      <p:sp>
        <p:nvSpPr>
          <p:cNvPr id="31" name="req-group-copy-4">
            <a:extLst xmlns:a="http://schemas.openxmlformats.org/drawingml/2006/main">
              <a:ext uri="{FF2B5EF4-FFF2-40B4-BE49-F238E27FC236}">
                <a16:creationId xmlns:a16="http://schemas.microsoft.com/office/drawing/2014/main" id="{979BE2EA-4E23-4A3E-AC7B-BC489590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191000"/>
            <a:ext cx="3219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Organizaciones, usuarios/roles, cursos/clases, taxonomía y banco.</a:t>
            </a:r>
          </a:p>
        </p:txBody>
      </p:sp>
      <p:sp>
        <p:nvSpPr>
          <p:cNvPr id="32" name="req-group-5">
            <a:extLst xmlns:a="http://schemas.openxmlformats.org/drawingml/2006/main">
              <a:ext uri="{FF2B5EF4-FFF2-40B4-BE49-F238E27FC236}">
                <a16:creationId xmlns:a16="http://schemas.microsoft.com/office/drawing/2014/main" id="{0A83C19B-4793-4BC9-AAC9-1409FB13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771900"/>
            <a:ext cx="52197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33" name="req-group-tag-5">
            <a:extLst xmlns:a="http://schemas.openxmlformats.org/drawingml/2006/main">
              <a:ext uri="{FF2B5EF4-FFF2-40B4-BE49-F238E27FC236}">
                <a16:creationId xmlns:a16="http://schemas.microsoft.com/office/drawing/2014/main" id="{FB6DE4E4-124D-4FA4-A29C-DED31AA1A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05250"/>
            <a:ext cx="146685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F6FED"/>
            </a:solidFill>
            <a:prstDash val="solid"/>
          </a:ln>
        </p:spPr>
      </p:sp>
      <p:sp>
        <p:nvSpPr>
          <p:cNvPr id="34" name="req-group-id-5">
            <a:extLst xmlns:a="http://schemas.openxmlformats.org/drawingml/2006/main">
              <a:ext uri="{FF2B5EF4-FFF2-40B4-BE49-F238E27FC236}">
                <a16:creationId xmlns:a16="http://schemas.microsoft.com/office/drawing/2014/main" id="{F4CD1FF4-4C9F-49ED-9C07-A5205D9A3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971925"/>
            <a:ext cx="1314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2F6FED"/>
                </a:solidFill>
              </a:defRPr>
            </a:pPr>
            <a:r>
              <a:rPr sz="975" b="1" i="0">
                <a:solidFill>
                  <a:srgbClr val="2F6FED"/>
                </a:solidFill>
              </a:rPr>
              <a:t>ALZ-RF-025–027</a:t>
            </a:r>
          </a:p>
        </p:txBody>
      </p:sp>
      <p:sp>
        <p:nvSpPr>
          <p:cNvPr id="35" name="req-group-title-5">
            <a:extLst xmlns:a="http://schemas.openxmlformats.org/drawingml/2006/main">
              <a:ext uri="{FF2B5EF4-FFF2-40B4-BE49-F238E27FC236}">
                <a16:creationId xmlns:a16="http://schemas.microsoft.com/office/drawing/2014/main" id="{42DB5393-1282-40B0-862C-8EE57F742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86200"/>
            <a:ext cx="3219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Gobierno operativo</a:t>
            </a:r>
          </a:p>
        </p:txBody>
      </p:sp>
      <p:sp>
        <p:nvSpPr>
          <p:cNvPr id="36" name="req-group-copy-5">
            <a:extLst xmlns:a="http://schemas.openxmlformats.org/drawingml/2006/main">
              <a:ext uri="{FF2B5EF4-FFF2-40B4-BE49-F238E27FC236}">
                <a16:creationId xmlns:a16="http://schemas.microsoft.com/office/drawing/2014/main" id="{7EC282B3-2508-4A56-ACFE-B6D78C17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91000"/>
            <a:ext cx="3219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Materiales RAG, reglas versionadas, auditoría y exportación CSV.</a:t>
            </a:r>
          </a:p>
        </p:txBody>
      </p:sp>
      <p:sp>
        <p:nvSpPr>
          <p:cNvPr id="37" name="contract-bg">
            <a:extLst xmlns:a="http://schemas.openxmlformats.org/drawingml/2006/main">
              <a:ext uri="{FF2B5EF4-FFF2-40B4-BE49-F238E27FC236}">
                <a16:creationId xmlns:a16="http://schemas.microsoft.com/office/drawing/2014/main" id="{B41469F5-3F72-4A24-AFBA-AD702EB7B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06680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38" name="contract-title">
            <a:extLst xmlns:a="http://schemas.openxmlformats.org/drawingml/2006/main">
              <a:ext uri="{FF2B5EF4-FFF2-40B4-BE49-F238E27FC236}">
                <a16:creationId xmlns:a16="http://schemas.microsoft.com/office/drawing/2014/main" id="{0DD225CD-64CD-4393-9304-1D7D88B0F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244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Contrato de diagnóstico</a:t>
            </a:r>
          </a:p>
        </p:txBody>
      </p:sp>
      <p:sp>
        <p:nvSpPr>
          <p:cNvPr id="39" name="contract-fields">
            <a:extLst xmlns:a="http://schemas.openxmlformats.org/drawingml/2006/main">
              <a:ext uri="{FF2B5EF4-FFF2-40B4-BE49-F238E27FC236}">
                <a16:creationId xmlns:a16="http://schemas.microsoft.com/office/drawing/2014/main" id="{0C51F539-057C-407F-A228-E5753C0F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10540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7563C9"/>
                </a:solidFill>
              </a:defRPr>
            </a:pPr>
            <a:r>
              <a:rPr sz="1275" b="1" i="0">
                <a:solidFill>
                  <a:srgbClr val="7563C9"/>
                </a:solidFill>
              </a:rPr>
              <a:t>diagnosis_code · explanation · hint · source_refs · status</a:t>
            </a:r>
          </a:p>
        </p:txBody>
      </p:sp>
      <p:sp>
        <p:nvSpPr>
          <p:cNvPr id="40" name="nfr-title">
            <a:extLst xmlns:a="http://schemas.openxmlformats.org/drawingml/2006/main">
              <a:ext uri="{FF2B5EF4-FFF2-40B4-BE49-F238E27FC236}">
                <a16:creationId xmlns:a16="http://schemas.microsoft.com/office/drawing/2014/main" id="{C2AA7740-64D9-4A99-B7E4-DE8E5F839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435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02A43"/>
                </a:solidFill>
              </a:defRPr>
            </a:pPr>
            <a:r>
              <a:rPr sz="1200" b="1" i="0">
                <a:solidFill>
                  <a:srgbClr val="102A43"/>
                </a:solidFill>
              </a:rPr>
              <a:t>No funcionales</a:t>
            </a:r>
          </a:p>
        </p:txBody>
      </p:sp>
      <p:sp>
        <p:nvSpPr>
          <p:cNvPr id="41" name="nfr-copy">
            <a:extLst xmlns:a="http://schemas.openxmlformats.org/drawingml/2006/main">
              <a:ext uri="{FF2B5EF4-FFF2-40B4-BE49-F238E27FC236}">
                <a16:creationId xmlns:a16="http://schemas.microsoft.com/office/drawing/2014/main" id="{9ABA6915-5335-465B-B255-23EB04D6A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505450"/>
            <a:ext cx="864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Interfaz y API p95 &lt;3 s. Proceso máximo 3 s; ejecución completa p95 &lt;5 s. IA p95 &lt;12 s. RLS, Sandbox adversarial y GitHub Actions.</a:t>
            </a:r>
          </a:p>
        </p:txBody>
      </p:sp>
    </p:spTree>
    <p:extLst>
      <p:ext uri="{BB962C8B-B14F-4D97-AF65-F5344CB8AC3E}">
        <p14:creationId xmlns:p14="http://schemas.microsoft.com/office/powerpoint/2010/main" val="139690507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rail-6">
            <a:extLst xmlns:a="http://schemas.openxmlformats.org/drawingml/2006/main">
              <a:ext uri="{FF2B5EF4-FFF2-40B4-BE49-F238E27FC236}">
                <a16:creationId xmlns:a16="http://schemas.microsoft.com/office/drawing/2014/main" id="{3001E89C-8C42-4C34-B8F6-04440126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2" name="kicker-6">
            <a:extLst xmlns:a="http://schemas.openxmlformats.org/drawingml/2006/main">
              <a:ext uri="{FF2B5EF4-FFF2-40B4-BE49-F238E27FC236}">
                <a16:creationId xmlns:a16="http://schemas.microsoft.com/office/drawing/2014/main" id="{73486222-962C-4AFD-8EDE-0954235BB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2F6FED"/>
                </a:solidFill>
              </a:defRPr>
            </a:pPr>
            <a:r>
              <a:rPr sz="900" b="1" i="0">
                <a:solidFill>
                  <a:srgbClr val="2F6FED"/>
                </a:solidFill>
              </a:rPr>
              <a:t>DISEÑO PRELIMINAR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8410CA90-C3C3-40C0-ABB8-8138FDF63B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53340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102A43"/>
                </a:solidFill>
              </a:defRPr>
            </a:pPr>
            <a:r>
              <a:rPr sz="2400" b="1" i="0">
                <a:solidFill>
                  <a:srgbClr val="102A43"/>
                </a:solidFill>
              </a:rPr>
              <a:t>El modelo guarda evidencia antes de calcular señales</a:t>
            </a:r>
          </a:p>
        </p:txBody>
      </p:sp>
      <p:sp>
        <p:nvSpPr>
          <p:cNvPr id="4" name="header-line-6">
            <a:extLst xmlns:a="http://schemas.openxmlformats.org/drawingml/2006/main">
              <a:ext uri="{FF2B5EF4-FFF2-40B4-BE49-F238E27FC236}">
                <a16:creationId xmlns:a16="http://schemas.microsoft.com/office/drawing/2014/main" id="{BA036864-06A1-4631-A877-A98C9D94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ED"/>
            </a:solidFill>
            <a:prstDash val="solid"/>
          </a:ln>
        </p:spPr>
      </p:sp>
      <p:sp>
        <p:nvSpPr>
          <p:cNvPr id="5" name="footer-6">
            <a:extLst xmlns:a="http://schemas.openxmlformats.org/drawingml/2006/main">
              <a:ext uri="{FF2B5EF4-FFF2-40B4-BE49-F238E27FC236}">
                <a16:creationId xmlns:a16="http://schemas.microsoft.com/office/drawing/2014/main" id="{195C9632-004D-49B1-B4C8-1446BCA2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4748B"/>
                </a:solidFill>
              </a:defRPr>
            </a:pPr>
            <a:r>
              <a:rPr sz="750" b="0" i="0">
                <a:solidFill>
                  <a:srgbClr val="64748B"/>
                </a:solidFill>
              </a:rPr>
              <a:t>ALUNZA · CAPSTONE 2026 · SEDE PUENTE ALTO</a:t>
            </a:r>
          </a:p>
        </p:txBody>
      </p:sp>
      <p:sp>
        <p:nvSpPr>
          <p:cNvPr id="6" name="page-6">
            <a:extLst xmlns:a="http://schemas.openxmlformats.org/drawingml/2006/main">
              <a:ext uri="{FF2B5EF4-FFF2-40B4-BE49-F238E27FC236}">
                <a16:creationId xmlns:a16="http://schemas.microsoft.com/office/drawing/2014/main" id="{29DD3BE9-12DA-4984-B841-E9E83599D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579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4748B"/>
                </a:solidFill>
              </a:defRPr>
            </a:pPr>
            <a:r>
              <a:rPr sz="825" b="0" i="0">
                <a:solidFill>
                  <a:srgbClr val="64748B"/>
                </a:solidFill>
              </a:rPr>
              <a:t>06</a:t>
            </a:r>
          </a:p>
        </p:txBody>
      </p:sp>
      <p:sp>
        <p:nvSpPr>
          <p:cNvPr id="7" name="model-lead">
            <a:extLst xmlns:a="http://schemas.openxmlformats.org/drawingml/2006/main">
              <a:ext uri="{FF2B5EF4-FFF2-40B4-BE49-F238E27FC236}">
                <a16:creationId xmlns:a16="http://schemas.microsoft.com/office/drawing/2014/main" id="{733166F7-BEF6-4F60-A8D3-4EBF345F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4748B"/>
                </a:solidFill>
              </a:defRPr>
            </a:pPr>
            <a:r>
              <a:rPr sz="1200" b="0" i="0">
                <a:solidFill>
                  <a:srgbClr val="64748B"/>
                </a:solidFill>
              </a:rPr>
              <a:t>Cardinalidades corregidas; los campos de auditoría sostienen aislamiento, idempotencia y revisión humana.</a:t>
            </a:r>
          </a:p>
        </p:txBody>
      </p:sp>
      <p:sp>
        <p:nvSpPr>
          <p:cNvPr id="8" name="entity-Organization">
            <a:extLst xmlns:a="http://schemas.openxmlformats.org/drawingml/2006/main">
              <a:ext uri="{FF2B5EF4-FFF2-40B4-BE49-F238E27FC236}">
                <a16:creationId xmlns:a16="http://schemas.microsoft.com/office/drawing/2014/main" id="{CA3545E5-40F9-4A94-B607-2A372F732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20002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entity-Organization-head">
            <a:extLst xmlns:a="http://schemas.openxmlformats.org/drawingml/2006/main">
              <a:ext uri="{FF2B5EF4-FFF2-40B4-BE49-F238E27FC236}">
                <a16:creationId xmlns:a16="http://schemas.microsoft.com/office/drawing/2014/main" id="{425A660D-0028-4544-8247-D4F7E1C7D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2000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B56"/>
          </a:solidFill>
          <a:ln xmlns:a="http://schemas.openxmlformats.org/drawingml/2006/main" w="0">
            <a:solidFill>
              <a:srgbClr val="183B56"/>
            </a:solidFill>
            <a:prstDash val="solid"/>
          </a:ln>
        </p:spPr>
      </p:sp>
      <p:sp>
        <p:nvSpPr>
          <p:cNvPr id="10" name="entity-Organization-title">
            <a:extLst xmlns:a="http://schemas.openxmlformats.org/drawingml/2006/main">
              <a:ext uri="{FF2B5EF4-FFF2-40B4-BE49-F238E27FC236}">
                <a16:creationId xmlns:a16="http://schemas.microsoft.com/office/drawing/2014/main" id="{F425AF35-7802-4527-A3AD-18ED16556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62150"/>
            <a:ext cx="1771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Organization</a:t>
            </a:r>
          </a:p>
        </p:txBody>
      </p:sp>
      <p:sp>
        <p:nvSpPr>
          <p:cNvPr id="11" name="entity-Organization-fields">
            <a:extLst xmlns:a="http://schemas.openxmlformats.org/drawingml/2006/main">
              <a:ext uri="{FF2B5EF4-FFF2-40B4-BE49-F238E27FC236}">
                <a16:creationId xmlns:a16="http://schemas.microsoft.com/office/drawing/2014/main" id="{1628ED05-852B-438A-BE52-894D3F54C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43150"/>
            <a:ext cx="1771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org_id · name</a:t>
            </a:r>
          </a:p>
        </p:txBody>
      </p:sp>
      <p:sp>
        <p:nvSpPr>
          <p:cNvPr id="12" name="entity-Class">
            <a:extLst xmlns:a="http://schemas.openxmlformats.org/drawingml/2006/main">
              <a:ext uri="{FF2B5EF4-FFF2-40B4-BE49-F238E27FC236}">
                <a16:creationId xmlns:a16="http://schemas.microsoft.com/office/drawing/2014/main" id="{0C73585B-AE52-4A10-BFA5-495D7EB47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885950"/>
            <a:ext cx="23812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entity-Class-head">
            <a:extLst xmlns:a="http://schemas.openxmlformats.org/drawingml/2006/main">
              <a:ext uri="{FF2B5EF4-FFF2-40B4-BE49-F238E27FC236}">
                <a16:creationId xmlns:a16="http://schemas.microsoft.com/office/drawing/2014/main" id="{EA818FC4-C108-4CFA-A6A3-9CFFB019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885950"/>
            <a:ext cx="2381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6C6"/>
          </a:solidFill>
          <a:ln xmlns:a="http://schemas.openxmlformats.org/drawingml/2006/main" w="0">
            <a:solidFill>
              <a:srgbClr val="4F86C6"/>
            </a:solidFill>
            <a:prstDash val="solid"/>
          </a:ln>
        </p:spPr>
      </p:sp>
      <p:sp>
        <p:nvSpPr>
          <p:cNvPr id="14" name="entity-Class-title">
            <a:extLst xmlns:a="http://schemas.openxmlformats.org/drawingml/2006/main">
              <a:ext uri="{FF2B5EF4-FFF2-40B4-BE49-F238E27FC236}">
                <a16:creationId xmlns:a16="http://schemas.microsoft.com/office/drawing/2014/main" id="{75C1C2A2-DFDA-4555-80B8-6D908952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962150"/>
            <a:ext cx="2152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Class</a:t>
            </a:r>
          </a:p>
        </p:txBody>
      </p:sp>
      <p:sp>
        <p:nvSpPr>
          <p:cNvPr id="15" name="entity-Class-fields">
            <a:extLst xmlns:a="http://schemas.openxmlformats.org/drawingml/2006/main">
              <a:ext uri="{FF2B5EF4-FFF2-40B4-BE49-F238E27FC236}">
                <a16:creationId xmlns:a16="http://schemas.microsoft.com/office/drawing/2014/main" id="{96CC9474-B5DA-483B-82C3-35E58FE8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43150"/>
            <a:ext cx="2152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class_id · org_id · course_id</a:t>
            </a:r>
          </a:p>
          <a:p xmlns:a="http://schemas.openxmlformats.org/drawingml/2006/main">
            <a:pPr algn="l"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title · join_code</a:t>
            </a:r>
          </a:p>
        </p:txBody>
      </p:sp>
      <p:sp>
        <p:nvSpPr>
          <p:cNvPr id="16" name="entity-ClassMember">
            <a:extLst xmlns:a="http://schemas.openxmlformats.org/drawingml/2006/main">
              <a:ext uri="{FF2B5EF4-FFF2-40B4-BE49-F238E27FC236}">
                <a16:creationId xmlns:a16="http://schemas.microsoft.com/office/drawing/2014/main" id="{F831C059-8CDA-4E25-AF9A-B6D4E770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885950"/>
            <a:ext cx="23812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entity-ClassMember-head">
            <a:extLst xmlns:a="http://schemas.openxmlformats.org/drawingml/2006/main">
              <a:ext uri="{FF2B5EF4-FFF2-40B4-BE49-F238E27FC236}">
                <a16:creationId xmlns:a16="http://schemas.microsoft.com/office/drawing/2014/main" id="{B49F8B93-76BD-4E0B-AE67-96E0CEBEB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885950"/>
            <a:ext cx="2381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A8C"/>
          </a:solidFill>
          <a:ln xmlns:a="http://schemas.openxmlformats.org/drawingml/2006/main" w="0">
            <a:solidFill>
              <a:srgbClr val="159A8C"/>
            </a:solidFill>
            <a:prstDash val="solid"/>
          </a:ln>
        </p:spPr>
      </p:sp>
      <p:sp>
        <p:nvSpPr>
          <p:cNvPr id="18" name="entity-ClassMember-title">
            <a:extLst xmlns:a="http://schemas.openxmlformats.org/drawingml/2006/main">
              <a:ext uri="{FF2B5EF4-FFF2-40B4-BE49-F238E27FC236}">
                <a16:creationId xmlns:a16="http://schemas.microsoft.com/office/drawing/2014/main" id="{AB496BA1-43A3-4655-96FE-787D411B4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62150"/>
            <a:ext cx="2152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ClassMember</a:t>
            </a:r>
          </a:p>
        </p:txBody>
      </p:sp>
      <p:sp>
        <p:nvSpPr>
          <p:cNvPr id="19" name="entity-ClassMember-fields">
            <a:extLst xmlns:a="http://schemas.openxmlformats.org/drawingml/2006/main">
              <a:ext uri="{FF2B5EF4-FFF2-40B4-BE49-F238E27FC236}">
                <a16:creationId xmlns:a16="http://schemas.microsoft.com/office/drawing/2014/main" id="{D4BE3B0E-6E90-4F73-BD57-24F498F8D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343150"/>
            <a:ext cx="2152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class_id · user_id</a:t>
            </a:r>
          </a:p>
          <a:p xmlns:a="http://schemas.openxmlformats.org/drawingml/2006/main">
            <a:pPr algn="l"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member_role · status</a:t>
            </a:r>
          </a:p>
        </p:txBody>
      </p:sp>
      <p:sp>
        <p:nvSpPr>
          <p:cNvPr id="20" name="entity-User">
            <a:extLst xmlns:a="http://schemas.openxmlformats.org/drawingml/2006/main">
              <a:ext uri="{FF2B5EF4-FFF2-40B4-BE49-F238E27FC236}">
                <a16:creationId xmlns:a16="http://schemas.microsoft.com/office/drawing/2014/main" id="{23F4D930-B316-4E1A-84C5-36978E78C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3812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entity-User-head">
            <a:extLst xmlns:a="http://schemas.openxmlformats.org/drawingml/2006/main">
              <a:ext uri="{FF2B5EF4-FFF2-40B4-BE49-F238E27FC236}">
                <a16:creationId xmlns:a16="http://schemas.microsoft.com/office/drawing/2014/main" id="{E0FF5710-8649-44CB-8B66-7F1A0D0E7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381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A8C"/>
          </a:solidFill>
          <a:ln xmlns:a="http://schemas.openxmlformats.org/drawingml/2006/main" w="0">
            <a:solidFill>
              <a:srgbClr val="159A8C"/>
            </a:solidFill>
            <a:prstDash val="solid"/>
          </a:ln>
        </p:spPr>
      </p:sp>
      <p:sp>
        <p:nvSpPr>
          <p:cNvPr id="22" name="entity-User-title">
            <a:extLst xmlns:a="http://schemas.openxmlformats.org/drawingml/2006/main">
              <a:ext uri="{FF2B5EF4-FFF2-40B4-BE49-F238E27FC236}">
                <a16:creationId xmlns:a16="http://schemas.microsoft.com/office/drawing/2014/main" id="{6E1DAB5E-6D82-4F8E-919C-30D15464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962150"/>
            <a:ext cx="2152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23" name="entity-User-fields">
            <a:extLst xmlns:a="http://schemas.openxmlformats.org/drawingml/2006/main">
              <a:ext uri="{FF2B5EF4-FFF2-40B4-BE49-F238E27FC236}">
                <a16:creationId xmlns:a16="http://schemas.microsoft.com/office/drawing/2014/main" id="{CAE040EB-E32F-4F03-91BD-DB983882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343150"/>
            <a:ext cx="2152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user_id · name · email</a:t>
            </a:r>
          </a:p>
          <a:p xmlns:a="http://schemas.openxmlformats.org/drawingml/2006/main">
            <a:pPr algn="l"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global_role · active</a:t>
            </a:r>
          </a:p>
        </p:txBody>
      </p:sp>
      <p:sp>
        <p:nvSpPr>
          <p:cNvPr id="24" name="entity-Activity">
            <a:extLst xmlns:a="http://schemas.openxmlformats.org/drawingml/2006/main">
              <a:ext uri="{FF2B5EF4-FFF2-40B4-BE49-F238E27FC236}">
                <a16:creationId xmlns:a16="http://schemas.microsoft.com/office/drawing/2014/main" id="{10F4BA60-941C-4674-A664-4C51706A4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23812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entity-Activity-head">
            <a:extLst xmlns:a="http://schemas.openxmlformats.org/drawingml/2006/main">
              <a:ext uri="{FF2B5EF4-FFF2-40B4-BE49-F238E27FC236}">
                <a16:creationId xmlns:a16="http://schemas.microsoft.com/office/drawing/2014/main" id="{7BE18B4F-1081-4BAD-A57E-5D3ADB62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2381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6C6"/>
          </a:solidFill>
          <a:ln xmlns:a="http://schemas.openxmlformats.org/drawingml/2006/main" w="0">
            <a:solidFill>
              <a:srgbClr val="4F86C6"/>
            </a:solidFill>
            <a:prstDash val="solid"/>
          </a:ln>
        </p:spPr>
      </p:sp>
      <p:sp>
        <p:nvSpPr>
          <p:cNvPr id="26" name="entity-Activity-title">
            <a:extLst xmlns:a="http://schemas.openxmlformats.org/drawingml/2006/main">
              <a:ext uri="{FF2B5EF4-FFF2-40B4-BE49-F238E27FC236}">
                <a16:creationId xmlns:a16="http://schemas.microsoft.com/office/drawing/2014/main" id="{76798CFA-03FF-48C4-8107-58E952B7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67100"/>
            <a:ext cx="2152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Activity</a:t>
            </a:r>
          </a:p>
        </p:txBody>
      </p:sp>
      <p:sp>
        <p:nvSpPr>
          <p:cNvPr id="27" name="entity-Activity-fields">
            <a:extLst xmlns:a="http://schemas.openxmlformats.org/drawingml/2006/main">
              <a:ext uri="{FF2B5EF4-FFF2-40B4-BE49-F238E27FC236}">
                <a16:creationId xmlns:a16="http://schemas.microsoft.com/office/drawing/2014/main" id="{60A79E94-74A6-40AF-8C45-63CEB08A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48100"/>
            <a:ext cx="2152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activity_id · class_id · status</a:t>
            </a:r>
          </a:p>
          <a:p xmlns:a="http://schemas.openxmlformats.org/drawingml/2006/main">
            <a:pPr algn="l"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published_at · due_at · closed_at</a:t>
            </a:r>
          </a:p>
        </p:txBody>
      </p:sp>
      <p:sp>
        <p:nvSpPr>
          <p:cNvPr id="28" name="entity-Attempt">
            <a:extLst xmlns:a="http://schemas.openxmlformats.org/drawingml/2006/main">
              <a:ext uri="{FF2B5EF4-FFF2-40B4-BE49-F238E27FC236}">
                <a16:creationId xmlns:a16="http://schemas.microsoft.com/office/drawing/2014/main" id="{23E7B82F-E06F-4362-B74C-F2BEAF7C8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295650"/>
            <a:ext cx="2857500" cy="137160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entity-Attempt-head">
            <a:extLst xmlns:a="http://schemas.openxmlformats.org/drawingml/2006/main">
              <a:ext uri="{FF2B5EF4-FFF2-40B4-BE49-F238E27FC236}">
                <a16:creationId xmlns:a16="http://schemas.microsoft.com/office/drawing/2014/main" id="{E2CAE3C5-C964-4011-967A-2673DFC11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295650"/>
            <a:ext cx="285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A8C"/>
          </a:solidFill>
          <a:ln xmlns:a="http://schemas.openxmlformats.org/drawingml/2006/main" w="0">
            <a:solidFill>
              <a:srgbClr val="159A8C"/>
            </a:solidFill>
            <a:prstDash val="solid"/>
          </a:ln>
        </p:spPr>
      </p:sp>
      <p:sp>
        <p:nvSpPr>
          <p:cNvPr id="30" name="entity-Attempt-title">
            <a:extLst xmlns:a="http://schemas.openxmlformats.org/drawingml/2006/main">
              <a:ext uri="{FF2B5EF4-FFF2-40B4-BE49-F238E27FC236}">
                <a16:creationId xmlns:a16="http://schemas.microsoft.com/office/drawing/2014/main" id="{84F3108C-AAAF-4D3B-9B06-CAA927E9C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371850"/>
            <a:ext cx="2628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Attempt</a:t>
            </a:r>
          </a:p>
        </p:txBody>
      </p:sp>
      <p:sp>
        <p:nvSpPr>
          <p:cNvPr id="31" name="entity-Attempt-fields">
            <a:extLst xmlns:a="http://schemas.openxmlformats.org/drawingml/2006/main">
              <a:ext uri="{FF2B5EF4-FFF2-40B4-BE49-F238E27FC236}">
                <a16:creationId xmlns:a16="http://schemas.microsoft.com/office/drawing/2014/main" id="{C50574ED-C0D6-4F22-8CC3-31B3D2193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752850"/>
            <a:ext cx="26289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attempt_id · user/activity/exercise_id</a:t>
            </a:r>
          </a:p>
          <a:p xmlns:a="http://schemas.openxmlformats.org/drawingml/2006/main">
            <a:pPr algn="l"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code · outcome · tests · status</a:t>
            </a:r>
          </a:p>
          <a:p xmlns:a="http://schemas.openxmlformats.org/drawingml/2006/main">
            <a:pPr algn="l"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operation_id · created_at</a:t>
            </a:r>
          </a:p>
        </p:txBody>
      </p:sp>
      <p:sp>
        <p:nvSpPr>
          <p:cNvPr id="32" name="entity-Exercise">
            <a:extLst xmlns:a="http://schemas.openxmlformats.org/drawingml/2006/main">
              <a:ext uri="{FF2B5EF4-FFF2-40B4-BE49-F238E27FC236}">
                <a16:creationId xmlns:a16="http://schemas.microsoft.com/office/drawing/2014/main" id="{E82B8772-5813-4F4C-9634-B8F7944E6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90900"/>
            <a:ext cx="26479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entity-Exercise-head">
            <a:extLst xmlns:a="http://schemas.openxmlformats.org/drawingml/2006/main">
              <a:ext uri="{FF2B5EF4-FFF2-40B4-BE49-F238E27FC236}">
                <a16:creationId xmlns:a16="http://schemas.microsoft.com/office/drawing/2014/main" id="{D7886A4C-2579-4B71-8FC2-2D5D759E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90900"/>
            <a:ext cx="2647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3C9"/>
          </a:solidFill>
          <a:ln xmlns:a="http://schemas.openxmlformats.org/drawingml/2006/main" w="0">
            <a:solidFill>
              <a:srgbClr val="7563C9"/>
            </a:solidFill>
            <a:prstDash val="solid"/>
          </a:ln>
        </p:spPr>
      </p:sp>
      <p:sp>
        <p:nvSpPr>
          <p:cNvPr id="34" name="entity-Exercise-title">
            <a:extLst xmlns:a="http://schemas.openxmlformats.org/drawingml/2006/main">
              <a:ext uri="{FF2B5EF4-FFF2-40B4-BE49-F238E27FC236}">
                <a16:creationId xmlns:a16="http://schemas.microsoft.com/office/drawing/2014/main" id="{9FB7FD84-225A-4B70-8991-07CD4752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671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Exercise</a:t>
            </a:r>
          </a:p>
        </p:txBody>
      </p:sp>
      <p:sp>
        <p:nvSpPr>
          <p:cNvPr id="35" name="entity-Exercise-fields">
            <a:extLst xmlns:a="http://schemas.openxmlformats.org/drawingml/2006/main">
              <a:ext uri="{FF2B5EF4-FFF2-40B4-BE49-F238E27FC236}">
                <a16:creationId xmlns:a16="http://schemas.microsoft.com/office/drawing/2014/main" id="{CFBF1AA5-2B5C-448D-B987-CCA5F21D8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48100"/>
            <a:ext cx="2419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exercise_id · version · template</a:t>
            </a:r>
          </a:p>
          <a:p xmlns:a="http://schemas.openxmlformats.org/drawingml/2006/main">
            <a:pPr algn="l"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visible/hidden tests · limits · concepts</a:t>
            </a:r>
          </a:p>
        </p:txBody>
      </p:sp>
      <p:sp>
        <p:nvSpPr>
          <p:cNvPr id="36" name="entity-Document + Chunk">
            <a:extLst xmlns:a="http://schemas.openxmlformats.org/drawingml/2006/main">
              <a:ext uri="{FF2B5EF4-FFF2-40B4-BE49-F238E27FC236}">
                <a16:creationId xmlns:a16="http://schemas.microsoft.com/office/drawing/2014/main" id="{E7CA0E18-CF27-451B-A0C2-50118B98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32766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7" name="entity-Document + Chunk-head">
            <a:extLst xmlns:a="http://schemas.openxmlformats.org/drawingml/2006/main">
              <a:ext uri="{FF2B5EF4-FFF2-40B4-BE49-F238E27FC236}">
                <a16:creationId xmlns:a16="http://schemas.microsoft.com/office/drawing/2014/main" id="{4599C406-0D99-4C54-AD03-B389CB1C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3276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63E"/>
          </a:solidFill>
          <a:ln xmlns:a="http://schemas.openxmlformats.org/drawingml/2006/main" w="0">
            <a:solidFill>
              <a:srgbClr val="F4B63E"/>
            </a:solidFill>
            <a:prstDash val="solid"/>
          </a:ln>
        </p:spPr>
      </p:sp>
      <p:sp>
        <p:nvSpPr>
          <p:cNvPr id="38" name="entity-Document + Chunk-title">
            <a:extLst xmlns:a="http://schemas.openxmlformats.org/drawingml/2006/main">
              <a:ext uri="{FF2B5EF4-FFF2-40B4-BE49-F238E27FC236}">
                <a16:creationId xmlns:a16="http://schemas.microsoft.com/office/drawing/2014/main" id="{C4346261-EA44-4E36-B386-F3CDD392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673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Document + Chunk</a:t>
            </a:r>
          </a:p>
        </p:txBody>
      </p:sp>
      <p:sp>
        <p:nvSpPr>
          <p:cNvPr id="39" name="entity-Document + Chunk-fields">
            <a:extLst xmlns:a="http://schemas.openxmlformats.org/drawingml/2006/main">
              <a:ext uri="{FF2B5EF4-FFF2-40B4-BE49-F238E27FC236}">
                <a16:creationId xmlns:a16="http://schemas.microsoft.com/office/drawing/2014/main" id="{1D56EE7A-4088-4E44-B67A-8EC76C0BD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48300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document_id · class_id · visibility · status</a:t>
            </a:r>
          </a:p>
          <a:p xmlns:a="http://schemas.openxmlformats.org/drawingml/2006/main">
            <a:pPr algn="l"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chunk_id · page/section · embedding_ref</a:t>
            </a:r>
          </a:p>
        </p:txBody>
      </p:sp>
      <p:sp>
        <p:nvSpPr>
          <p:cNvPr id="40" name="entity-Signal">
            <a:extLst xmlns:a="http://schemas.openxmlformats.org/drawingml/2006/main">
              <a:ext uri="{FF2B5EF4-FFF2-40B4-BE49-F238E27FC236}">
                <a16:creationId xmlns:a16="http://schemas.microsoft.com/office/drawing/2014/main" id="{44774433-F057-4713-B8ED-FD4AD227F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991100"/>
            <a:ext cx="295275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1" name="entity-Signal-head">
            <a:extLst xmlns:a="http://schemas.openxmlformats.org/drawingml/2006/main">
              <a:ext uri="{FF2B5EF4-FFF2-40B4-BE49-F238E27FC236}">
                <a16:creationId xmlns:a16="http://schemas.microsoft.com/office/drawing/2014/main" id="{C21280B3-BCB9-4D97-A134-DF58E5BE6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991100"/>
            <a:ext cx="2952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5C6B"/>
          </a:solidFill>
          <a:ln xmlns:a="http://schemas.openxmlformats.org/drawingml/2006/main" w="0">
            <a:solidFill>
              <a:srgbClr val="DE5C6B"/>
            </a:solidFill>
            <a:prstDash val="solid"/>
          </a:ln>
        </p:spPr>
      </p:sp>
      <p:sp>
        <p:nvSpPr>
          <p:cNvPr id="42" name="entity-Signal-title">
            <a:extLst xmlns:a="http://schemas.openxmlformats.org/drawingml/2006/main">
              <a:ext uri="{FF2B5EF4-FFF2-40B4-BE49-F238E27FC236}">
                <a16:creationId xmlns:a16="http://schemas.microsoft.com/office/drawing/2014/main" id="{537BDB44-4C4C-4006-94E7-26A301E71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0673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Signal</a:t>
            </a:r>
          </a:p>
        </p:txBody>
      </p:sp>
      <p:sp>
        <p:nvSpPr>
          <p:cNvPr id="43" name="entity-Signal-fields">
            <a:extLst xmlns:a="http://schemas.openxmlformats.org/drawingml/2006/main">
              <a:ext uri="{FF2B5EF4-FFF2-40B4-BE49-F238E27FC236}">
                <a16:creationId xmlns:a16="http://schemas.microsoft.com/office/drawing/2014/main" id="{FE65BC74-C0BB-4210-804D-7D92F3C1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448300"/>
            <a:ext cx="2724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class/user · type · rule_version</a:t>
            </a:r>
          </a:p>
          <a:p xmlns:a="http://schemas.openxmlformats.org/drawingml/2006/main">
            <a:pPr algn="l"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evidence_json · status · generated_at</a:t>
            </a:r>
          </a:p>
          <a:p xmlns:a="http://schemas.openxmlformats.org/drawingml/2006/main">
            <a:pPr algn="l"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reviewed_at/by</a:t>
            </a:r>
          </a:p>
        </p:txBody>
      </p:sp>
      <p:sp>
        <p:nvSpPr>
          <p:cNvPr id="44" name="entity-LearningEvent">
            <a:extLst xmlns:a="http://schemas.openxmlformats.org/drawingml/2006/main">
              <a:ext uri="{FF2B5EF4-FFF2-40B4-BE49-F238E27FC236}">
                <a16:creationId xmlns:a16="http://schemas.microsoft.com/office/drawing/2014/main" id="{8FEB5BED-EEC6-462E-9940-DD3F091E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991100"/>
            <a:ext cx="321945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5" name="entity-LearningEvent-head">
            <a:extLst xmlns:a="http://schemas.openxmlformats.org/drawingml/2006/main">
              <a:ext uri="{FF2B5EF4-FFF2-40B4-BE49-F238E27FC236}">
                <a16:creationId xmlns:a16="http://schemas.microsoft.com/office/drawing/2014/main" id="{89E81584-F112-41F0-80FD-547F573EB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991100"/>
            <a:ext cx="3219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A96B"/>
          </a:solidFill>
          <a:ln xmlns:a="http://schemas.openxmlformats.org/drawingml/2006/main" w="0">
            <a:solidFill>
              <a:srgbClr val="2FA96B"/>
            </a:solidFill>
            <a:prstDash val="solid"/>
          </a:ln>
        </p:spPr>
      </p:sp>
      <p:sp>
        <p:nvSpPr>
          <p:cNvPr id="46" name="entity-LearningEvent-title">
            <a:extLst xmlns:a="http://schemas.openxmlformats.org/drawingml/2006/main">
              <a:ext uri="{FF2B5EF4-FFF2-40B4-BE49-F238E27FC236}">
                <a16:creationId xmlns:a16="http://schemas.microsoft.com/office/drawing/2014/main" id="{C274C13A-A9AD-48A7-87F0-42660615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067300"/>
            <a:ext cx="2990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LearningEvent</a:t>
            </a:r>
          </a:p>
        </p:txBody>
      </p:sp>
      <p:sp>
        <p:nvSpPr>
          <p:cNvPr id="47" name="entity-LearningEvent-fields">
            <a:extLst xmlns:a="http://schemas.openxmlformats.org/drawingml/2006/main">
              <a:ext uri="{FF2B5EF4-FFF2-40B4-BE49-F238E27FC236}">
                <a16:creationId xmlns:a16="http://schemas.microsoft.com/office/drawing/2014/main" id="{A528B004-EDBD-4E91-AA14-CF54CEEEA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4483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event_id · attempt_id · event_type · created_at</a:t>
            </a:r>
          </a:p>
        </p:txBody>
      </p:sp>
      <p:cxnSp>
        <p:nvCxnSpPr>
          <p:cNvPr id="280" name=""/>
          <p:cNvCxnSpPr>
            <a:stCxn xmlns:a="http://schemas.openxmlformats.org/drawingml/2006/main" id="8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2609850" y="246697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F86C6"/>
            </a:solidFill>
            <a:prstDash val="solid"/>
            <a:tailEnd type="arrow" w="sm" len="sm"/>
          </a:ln>
        </p:spPr>
      </p:cxnSp>
      <p:sp>
        <p:nvSpPr>
          <p:cNvPr id="49" name="link-label-0">
            <a:extLst xmlns:a="http://schemas.openxmlformats.org/drawingml/2006/main">
              <a:ext uri="{FF2B5EF4-FFF2-40B4-BE49-F238E27FC236}">
                <a16:creationId xmlns:a16="http://schemas.microsoft.com/office/drawing/2014/main" id="{E7BCEAE3-1794-41F8-9578-2730F14E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6954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4F86C6"/>
                </a:solidFill>
              </a:defRPr>
            </a:pPr>
            <a:r>
              <a:rPr sz="900" b="1" i="0">
                <a:solidFill>
                  <a:srgbClr val="4F86C6"/>
                </a:solidFill>
              </a:rPr>
              <a:t>1:N</a:t>
            </a:r>
          </a:p>
        </p:txBody>
      </p:sp>
      <p:cxnSp>
        <p:nvCxnSpPr>
          <p:cNvPr id="282" name=""/>
          <p:cNvCxnSpPr>
            <a:stCxn xmlns:a="http://schemas.openxmlformats.org/drawingml/2006/main" id="12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5295900" y="246697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9A8C"/>
            </a:solidFill>
            <a:prstDash val="solid"/>
            <a:tailEnd type="arrow" w="sm" len="sm"/>
          </a:ln>
        </p:spPr>
      </p:cxnSp>
      <p:sp>
        <p:nvSpPr>
          <p:cNvPr id="51" name="link-label-1">
            <a:extLst xmlns:a="http://schemas.openxmlformats.org/drawingml/2006/main">
              <a:ext uri="{FF2B5EF4-FFF2-40B4-BE49-F238E27FC236}">
                <a16:creationId xmlns:a16="http://schemas.microsoft.com/office/drawing/2014/main" id="{C85598FC-414C-4F80-815F-9D82EE6B3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6954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159A8C"/>
                </a:solidFill>
              </a:defRPr>
            </a:pPr>
            <a:r>
              <a:rPr sz="900" b="1" i="0">
                <a:solidFill>
                  <a:srgbClr val="159A8C"/>
                </a:solidFill>
              </a:rPr>
              <a:t>1:N</a:t>
            </a:r>
          </a:p>
        </p:txBody>
      </p:sp>
      <p:cxnSp>
        <p:nvCxnSpPr>
          <p:cNvPr id="284" name=""/>
          <p:cNvCxnSpPr>
            <a:stCxn xmlns:a="http://schemas.openxmlformats.org/drawingml/2006/main" id="20" idx="1"/>
            <a:endCxn xmlns:a="http://schemas.openxmlformats.org/drawingml/2006/main" id="16" idx="3"/>
          </p:cNvCxnSpPr>
          <p:nvPr/>
        </p:nvCxnSpPr>
        <p:spPr>
          <a:xfrm xmlns:a="http://schemas.openxmlformats.org/drawingml/2006/main" flipH="1">
            <a:off x="7981950" y="246697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9A8C"/>
            </a:solidFill>
            <a:prstDash val="solid"/>
            <a:tailEnd type="arrow" w="sm" len="sm"/>
          </a:ln>
        </p:spPr>
      </p:cxnSp>
      <p:sp>
        <p:nvSpPr>
          <p:cNvPr id="53" name="link-label-2">
            <a:extLst xmlns:a="http://schemas.openxmlformats.org/drawingml/2006/main">
              <a:ext uri="{FF2B5EF4-FFF2-40B4-BE49-F238E27FC236}">
                <a16:creationId xmlns:a16="http://schemas.microsoft.com/office/drawing/2014/main" id="{EC4667D2-F3B3-44F0-AF19-6C32D6A4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6954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159A8C"/>
                </a:solidFill>
              </a:defRPr>
            </a:pPr>
            <a:r>
              <a:rPr sz="900" b="1" i="0">
                <a:solidFill>
                  <a:srgbClr val="159A8C"/>
                </a:solidFill>
              </a:rPr>
              <a:t>1:N</a:t>
            </a:r>
          </a:p>
        </p:txBody>
      </p:sp>
      <p:cxnSp>
        <p:nvCxnSpPr>
          <p:cNvPr id="286" name=""/>
          <p:cNvCxnSpPr>
            <a:stCxn xmlns:a="http://schemas.openxmlformats.org/drawingml/2006/main" id="24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2990850" y="3971925"/>
            <a:ext cx="228600" cy="95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F86C6"/>
            </a:solidFill>
            <a:prstDash val="solid"/>
            <a:tailEnd type="arrow" w="sm" len="sm"/>
          </a:ln>
        </p:spPr>
      </p:cxnSp>
      <p:cxnSp>
        <p:nvCxnSpPr>
          <p:cNvPr id="287" name=""/>
          <p:cNvCxnSpPr>
            <a:stCxn xmlns:a="http://schemas.openxmlformats.org/drawingml/2006/main" id="32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6076950" y="3971925"/>
            <a:ext cx="247650" cy="95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7563C9"/>
            </a:solidFill>
            <a:prstDash val="solid"/>
            <a:tailEnd type="arrow" w="sm" len="sm"/>
          </a:ln>
        </p:spPr>
      </p:cxnSp>
      <p:cxnSp>
        <p:nvCxnSpPr>
          <p:cNvPr id="288" name=""/>
          <p:cNvCxnSpPr>
            <a:stCxn xmlns:a="http://schemas.openxmlformats.org/drawingml/2006/main" id="28" idx="2"/>
            <a:endCxn xmlns:a="http://schemas.openxmlformats.org/drawingml/2006/main" id="44" idx="0"/>
          </p:cNvCxnSpPr>
          <p:nvPr/>
        </p:nvCxnSpPr>
        <p:spPr>
          <a:xfrm xmlns:a="http://schemas.openxmlformats.org/drawingml/2006/main">
            <a:off x="4648200" y="4667250"/>
            <a:ext cx="4410075" cy="3238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FA96B"/>
            </a:solidFill>
            <a:prstDash val="solid"/>
            <a:tailEnd type="arrow" w="sm" len="sm"/>
          </a:ln>
        </p:spPr>
      </p:cxnSp>
      <p:cxnSp>
        <p:nvCxnSpPr>
          <p:cNvPr id="289" name=""/>
          <p:cNvCxnSpPr>
            <a:stCxn xmlns:a="http://schemas.openxmlformats.org/drawingml/2006/main" id="12" idx="2"/>
            <a:endCxn xmlns:a="http://schemas.openxmlformats.org/drawingml/2006/main" id="36" idx="0"/>
          </p:cNvCxnSpPr>
          <p:nvPr/>
        </p:nvCxnSpPr>
        <p:spPr>
          <a:xfrm xmlns:a="http://schemas.openxmlformats.org/drawingml/2006/main" flipH="1">
            <a:off x="2247900" y="3048000"/>
            <a:ext cx="1857375" cy="19431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F4B63E"/>
            </a:solidFill>
            <a:prstDash val="solid"/>
            <a:tailEnd type="arrow" w="sm" len="sm"/>
          </a:ln>
        </p:spPr>
      </p:cxnSp>
      <p:cxnSp>
        <p:nvCxnSpPr>
          <p:cNvPr id="290" name=""/>
          <p:cNvCxnSpPr>
            <a:stCxn xmlns:a="http://schemas.openxmlformats.org/drawingml/2006/main" id="28" idx="2"/>
            <a:endCxn xmlns:a="http://schemas.openxmlformats.org/drawingml/2006/main" id="40" idx="0"/>
          </p:cNvCxnSpPr>
          <p:nvPr/>
        </p:nvCxnSpPr>
        <p:spPr>
          <a:xfrm xmlns:a="http://schemas.openxmlformats.org/drawingml/2006/main">
            <a:off x="4648200" y="4667250"/>
            <a:ext cx="1019175" cy="3238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DE5C6B"/>
            </a:solidFill>
            <a:prstDash val="solid"/>
            <a:tailEnd type="arrow" w="sm" len="sm"/>
          </a:ln>
        </p:spPr>
      </p:cxnSp>
    </p:spTree>
    <p:extLst>
      <p:ext uri="{BB962C8B-B14F-4D97-AF65-F5344CB8AC3E}">
        <p14:creationId xmlns:p14="http://schemas.microsoft.com/office/powerpoint/2010/main" val="7618911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rail-7">
            <a:extLst xmlns:a="http://schemas.openxmlformats.org/drawingml/2006/main">
              <a:ext uri="{FF2B5EF4-FFF2-40B4-BE49-F238E27FC236}">
                <a16:creationId xmlns:a16="http://schemas.microsoft.com/office/drawing/2014/main" id="{7042FE2F-E948-438A-8A33-521EA116A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2" name="kicker-7">
            <a:extLst xmlns:a="http://schemas.openxmlformats.org/drawingml/2006/main">
              <a:ext uri="{FF2B5EF4-FFF2-40B4-BE49-F238E27FC236}">
                <a16:creationId xmlns:a16="http://schemas.microsoft.com/office/drawing/2014/main" id="{A97A9557-C8A2-4D67-916D-F7C812477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2F6FED"/>
                </a:solidFill>
              </a:defRPr>
            </a:pPr>
            <a:r>
              <a:rPr sz="900" b="1" i="0">
                <a:solidFill>
                  <a:srgbClr val="2F6FED"/>
                </a:solidFill>
              </a:rPr>
              <a:t>MAPA FUNCIONAL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9BA58EE6-FBAC-4556-9CD7-2CADF881CF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53340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102A43"/>
                </a:solidFill>
              </a:defRPr>
            </a:pPr>
            <a:r>
              <a:rPr sz="2400" b="1" i="0">
                <a:solidFill>
                  <a:srgbClr val="102A43"/>
                </a:solidFill>
              </a:rPr>
              <a:t>Tres roles operan una plataforma gobernada y trazable</a:t>
            </a:r>
          </a:p>
        </p:txBody>
      </p:sp>
      <p:sp>
        <p:nvSpPr>
          <p:cNvPr id="4" name="header-line-7">
            <a:extLst xmlns:a="http://schemas.openxmlformats.org/drawingml/2006/main">
              <a:ext uri="{FF2B5EF4-FFF2-40B4-BE49-F238E27FC236}">
                <a16:creationId xmlns:a16="http://schemas.microsoft.com/office/drawing/2014/main" id="{71795CAE-7EB2-4F54-AD87-A47977602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ED"/>
            </a:solidFill>
            <a:prstDash val="solid"/>
          </a:ln>
        </p:spPr>
      </p:sp>
      <p:sp>
        <p:nvSpPr>
          <p:cNvPr id="5" name="footer-7">
            <a:extLst xmlns:a="http://schemas.openxmlformats.org/drawingml/2006/main">
              <a:ext uri="{FF2B5EF4-FFF2-40B4-BE49-F238E27FC236}">
                <a16:creationId xmlns:a16="http://schemas.microsoft.com/office/drawing/2014/main" id="{974A7261-3309-4758-83AD-2BAEAEE3A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4748B"/>
                </a:solidFill>
              </a:defRPr>
            </a:pPr>
            <a:r>
              <a:rPr sz="750" b="0" i="0">
                <a:solidFill>
                  <a:srgbClr val="64748B"/>
                </a:solidFill>
              </a:rPr>
              <a:t>ALUNZA · CAPSTONE 2026 · SEDE PUENTE ALTO</a:t>
            </a:r>
          </a:p>
        </p:txBody>
      </p:sp>
      <p:sp>
        <p:nvSpPr>
          <p:cNvPr id="6" name="page-7">
            <a:extLst xmlns:a="http://schemas.openxmlformats.org/drawingml/2006/main">
              <a:ext uri="{FF2B5EF4-FFF2-40B4-BE49-F238E27FC236}">
                <a16:creationId xmlns:a16="http://schemas.microsoft.com/office/drawing/2014/main" id="{64591761-E89F-41CC-A6D3-1F3EC2B28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579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4748B"/>
                </a:solidFill>
              </a:defRPr>
            </a:pPr>
            <a:r>
              <a:rPr sz="825" b="0" i="0">
                <a:solidFill>
                  <a:srgbClr val="64748B"/>
                </a:solidFill>
              </a:rPr>
              <a:t>07</a:t>
            </a:r>
          </a:p>
        </p:txBody>
      </p:sp>
      <p:sp>
        <p:nvSpPr>
          <p:cNvPr id="7" name="functional-lead">
            <a:extLst xmlns:a="http://schemas.openxmlformats.org/drawingml/2006/main">
              <a:ext uri="{FF2B5EF4-FFF2-40B4-BE49-F238E27FC236}">
                <a16:creationId xmlns:a16="http://schemas.microsoft.com/office/drawing/2014/main" id="{A8A2A508-672B-4C70-954F-F7C7B3339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4748B"/>
                </a:solidFill>
              </a:defRPr>
            </a:pPr>
            <a:r>
              <a:rPr sz="1200" b="0" i="0">
                <a:solidFill>
                  <a:srgbClr val="64748B"/>
                </a:solidFill>
              </a:rPr>
              <a:t>Administrador, profesor y estudiante comparten autorización, aislamiento institucional y evidencia auditable.</a:t>
            </a:r>
          </a:p>
        </p:txBody>
      </p:sp>
      <p:sp>
        <p:nvSpPr>
          <p:cNvPr id="8" name="actor-admin-bg">
            <a:extLst xmlns:a="http://schemas.openxmlformats.org/drawingml/2006/main">
              <a:ext uri="{FF2B5EF4-FFF2-40B4-BE49-F238E27FC236}">
                <a16:creationId xmlns:a16="http://schemas.microsoft.com/office/drawing/2014/main" id="{EF400E6D-D1A5-4427-98DE-F0B60953A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3371850" cy="3619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actor-admin-band">
            <a:extLst xmlns:a="http://schemas.openxmlformats.org/drawingml/2006/main">
              <a:ext uri="{FF2B5EF4-FFF2-40B4-BE49-F238E27FC236}">
                <a16:creationId xmlns:a16="http://schemas.microsoft.com/office/drawing/2014/main" id="{98E1DCDA-C5B7-421F-B240-D61AE1370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3371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solidFill>
              <a:srgbClr val="EAF2FF"/>
            </a:solidFill>
            <a:prstDash val="solid"/>
          </a:ln>
        </p:spPr>
      </p:sp>
      <p:sp>
        <p:nvSpPr>
          <p:cNvPr id="10" name="actor-admin-accent">
            <a:extLst xmlns:a="http://schemas.openxmlformats.org/drawingml/2006/main">
              <a:ext uri="{FF2B5EF4-FFF2-40B4-BE49-F238E27FC236}">
                <a16:creationId xmlns:a16="http://schemas.microsoft.com/office/drawing/2014/main" id="{1792849F-9801-4338-B0CC-9D6948B29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66675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11" name="actor-admin-title">
            <a:extLst xmlns:a="http://schemas.openxmlformats.org/drawingml/2006/main">
              <a:ext uri="{FF2B5EF4-FFF2-40B4-BE49-F238E27FC236}">
                <a16:creationId xmlns:a16="http://schemas.microsoft.com/office/drawing/2014/main" id="{043C131D-BBD3-4DB6-BDCE-C56A90A0E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2F6FED"/>
                </a:solidFill>
              </a:defRPr>
            </a:pPr>
            <a:r>
              <a:rPr sz="1725" b="1" i="0">
                <a:solidFill>
                  <a:srgbClr val="2F6FED"/>
                </a:solidFill>
              </a:rPr>
              <a:t>Administrador</a:t>
            </a:r>
          </a:p>
        </p:txBody>
      </p:sp>
      <p:sp>
        <p:nvSpPr>
          <p:cNvPr id="12" name="actor-admin-items">
            <a:extLst xmlns:a="http://schemas.openxmlformats.org/drawingml/2006/main">
              <a:ext uri="{FF2B5EF4-FFF2-40B4-BE49-F238E27FC236}">
                <a16:creationId xmlns:a16="http://schemas.microsoft.com/office/drawing/2014/main" id="{1CD127C7-B1AA-482A-90B7-9EF11892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05100"/>
            <a:ext cx="29146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• Gestionar organizaciones y su archivado.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• Invitar usuarios y asignar roles.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• Gobernar cursos, clases y profesores.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• Mantener taxonomía y banco de ejercicios.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• Gobernar materiales RAG y sus permisos.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• Versionar reglas de señales.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• Consultar auditoría y exportar CSV.</a:t>
            </a:r>
          </a:p>
        </p:txBody>
      </p:sp>
      <p:sp>
        <p:nvSpPr>
          <p:cNvPr id="13" name="actor-prof-bg">
            <a:extLst xmlns:a="http://schemas.openxmlformats.org/drawingml/2006/main">
              <a:ext uri="{FF2B5EF4-FFF2-40B4-BE49-F238E27FC236}">
                <a16:creationId xmlns:a16="http://schemas.microsoft.com/office/drawing/2014/main" id="{9CA4C7F6-7D7E-4207-829A-EA568274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924050"/>
            <a:ext cx="3371850" cy="3619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actor-prof-band">
            <a:extLst xmlns:a="http://schemas.openxmlformats.org/drawingml/2006/main">
              <a:ext uri="{FF2B5EF4-FFF2-40B4-BE49-F238E27FC236}">
                <a16:creationId xmlns:a16="http://schemas.microsoft.com/office/drawing/2014/main" id="{0F15F610-7295-468B-812F-9E3BCFF2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924050"/>
            <a:ext cx="3371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6"/>
          </a:solidFill>
          <a:ln xmlns:a="http://schemas.openxmlformats.org/drawingml/2006/main" w="0">
            <a:solidFill>
              <a:srgbClr val="FFF4D6"/>
            </a:solidFill>
            <a:prstDash val="solid"/>
          </a:ln>
        </p:spPr>
      </p:sp>
      <p:sp>
        <p:nvSpPr>
          <p:cNvPr id="15" name="actor-prof-accent">
            <a:extLst xmlns:a="http://schemas.openxmlformats.org/drawingml/2006/main">
              <a:ext uri="{FF2B5EF4-FFF2-40B4-BE49-F238E27FC236}">
                <a16:creationId xmlns:a16="http://schemas.microsoft.com/office/drawing/2014/main" id="{D83535BE-92FB-4EB8-A1EE-5F0CED11E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924050"/>
            <a:ext cx="66675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63E"/>
          </a:solidFill>
          <a:ln xmlns:a="http://schemas.openxmlformats.org/drawingml/2006/main" w="0">
            <a:solidFill>
              <a:srgbClr val="F4B63E"/>
            </a:solidFill>
            <a:prstDash val="solid"/>
          </a:ln>
        </p:spPr>
      </p:sp>
      <p:sp>
        <p:nvSpPr>
          <p:cNvPr id="16" name="actor-prof-title">
            <a:extLst xmlns:a="http://schemas.openxmlformats.org/drawingml/2006/main">
              <a:ext uri="{FF2B5EF4-FFF2-40B4-BE49-F238E27FC236}">
                <a16:creationId xmlns:a16="http://schemas.microsoft.com/office/drawing/2014/main" id="{6D9FC074-C558-4895-B955-BB69A43E1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764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F4B63E"/>
                </a:solidFill>
              </a:defRPr>
            </a:pPr>
            <a:r>
              <a:rPr sz="1725" b="1" i="0">
                <a:solidFill>
                  <a:srgbClr val="F4B63E"/>
                </a:solidFill>
              </a:rPr>
              <a:t>Profesor</a:t>
            </a:r>
          </a:p>
        </p:txBody>
      </p:sp>
      <p:sp>
        <p:nvSpPr>
          <p:cNvPr id="17" name="actor-prof-items">
            <a:extLst xmlns:a="http://schemas.openxmlformats.org/drawingml/2006/main">
              <a:ext uri="{FF2B5EF4-FFF2-40B4-BE49-F238E27FC236}">
                <a16:creationId xmlns:a16="http://schemas.microsoft.com/office/drawing/2014/main" id="{374A0897-C866-4ED9-A157-82FAA81AF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705100"/>
            <a:ext cx="29146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• Iniciar sesión y administrar su clase.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• Gestionar banco de ejercicios JavaScript.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• Crear/publicar actividades.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• Cargar material oficial.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• Revisar tablero, señales y evidencia.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• Marcar una señal como revisada.</a:t>
            </a:r>
          </a:p>
        </p:txBody>
      </p:sp>
      <p:sp>
        <p:nvSpPr>
          <p:cNvPr id="18" name="actor-student-bg">
            <a:extLst xmlns:a="http://schemas.openxmlformats.org/drawingml/2006/main">
              <a:ext uri="{FF2B5EF4-FFF2-40B4-BE49-F238E27FC236}">
                <a16:creationId xmlns:a16="http://schemas.microsoft.com/office/drawing/2014/main" id="{AFD4DE6B-DC08-4790-B6EA-060BBB65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24050"/>
            <a:ext cx="3505200" cy="3619500"/>
          </a:xfrm>
          <a:prstGeom xmlns:a="http://schemas.openxmlformats.org/drawingml/2006/main" prst="roundRect">
            <a:avLst>
              <a:gd name="adj" fmla="val 38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actor-student-band">
            <a:extLst xmlns:a="http://schemas.openxmlformats.org/drawingml/2006/main">
              <a:ext uri="{FF2B5EF4-FFF2-40B4-BE49-F238E27FC236}">
                <a16:creationId xmlns:a16="http://schemas.microsoft.com/office/drawing/2014/main" id="{1B73402C-73C8-4B2D-8FC2-89D8307D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24050"/>
            <a:ext cx="3505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6F3"/>
          </a:solidFill>
          <a:ln xmlns:a="http://schemas.openxmlformats.org/drawingml/2006/main" w="0">
            <a:solidFill>
              <a:srgbClr val="E6F6F3"/>
            </a:solidFill>
            <a:prstDash val="solid"/>
          </a:ln>
        </p:spPr>
      </p:sp>
      <p:sp>
        <p:nvSpPr>
          <p:cNvPr id="20" name="actor-student-accent">
            <a:extLst xmlns:a="http://schemas.openxmlformats.org/drawingml/2006/main">
              <a:ext uri="{FF2B5EF4-FFF2-40B4-BE49-F238E27FC236}">
                <a16:creationId xmlns:a16="http://schemas.microsoft.com/office/drawing/2014/main" id="{664A1E7B-F64D-4A47-949C-27E92F83D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24050"/>
            <a:ext cx="66675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A8C"/>
          </a:solidFill>
          <a:ln xmlns:a="http://schemas.openxmlformats.org/drawingml/2006/main" w="0">
            <a:solidFill>
              <a:srgbClr val="159A8C"/>
            </a:solidFill>
            <a:prstDash val="solid"/>
          </a:ln>
        </p:spPr>
      </p:sp>
      <p:sp>
        <p:nvSpPr>
          <p:cNvPr id="21" name="actor-student-title">
            <a:extLst xmlns:a="http://schemas.openxmlformats.org/drawingml/2006/main">
              <a:ext uri="{FF2B5EF4-FFF2-40B4-BE49-F238E27FC236}">
                <a16:creationId xmlns:a16="http://schemas.microsoft.com/office/drawing/2014/main" id="{BA565CCC-BE7C-436A-A1B0-DA5080642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076450"/>
            <a:ext cx="3086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59A8C"/>
                </a:solidFill>
              </a:defRPr>
            </a:pPr>
            <a:r>
              <a:rPr sz="1725" b="1" i="0">
                <a:solidFill>
                  <a:srgbClr val="159A8C"/>
                </a:solidFill>
              </a:rPr>
              <a:t>Estudiante</a:t>
            </a:r>
          </a:p>
        </p:txBody>
      </p:sp>
      <p:sp>
        <p:nvSpPr>
          <p:cNvPr id="22" name="actor-student-items">
            <a:extLst xmlns:a="http://schemas.openxmlformats.org/drawingml/2006/main">
              <a:ext uri="{FF2B5EF4-FFF2-40B4-BE49-F238E27FC236}">
                <a16:creationId xmlns:a16="http://schemas.microsoft.com/office/drawing/2014/main" id="{D2D3D7F5-DF14-4B5F-ACE7-94C41A67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05100"/>
            <a:ext cx="30480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• Iniciar sesión e ingresar a una clase.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• Consultar actividades y abrir ejercicio.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• Ejecutar y enviar JavaScript.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• Ver resultado técnico.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• Solicitar pista/feedback y reintentar.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• Consultar progreso explicable.</a:t>
            </a:r>
          </a:p>
        </p:txBody>
      </p:sp>
      <p:sp>
        <p:nvSpPr>
          <p:cNvPr id="23" name="shared-core-bg">
            <a:extLst xmlns:a="http://schemas.openxmlformats.org/drawingml/2006/main">
              <a:ext uri="{FF2B5EF4-FFF2-40B4-BE49-F238E27FC236}">
                <a16:creationId xmlns:a16="http://schemas.microsoft.com/office/drawing/2014/main" id="{846535C0-9542-4758-BD45-450FAD3E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772150"/>
            <a:ext cx="929640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0EDFF"/>
          </a:solidFill>
          <a:ln xmlns:a="http://schemas.openxmlformats.org/drawingml/2006/main" w="9525">
            <a:solidFill>
              <a:srgbClr val="7563C9"/>
            </a:solidFill>
            <a:prstDash val="solid"/>
          </a:ln>
        </p:spPr>
      </p:sp>
      <p:sp>
        <p:nvSpPr>
          <p:cNvPr id="24" name="shared-core-title">
            <a:extLst xmlns:a="http://schemas.openxmlformats.org/drawingml/2006/main">
              <a:ext uri="{FF2B5EF4-FFF2-40B4-BE49-F238E27FC236}">
                <a16:creationId xmlns:a16="http://schemas.microsoft.com/office/drawing/2014/main" id="{970EC842-E8A8-4255-AB73-60E338820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848350"/>
            <a:ext cx="899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7563C9"/>
                </a:solidFill>
              </a:defRPr>
            </a:pPr>
            <a:r>
              <a:rPr sz="1200" b="1" i="0">
                <a:solidFill>
                  <a:srgbClr val="7563C9"/>
                </a:solidFill>
              </a:rPr>
              <a:t>Núcleo compartido: autorización · persistencia · evaluación determinística · RAG top-k=5 · auditoría</a:t>
            </a:r>
          </a:p>
        </p:txBody>
      </p:sp>
    </p:spTree>
    <p:extLst>
      <p:ext uri="{BB962C8B-B14F-4D97-AF65-F5344CB8AC3E}">
        <p14:creationId xmlns:p14="http://schemas.microsoft.com/office/powerpoint/2010/main" val="139690507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ail-8">
            <a:extLst xmlns:a="http://schemas.openxmlformats.org/drawingml/2006/main">
              <a:ext uri="{FF2B5EF4-FFF2-40B4-BE49-F238E27FC236}">
                <a16:creationId xmlns:a16="http://schemas.microsoft.com/office/drawing/2014/main" id="{DFEF2396-13E1-4456-B7EA-6BE5AD3E6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2" name="kicker-8">
            <a:extLst xmlns:a="http://schemas.openxmlformats.org/drawingml/2006/main">
              <a:ext uri="{FF2B5EF4-FFF2-40B4-BE49-F238E27FC236}">
                <a16:creationId xmlns:a16="http://schemas.microsoft.com/office/drawing/2014/main" id="{ABC30AA8-F8FE-41F2-8760-061AA8B31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2F6FED"/>
                </a:solidFill>
              </a:defRPr>
            </a:pPr>
            <a:r>
              <a:rPr sz="900" b="1" i="0">
                <a:solidFill>
                  <a:srgbClr val="2F6FED"/>
                </a:solidFill>
              </a:rPr>
              <a:t>FLUJO EXTREMO A EXTREMO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34C8379D-E380-435D-B82A-BB18795CCD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53340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102A43"/>
                </a:solidFill>
              </a:defRPr>
            </a:pPr>
            <a:r>
              <a:rPr sz="2400" b="1" i="0">
                <a:solidFill>
                  <a:srgbClr val="102A43"/>
                </a:solidFill>
              </a:rPr>
              <a:t>Todo envío se persiste; IA y RAG sólo enriquecen el fallo</a:t>
            </a:r>
          </a:p>
        </p:txBody>
      </p:sp>
      <p:sp>
        <p:nvSpPr>
          <p:cNvPr id="4" name="header-line-8">
            <a:extLst xmlns:a="http://schemas.openxmlformats.org/drawingml/2006/main">
              <a:ext uri="{FF2B5EF4-FFF2-40B4-BE49-F238E27FC236}">
                <a16:creationId xmlns:a16="http://schemas.microsoft.com/office/drawing/2014/main" id="{3F2B68DE-BCBD-4A17-9CAB-514B4E260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ED"/>
            </a:solidFill>
            <a:prstDash val="solid"/>
          </a:ln>
        </p:spPr>
      </p:sp>
      <p:sp>
        <p:nvSpPr>
          <p:cNvPr id="5" name="footer-8">
            <a:extLst xmlns:a="http://schemas.openxmlformats.org/drawingml/2006/main">
              <a:ext uri="{FF2B5EF4-FFF2-40B4-BE49-F238E27FC236}">
                <a16:creationId xmlns:a16="http://schemas.microsoft.com/office/drawing/2014/main" id="{9011AC64-3D67-446D-8F29-B8532C7B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4748B"/>
                </a:solidFill>
              </a:defRPr>
            </a:pPr>
            <a:r>
              <a:rPr sz="750" b="0" i="0">
                <a:solidFill>
                  <a:srgbClr val="64748B"/>
                </a:solidFill>
              </a:rPr>
              <a:t>ALUNZA · CAPSTONE 2026 · SEDE PUENTE ALTO</a:t>
            </a:r>
          </a:p>
        </p:txBody>
      </p:sp>
      <p:sp>
        <p:nvSpPr>
          <p:cNvPr id="6" name="page-8">
            <a:extLst xmlns:a="http://schemas.openxmlformats.org/drawingml/2006/main">
              <a:ext uri="{FF2B5EF4-FFF2-40B4-BE49-F238E27FC236}">
                <a16:creationId xmlns:a16="http://schemas.microsoft.com/office/drawing/2014/main" id="{A5ECD26E-143A-4C76-AEF5-6C0D4D3B2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579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4748B"/>
                </a:solidFill>
              </a:defRPr>
            </a:pPr>
            <a:r>
              <a:rPr sz="825" b="0" i="0">
                <a:solidFill>
                  <a:srgbClr val="64748B"/>
                </a:solidFill>
              </a:rPr>
              <a:t>08</a:t>
            </a:r>
          </a:p>
        </p:txBody>
      </p:sp>
      <p:sp>
        <p:nvSpPr>
          <p:cNvPr id="7" name="e2e-lead">
            <a:extLst xmlns:a="http://schemas.openxmlformats.org/drawingml/2006/main">
              <a:ext uri="{FF2B5EF4-FFF2-40B4-BE49-F238E27FC236}">
                <a16:creationId xmlns:a16="http://schemas.microsoft.com/office/drawing/2014/main" id="{13E902E2-2B6C-4308-8A84-C52A19A35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4748B"/>
                </a:solidFill>
              </a:defRPr>
            </a:pPr>
            <a:r>
              <a:rPr sz="1200" b="0" i="0">
                <a:solidFill>
                  <a:srgbClr val="64748B"/>
                </a:solidFill>
              </a:rPr>
              <a:t>El resultado técnico continúa disponible aunque fallen el modelo o la recuperación documental.</a:t>
            </a:r>
          </a:p>
        </p:txBody>
      </p:sp>
      <p:sp>
        <p:nvSpPr>
          <p:cNvPr id="8" name="e2e-code">
            <a:extLst xmlns:a="http://schemas.openxmlformats.org/drawingml/2006/main">
              <a:ext uri="{FF2B5EF4-FFF2-40B4-BE49-F238E27FC236}">
                <a16:creationId xmlns:a16="http://schemas.microsoft.com/office/drawing/2014/main" id="{D20BF194-0A11-4488-9364-6FF61D74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0002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E6F6F3"/>
          </a:solidFill>
          <a:ln xmlns:a="http://schemas.openxmlformats.org/drawingml/2006/main" w="9525">
            <a:solidFill>
              <a:srgbClr val="159A8C"/>
            </a:solidFill>
            <a:prstDash val="solid"/>
          </a:ln>
        </p:spPr>
      </p:sp>
      <p:sp>
        <p:nvSpPr>
          <p:cNvPr id="9" name="e2e-run">
            <a:extLst xmlns:a="http://schemas.openxmlformats.org/drawingml/2006/main">
              <a:ext uri="{FF2B5EF4-FFF2-40B4-BE49-F238E27FC236}">
                <a16:creationId xmlns:a16="http://schemas.microsoft.com/office/drawing/2014/main" id="{80908CCA-FB4E-4EFA-84AD-D713D42FF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95500"/>
            <a:ext cx="21907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F6FED"/>
            </a:solidFill>
            <a:prstDash val="solid"/>
          </a:ln>
        </p:spPr>
      </p:sp>
      <p:sp>
        <p:nvSpPr>
          <p:cNvPr id="10" name="e2e-persist">
            <a:extLst xmlns:a="http://schemas.openxmlformats.org/drawingml/2006/main">
              <a:ext uri="{FF2B5EF4-FFF2-40B4-BE49-F238E27FC236}">
                <a16:creationId xmlns:a16="http://schemas.microsoft.com/office/drawing/2014/main" id="{4D747E68-6961-4097-AEDC-493400BB5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95500"/>
            <a:ext cx="22860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4F86C6"/>
            </a:solidFill>
            <a:prstDash val="solid"/>
          </a:ln>
        </p:spPr>
      </p:sp>
      <p:sp>
        <p:nvSpPr>
          <p:cNvPr id="11" name="e2e-decision">
            <a:extLst xmlns:a="http://schemas.openxmlformats.org/drawingml/2006/main">
              <a:ext uri="{FF2B5EF4-FFF2-40B4-BE49-F238E27FC236}">
                <a16:creationId xmlns:a16="http://schemas.microsoft.com/office/drawing/2014/main" id="{038D1B36-3CCF-4EAB-8148-8BCBEEA4D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47875"/>
            <a:ext cx="952500" cy="8001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6FED"/>
            </a:solidFill>
            <a:prstDash val="solid"/>
          </a:ln>
        </p:spPr>
      </p:sp>
      <p:sp>
        <p:nvSpPr>
          <p:cNvPr id="12" name="e2e-code-t">
            <a:extLst xmlns:a="http://schemas.openxmlformats.org/drawingml/2006/main">
              <a:ext uri="{FF2B5EF4-FFF2-40B4-BE49-F238E27FC236}">
                <a16:creationId xmlns:a16="http://schemas.microsoft.com/office/drawing/2014/main" id="{DE35BCB1-50BF-4295-A72B-531DDCB2A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47900"/>
            <a:ext cx="1695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59A8C"/>
                </a:solidFill>
              </a:defRPr>
            </a:pPr>
            <a:r>
              <a:rPr sz="1350" b="1" i="0">
                <a:solidFill>
                  <a:srgbClr val="159A8C"/>
                </a:solidFill>
              </a:rPr>
              <a:t>Estudiante</a:t>
            </a:r>
          </a:p>
          <a:p xmlns:a="http://schemas.openxmlformats.org/drawingml/2006/main">
            <a:pPr algn="ctr">
              <a:buNone/>
              <a:defRPr sz="1350" b="1" i="0">
                <a:solidFill>
                  <a:srgbClr val="159A8C"/>
                </a:solidFill>
              </a:defRPr>
            </a:pPr>
            <a:r>
              <a:rPr sz="1350" b="1" i="0">
                <a:solidFill>
                  <a:srgbClr val="159A8C"/>
                </a:solidFill>
              </a:rPr>
              <a:t>envía código</a:t>
            </a:r>
          </a:p>
        </p:txBody>
      </p:sp>
      <p:sp>
        <p:nvSpPr>
          <p:cNvPr id="13" name="e2e-run-t">
            <a:extLst xmlns:a="http://schemas.openxmlformats.org/drawingml/2006/main">
              <a:ext uri="{FF2B5EF4-FFF2-40B4-BE49-F238E27FC236}">
                <a16:creationId xmlns:a16="http://schemas.microsoft.com/office/drawing/2014/main" id="{0DEFB48A-39A9-44E5-A72E-F87FECC6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247900"/>
            <a:ext cx="1885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2F6FED"/>
                </a:solidFill>
              </a:defRPr>
            </a:pPr>
            <a:r>
              <a:rPr sz="1275" b="1" i="0">
                <a:solidFill>
                  <a:srgbClr val="2F6FED"/>
                </a:solidFill>
              </a:rPr>
              <a:t>Valida, ejecuta</a:t>
            </a:r>
          </a:p>
          <a:p xmlns:a="http://schemas.openxmlformats.org/drawingml/2006/main">
            <a:pPr algn="ctr">
              <a:buNone/>
              <a:defRPr sz="1275" b="1" i="0">
                <a:solidFill>
                  <a:srgbClr val="2F6FED"/>
                </a:solidFill>
              </a:defRPr>
            </a:pPr>
            <a:r>
              <a:rPr sz="1275" b="1" i="0">
                <a:solidFill>
                  <a:srgbClr val="2F6FED"/>
                </a:solidFill>
              </a:rPr>
              <a:t>y corre test cases</a:t>
            </a:r>
          </a:p>
        </p:txBody>
      </p:sp>
      <p:sp>
        <p:nvSpPr>
          <p:cNvPr id="14" name="e2e-persist-t">
            <a:extLst xmlns:a="http://schemas.openxmlformats.org/drawingml/2006/main">
              <a:ext uri="{FF2B5EF4-FFF2-40B4-BE49-F238E27FC236}">
                <a16:creationId xmlns:a16="http://schemas.microsoft.com/office/drawing/2014/main" id="{A0B4D023-7F20-467E-8D63-9651A50C6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247900"/>
            <a:ext cx="1981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4F86C6"/>
                </a:solidFill>
              </a:defRPr>
            </a:pPr>
            <a:r>
              <a:rPr sz="1275" b="1" i="0">
                <a:solidFill>
                  <a:srgbClr val="4F86C6"/>
                </a:solidFill>
              </a:rPr>
              <a:t>Persiste intento</a:t>
            </a:r>
          </a:p>
          <a:p xmlns:a="http://schemas.openxmlformats.org/drawingml/2006/main">
            <a:pPr algn="ctr">
              <a:buNone/>
              <a:defRPr sz="1275" b="1" i="0">
                <a:solidFill>
                  <a:srgbClr val="4F86C6"/>
                </a:solidFill>
              </a:defRPr>
            </a:pPr>
            <a:r>
              <a:rPr sz="1275" b="1" i="0">
                <a:solidFill>
                  <a:srgbClr val="4F86C6"/>
                </a:solidFill>
              </a:rPr>
              <a:t>y resultado técnico</a:t>
            </a:r>
          </a:p>
        </p:txBody>
      </p:sp>
      <p:sp>
        <p:nvSpPr>
          <p:cNvPr id="15" name="e2e-decision-t">
            <a:extLst xmlns:a="http://schemas.openxmlformats.org/drawingml/2006/main">
              <a:ext uri="{FF2B5EF4-FFF2-40B4-BE49-F238E27FC236}">
                <a16:creationId xmlns:a16="http://schemas.microsoft.com/office/drawing/2014/main" id="{117DE78C-315A-4382-946F-3C44BD969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247900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2F6FED"/>
                </a:solidFill>
              </a:defRPr>
            </a:pPr>
            <a:r>
              <a:rPr sz="1200" b="1" i="0">
                <a:solidFill>
                  <a:srgbClr val="2F6FED"/>
                </a:solidFill>
              </a:rPr>
              <a:t>¿Pasa</a:t>
            </a:r>
          </a:p>
          <a:p xmlns:a="http://schemas.openxmlformats.org/drawingml/2006/main">
            <a:pPr algn="ctr">
              <a:buNone/>
              <a:defRPr sz="1200" b="1" i="0">
                <a:solidFill>
                  <a:srgbClr val="2F6FED"/>
                </a:solidFill>
              </a:defRPr>
            </a:pPr>
            <a:r>
              <a:rPr sz="1200" b="1" i="0">
                <a:solidFill>
                  <a:srgbClr val="2F6FED"/>
                </a:solidFill>
              </a:rPr>
              <a:t>tests?</a:t>
            </a:r>
          </a:p>
        </p:txBody>
      </p:sp>
      <p:cxnSp>
        <p:nvCxnSpPr>
          <p:cNvPr id="166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2609850" y="2447925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9A8C"/>
            </a:solidFill>
            <a:prstDash val="solid"/>
            <a:tailEnd type="arrow" w="sm" len="sm"/>
          </a:ln>
        </p:spPr>
      </p:cxnSp>
      <p:cxnSp>
        <p:nvCxnSpPr>
          <p:cNvPr id="167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238750" y="24479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FED"/>
            </a:solidFill>
            <a:prstDash val="solid"/>
            <a:tailEnd type="arrow" w="sm" len="sm"/>
          </a:ln>
        </p:spPr>
      </p:cxnSp>
      <p:cxnSp>
        <p:nvCxnSpPr>
          <p:cNvPr id="168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8001000" y="244792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F86C6"/>
            </a:solidFill>
            <a:prstDash val="solid"/>
            <a:tailEnd type="arrow" w="sm" len="sm"/>
          </a:ln>
        </p:spPr>
      </p:cxnSp>
      <p:sp>
        <p:nvSpPr>
          <p:cNvPr id="19" name="e2e-success">
            <a:extLst xmlns:a="http://schemas.openxmlformats.org/drawingml/2006/main">
              <a:ext uri="{FF2B5EF4-FFF2-40B4-BE49-F238E27FC236}">
                <a16:creationId xmlns:a16="http://schemas.microsoft.com/office/drawing/2014/main" id="{B44559B7-DE5C-4DC8-9677-F1F8F301E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847850"/>
            <a:ext cx="14287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AF8F0"/>
          </a:solidFill>
          <a:ln xmlns:a="http://schemas.openxmlformats.org/drawingml/2006/main" w="9525">
            <a:solidFill>
              <a:srgbClr val="2FA96B"/>
            </a:solidFill>
            <a:prstDash val="solid"/>
          </a:ln>
        </p:spPr>
      </p:sp>
      <p:sp>
        <p:nvSpPr>
          <p:cNvPr id="20" name="e2e-success-t">
            <a:extLst xmlns:a="http://schemas.openxmlformats.org/drawingml/2006/main">
              <a:ext uri="{FF2B5EF4-FFF2-40B4-BE49-F238E27FC236}">
                <a16:creationId xmlns:a16="http://schemas.microsoft.com/office/drawing/2014/main" id="{60B7F87D-E19D-4FFC-8AE8-77799B812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057400"/>
            <a:ext cx="116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2FA96B"/>
                </a:solidFill>
              </a:defRPr>
            </a:pPr>
            <a:r>
              <a:rPr sz="1275" b="1" i="0">
                <a:solidFill>
                  <a:srgbClr val="2FA96B"/>
                </a:solidFill>
              </a:rPr>
              <a:t>SÍ</a:t>
            </a:r>
          </a:p>
          <a:p xmlns:a="http://schemas.openxmlformats.org/drawingml/2006/main">
            <a:pPr algn="ctr">
              <a:buNone/>
              <a:defRPr sz="1275" b="1" i="0">
                <a:solidFill>
                  <a:srgbClr val="2FA96B"/>
                </a:solidFill>
              </a:defRPr>
            </a:pPr>
            <a:r>
              <a:rPr sz="1275" b="1" i="0">
                <a:solidFill>
                  <a:srgbClr val="2FA96B"/>
                </a:solidFill>
              </a:rPr>
              <a:t>Actualiza progreso</a:t>
            </a:r>
          </a:p>
          <a:p xmlns:a="http://schemas.openxmlformats.org/drawingml/2006/main">
            <a:pPr algn="ctr">
              <a:buNone/>
              <a:defRPr sz="1275" b="1" i="0">
                <a:solidFill>
                  <a:srgbClr val="2FA96B"/>
                </a:solidFill>
              </a:defRPr>
            </a:pPr>
            <a:r>
              <a:rPr sz="1275" b="1" i="0">
                <a:solidFill>
                  <a:srgbClr val="2FA96B"/>
                </a:solidFill>
              </a:rPr>
              <a:t>y completa</a:t>
            </a:r>
          </a:p>
        </p:txBody>
      </p:sp>
      <p:cxnSp>
        <p:nvCxnSpPr>
          <p:cNvPr id="171" name=""/>
          <p:cNvCxnSpPr>
            <a:stCxn xmlns:a="http://schemas.openxmlformats.org/drawingml/2006/main" id="11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 flipV="1">
            <a:off x="9525000" y="2400300"/>
            <a:ext cx="400050" cy="47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A96B"/>
            </a:solidFill>
            <a:prstDash val="solid"/>
            <a:tailEnd type="arrow" w="sm" len="sm"/>
          </a:ln>
        </p:spPr>
      </p:cxnSp>
      <p:sp>
        <p:nvSpPr>
          <p:cNvPr id="22" name="e2e-classify">
            <a:extLst xmlns:a="http://schemas.openxmlformats.org/drawingml/2006/main">
              <a:ext uri="{FF2B5EF4-FFF2-40B4-BE49-F238E27FC236}">
                <a16:creationId xmlns:a16="http://schemas.microsoft.com/office/drawing/2014/main" id="{14948841-0BAB-430B-8CAB-AE5E85766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638550"/>
            <a:ext cx="21717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0EDFF"/>
          </a:solidFill>
          <a:ln xmlns:a="http://schemas.openxmlformats.org/drawingml/2006/main" w="9525">
            <a:solidFill>
              <a:srgbClr val="7563C9"/>
            </a:solidFill>
            <a:prstDash val="solid"/>
          </a:ln>
        </p:spPr>
      </p:sp>
      <p:sp>
        <p:nvSpPr>
          <p:cNvPr id="23" name="e2e-evidence">
            <a:extLst xmlns:a="http://schemas.openxmlformats.org/drawingml/2006/main">
              <a:ext uri="{FF2B5EF4-FFF2-40B4-BE49-F238E27FC236}">
                <a16:creationId xmlns:a16="http://schemas.microsoft.com/office/drawing/2014/main" id="{12168E9A-42BB-41C4-83D2-10308A327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00450"/>
            <a:ext cx="1047750" cy="8191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563C9"/>
            </a:solidFill>
            <a:prstDash val="solid"/>
          </a:ln>
        </p:spPr>
      </p:sp>
      <p:sp>
        <p:nvSpPr>
          <p:cNvPr id="24" name="e2e-cited">
            <a:extLst xmlns:a="http://schemas.openxmlformats.org/drawingml/2006/main">
              <a:ext uri="{FF2B5EF4-FFF2-40B4-BE49-F238E27FC236}">
                <a16:creationId xmlns:a16="http://schemas.microsoft.com/office/drawing/2014/main" id="{B88C4F73-DC1B-43ED-B18D-8C74EC818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257550"/>
            <a:ext cx="21336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0EDFF"/>
          </a:solidFill>
          <a:ln xmlns:a="http://schemas.openxmlformats.org/drawingml/2006/main" w="9525">
            <a:solidFill>
              <a:srgbClr val="7563C9"/>
            </a:solidFill>
            <a:prstDash val="solid"/>
          </a:ln>
        </p:spPr>
      </p:sp>
      <p:sp>
        <p:nvSpPr>
          <p:cNvPr id="25" name="e2e-unknown">
            <a:extLst xmlns:a="http://schemas.openxmlformats.org/drawingml/2006/main">
              <a:ext uri="{FF2B5EF4-FFF2-40B4-BE49-F238E27FC236}">
                <a16:creationId xmlns:a16="http://schemas.microsoft.com/office/drawing/2014/main" id="{B8CB5949-B02B-489B-8539-C6CB9FAAB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324350"/>
            <a:ext cx="21336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</p:sp>
      <p:sp>
        <p:nvSpPr>
          <p:cNvPr id="26" name="e2e-retry">
            <a:extLst xmlns:a="http://schemas.openxmlformats.org/drawingml/2006/main">
              <a:ext uri="{FF2B5EF4-FFF2-40B4-BE49-F238E27FC236}">
                <a16:creationId xmlns:a16="http://schemas.microsoft.com/office/drawing/2014/main" id="{CE517F49-5F4E-4C55-809C-C0A2415B7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1714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6F6F3"/>
          </a:solidFill>
          <a:ln xmlns:a="http://schemas.openxmlformats.org/drawingml/2006/main" w="9525">
            <a:solidFill>
              <a:srgbClr val="159A8C"/>
            </a:solidFill>
            <a:prstDash val="solid"/>
          </a:ln>
        </p:spPr>
      </p:sp>
      <p:sp>
        <p:nvSpPr>
          <p:cNvPr id="27" name="e2e-classify-t">
            <a:extLst xmlns:a="http://schemas.openxmlformats.org/drawingml/2006/main">
              <a:ext uri="{FF2B5EF4-FFF2-40B4-BE49-F238E27FC236}">
                <a16:creationId xmlns:a16="http://schemas.microsoft.com/office/drawing/2014/main" id="{2A6C5AA5-5CAF-4EE0-9419-CB6957EF3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752850"/>
            <a:ext cx="1828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7563C9"/>
                </a:solidFill>
              </a:defRPr>
            </a:pPr>
            <a:r>
              <a:rPr sz="1200" b="1" i="0">
                <a:solidFill>
                  <a:srgbClr val="7563C9"/>
                </a:solidFill>
              </a:rPr>
              <a:t>NO</a:t>
            </a:r>
          </a:p>
          <a:p xmlns:a="http://schemas.openxmlformats.org/drawingml/2006/main">
            <a:pPr algn="ctr">
              <a:buNone/>
              <a:defRPr sz="1200" b="1" i="0">
                <a:solidFill>
                  <a:srgbClr val="7563C9"/>
                </a:solidFill>
              </a:defRPr>
            </a:pPr>
            <a:r>
              <a:rPr sz="1200" b="1" i="0">
                <a:solidFill>
                  <a:srgbClr val="7563C9"/>
                </a:solidFill>
              </a:rPr>
              <a:t>Clasifica error y recupera</a:t>
            </a:r>
          </a:p>
          <a:p xmlns:a="http://schemas.openxmlformats.org/drawingml/2006/main">
            <a:pPr algn="ctr">
              <a:buNone/>
              <a:defRPr sz="1200" b="1" i="0">
                <a:solidFill>
                  <a:srgbClr val="7563C9"/>
                </a:solidFill>
              </a:defRPr>
            </a:pPr>
            <a:r>
              <a:rPr sz="1200" b="1" i="0">
                <a:solidFill>
                  <a:srgbClr val="7563C9"/>
                </a:solidFill>
              </a:rPr>
              <a:t>material autorizado</a:t>
            </a:r>
          </a:p>
        </p:txBody>
      </p:sp>
      <p:sp>
        <p:nvSpPr>
          <p:cNvPr id="28" name="e2e-evidence-t">
            <a:extLst xmlns:a="http://schemas.openxmlformats.org/drawingml/2006/main">
              <a:ext uri="{FF2B5EF4-FFF2-40B4-BE49-F238E27FC236}">
                <a16:creationId xmlns:a16="http://schemas.microsoft.com/office/drawing/2014/main" id="{A1CD4B7F-E213-4DE3-A7D5-9E062E483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790950"/>
            <a:ext cx="781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7563C9"/>
                </a:solidFill>
              </a:defRPr>
            </a:pPr>
            <a:r>
              <a:rPr sz="1125" b="1" i="0">
                <a:solidFill>
                  <a:srgbClr val="7563C9"/>
                </a:solidFill>
              </a:rPr>
              <a:t>¿Hay</a:t>
            </a:r>
          </a:p>
          <a:p xmlns:a="http://schemas.openxmlformats.org/drawingml/2006/main">
            <a:pPr algn="ctr">
              <a:buNone/>
              <a:defRPr sz="1125" b="1" i="0">
                <a:solidFill>
                  <a:srgbClr val="7563C9"/>
                </a:solidFill>
              </a:defRPr>
            </a:pPr>
            <a:r>
              <a:rPr sz="1125" b="1" i="0">
                <a:solidFill>
                  <a:srgbClr val="7563C9"/>
                </a:solidFill>
              </a:rPr>
              <a:t>evidencia?</a:t>
            </a:r>
          </a:p>
        </p:txBody>
      </p:sp>
      <p:sp>
        <p:nvSpPr>
          <p:cNvPr id="29" name="e2e-cited-t">
            <a:extLst xmlns:a="http://schemas.openxmlformats.org/drawingml/2006/main">
              <a:ext uri="{FF2B5EF4-FFF2-40B4-BE49-F238E27FC236}">
                <a16:creationId xmlns:a16="http://schemas.microsoft.com/office/drawing/2014/main" id="{E08B54EF-8D85-4378-AA0D-A0C4B2A0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42900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7563C9"/>
                </a:solidFill>
              </a:defRPr>
            </a:pPr>
            <a:r>
              <a:rPr sz="1200" b="1" i="0">
                <a:solidFill>
                  <a:srgbClr val="7563C9"/>
                </a:solidFill>
              </a:rPr>
              <a:t>SÍ · Feedback contextual</a:t>
            </a:r>
          </a:p>
          <a:p xmlns:a="http://schemas.openxmlformats.org/drawingml/2006/main">
            <a:pPr algn="ctr">
              <a:buNone/>
              <a:defRPr sz="1200" b="1" i="0">
                <a:solidFill>
                  <a:srgbClr val="7563C9"/>
                </a:solidFill>
              </a:defRPr>
            </a:pPr>
            <a:r>
              <a:rPr sz="1200" b="1" i="0">
                <a:solidFill>
                  <a:srgbClr val="7563C9"/>
                </a:solidFill>
              </a:rPr>
              <a:t>con documento y sección</a:t>
            </a:r>
          </a:p>
        </p:txBody>
      </p:sp>
      <p:sp>
        <p:nvSpPr>
          <p:cNvPr id="30" name="e2e-unknown-t">
            <a:extLst xmlns:a="http://schemas.openxmlformats.org/drawingml/2006/main">
              <a:ext uri="{FF2B5EF4-FFF2-40B4-BE49-F238E27FC236}">
                <a16:creationId xmlns:a16="http://schemas.microsoft.com/office/drawing/2014/main" id="{06CDB2AA-C338-457E-862F-E7A981172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49580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64748B"/>
                </a:solidFill>
              </a:defRPr>
            </a:pPr>
            <a:r>
              <a:rPr sz="1200" b="1" i="0">
                <a:solidFill>
                  <a:srgbClr val="64748B"/>
                </a:solidFill>
              </a:rPr>
              <a:t>NO · Feedback técnico</a:t>
            </a:r>
          </a:p>
          <a:p xmlns:a="http://schemas.openxmlformats.org/drawingml/2006/main">
            <a:pPr algn="ctr">
              <a:buNone/>
              <a:defRPr sz="1200" b="1" i="0">
                <a:solidFill>
                  <a:srgbClr val="64748B"/>
                </a:solidFill>
              </a:defRPr>
            </a:pPr>
            <a:r>
              <a:rPr sz="1200" b="1" i="0">
                <a:solidFill>
                  <a:srgbClr val="64748B"/>
                </a:solidFill>
              </a:rPr>
              <a:t>y estado unknown</a:t>
            </a:r>
          </a:p>
        </p:txBody>
      </p:sp>
      <p:sp>
        <p:nvSpPr>
          <p:cNvPr id="31" name="e2e-retry-t">
            <a:extLst xmlns:a="http://schemas.openxmlformats.org/drawingml/2006/main">
              <a:ext uri="{FF2B5EF4-FFF2-40B4-BE49-F238E27FC236}">
                <a16:creationId xmlns:a16="http://schemas.microsoft.com/office/drawing/2014/main" id="{605F0281-ACA3-45EE-8E47-7B250142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1371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59A8C"/>
                </a:solidFill>
              </a:defRPr>
            </a:pPr>
            <a:r>
              <a:rPr sz="1350" b="1" i="0">
                <a:solidFill>
                  <a:srgbClr val="159A8C"/>
                </a:solidFill>
              </a:rPr>
              <a:t>Recibe pista</a:t>
            </a:r>
          </a:p>
          <a:p xmlns:a="http://schemas.openxmlformats.org/drawingml/2006/main">
            <a:pPr algn="ctr">
              <a:buNone/>
              <a:defRPr sz="1350" b="1" i="0">
                <a:solidFill>
                  <a:srgbClr val="159A8C"/>
                </a:solidFill>
              </a:defRPr>
            </a:pPr>
            <a:r>
              <a:rPr sz="1350" b="1" i="0">
                <a:solidFill>
                  <a:srgbClr val="159A8C"/>
                </a:solidFill>
              </a:rPr>
              <a:t>y reintenta</a:t>
            </a:r>
          </a:p>
        </p:txBody>
      </p:sp>
      <p:cxnSp>
        <p:nvCxnSpPr>
          <p:cNvPr id="182" name=""/>
          <p:cNvCxnSpPr>
            <a:stCxn xmlns:a="http://schemas.openxmlformats.org/drawingml/2006/main" id="11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 flipH="1">
            <a:off x="8324850" y="2847975"/>
            <a:ext cx="723900" cy="7905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DE5C6B"/>
            </a:solidFill>
            <a:prstDash val="solid"/>
            <a:tailEnd type="arrow" w="sm" len="sm"/>
          </a:ln>
        </p:spPr>
      </p:cxnSp>
      <p:cxnSp>
        <p:nvCxnSpPr>
          <p:cNvPr id="183" name=""/>
          <p:cNvCxnSpPr>
            <a:stCxn xmlns:a="http://schemas.openxmlformats.org/drawingml/2006/main" id="22" idx="1"/>
            <a:endCxn xmlns:a="http://schemas.openxmlformats.org/drawingml/2006/main" id="23" idx="3"/>
          </p:cNvCxnSpPr>
          <p:nvPr/>
        </p:nvCxnSpPr>
        <p:spPr>
          <a:xfrm xmlns:a="http://schemas.openxmlformats.org/drawingml/2006/main" flipH="1">
            <a:off x="6381750" y="4010025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563C9"/>
            </a:solidFill>
            <a:prstDash val="solid"/>
            <a:tailEnd type="arrow" w="sm" len="sm"/>
          </a:ln>
        </p:spPr>
      </p:cxnSp>
      <p:cxnSp>
        <p:nvCxnSpPr>
          <p:cNvPr id="184" name=""/>
          <p:cNvCxnSpPr>
            <a:stCxn xmlns:a="http://schemas.openxmlformats.org/drawingml/2006/main" id="23" idx="1"/>
            <a:endCxn xmlns:a="http://schemas.openxmlformats.org/drawingml/2006/main" id="24" idx="3"/>
          </p:cNvCxnSpPr>
          <p:nvPr/>
        </p:nvCxnSpPr>
        <p:spPr>
          <a:xfrm xmlns:a="http://schemas.openxmlformats.org/drawingml/2006/main" flipH="1" flipV="1">
            <a:off x="4895850" y="3629025"/>
            <a:ext cx="438150" cy="3810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7563C9"/>
            </a:solidFill>
            <a:prstDash val="solid"/>
            <a:tailEnd type="arrow" w="sm" len="sm"/>
          </a:ln>
        </p:spPr>
      </p:cxnSp>
      <p:cxnSp>
        <p:nvCxnSpPr>
          <p:cNvPr id="185" name=""/>
          <p:cNvCxnSpPr>
            <a:stCxn xmlns:a="http://schemas.openxmlformats.org/drawingml/2006/main" id="23" idx="2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4895850" y="4419600"/>
            <a:ext cx="962025" cy="276225"/>
          </a:xfrm>
          <a:prstGeom xmlns:a="http://schemas.openxmlformats.org/drawingml/2006/main" prst="bentConnector5">
            <a:avLst>
              <a:gd name="adj1" fmla="val 0"/>
              <a:gd name="adj2" fmla="val 82759"/>
              <a:gd name="adj3" fmla="val 76238"/>
            </a:avLst>
          </a:prstGeom>
          <a:ln xmlns:a="http://schemas.openxmlformats.org/drawingml/2006/main" w="19050">
            <a:solidFill>
              <a:srgbClr val="94A3B8"/>
            </a:solidFill>
            <a:prstDash val="dash"/>
            <a:tailEnd type="arrow" w="sm" len="sm"/>
          </a:ln>
        </p:spPr>
      </p:cxnSp>
      <p:cxnSp>
        <p:nvCxnSpPr>
          <p:cNvPr id="186" name=""/>
          <p:cNvCxnSpPr>
            <a:stCxn xmlns:a="http://schemas.openxmlformats.org/drawingml/2006/main" id="24" idx="1"/>
            <a:endCxn xmlns:a="http://schemas.openxmlformats.org/drawingml/2006/main" id="26" idx="3"/>
          </p:cNvCxnSpPr>
          <p:nvPr/>
        </p:nvCxnSpPr>
        <p:spPr>
          <a:xfrm xmlns:a="http://schemas.openxmlformats.org/drawingml/2006/main" flipH="1">
            <a:off x="2324100" y="3629025"/>
            <a:ext cx="438150" cy="6000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159A8C"/>
            </a:solidFill>
            <a:prstDash val="solid"/>
            <a:tailEnd type="arrow" w="sm" len="sm"/>
          </a:ln>
        </p:spPr>
      </p:cxnSp>
      <p:cxnSp>
        <p:nvCxnSpPr>
          <p:cNvPr id="187" name=""/>
          <p:cNvCxnSpPr>
            <a:stCxn xmlns:a="http://schemas.openxmlformats.org/drawingml/2006/main" id="25" idx="1"/>
            <a:endCxn xmlns:a="http://schemas.openxmlformats.org/drawingml/2006/main" id="26" idx="3"/>
          </p:cNvCxnSpPr>
          <p:nvPr/>
        </p:nvCxnSpPr>
        <p:spPr>
          <a:xfrm xmlns:a="http://schemas.openxmlformats.org/drawingml/2006/main" flipH="1" flipV="1">
            <a:off x="2324100" y="4229100"/>
            <a:ext cx="438150" cy="4667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159A8C"/>
            </a:solidFill>
            <a:prstDash val="solid"/>
            <a:tailEnd type="arrow" w="sm" len="sm"/>
          </a:ln>
        </p:spPr>
      </p:cxnSp>
      <p:sp>
        <p:nvSpPr>
          <p:cNvPr id="38" name="e2e-signal-bg">
            <a:extLst xmlns:a="http://schemas.openxmlformats.org/drawingml/2006/main">
              <a:ext uri="{FF2B5EF4-FFF2-40B4-BE49-F238E27FC236}">
                <a16:creationId xmlns:a16="http://schemas.microsoft.com/office/drawing/2014/main" id="{6E2D4133-86E2-40C3-8216-CC767A08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67350"/>
            <a:ext cx="88582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102A43"/>
            </a:solidFill>
            <a:prstDash val="solid"/>
          </a:ln>
        </p:spPr>
      </p:sp>
      <p:sp>
        <p:nvSpPr>
          <p:cNvPr id="39" name="e2e-signal">
            <a:extLst xmlns:a="http://schemas.openxmlformats.org/drawingml/2006/main">
              <a:ext uri="{FF2B5EF4-FFF2-40B4-BE49-F238E27FC236}">
                <a16:creationId xmlns:a16="http://schemas.microsoft.com/office/drawing/2014/main" id="{0E9D8D26-4D4E-4B02-9F18-39D8EE2B0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836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Eventos e intentos actualizan reglas versionadas; el profesor revisa la señal y su evidencia.</a:t>
            </a:r>
          </a:p>
        </p:txBody>
      </p:sp>
    </p:spTree>
    <p:extLst>
      <p:ext uri="{BB962C8B-B14F-4D97-AF65-F5344CB8AC3E}">
        <p14:creationId xmlns:p14="http://schemas.microsoft.com/office/powerpoint/2010/main" val="158816447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ail-9">
            <a:extLst xmlns:a="http://schemas.openxmlformats.org/drawingml/2006/main">
              <a:ext uri="{FF2B5EF4-FFF2-40B4-BE49-F238E27FC236}">
                <a16:creationId xmlns:a16="http://schemas.microsoft.com/office/drawing/2014/main" id="{C13EB5AA-29B4-4927-8F66-E20AF361A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2" name="kicker-9">
            <a:extLst xmlns:a="http://schemas.openxmlformats.org/drawingml/2006/main">
              <a:ext uri="{FF2B5EF4-FFF2-40B4-BE49-F238E27FC236}">
                <a16:creationId xmlns:a16="http://schemas.microsoft.com/office/drawing/2014/main" id="{EA665278-1C36-4732-9394-15551CCFD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2F6FED"/>
                </a:solidFill>
              </a:defRPr>
            </a:pPr>
            <a:r>
              <a:rPr sz="900" b="1" i="0">
                <a:solidFill>
                  <a:srgbClr val="2F6FED"/>
                </a:solidFill>
              </a:rPr>
              <a:t>ARQUITECTURA CONCEPTUAL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B6FB4EBD-1E67-4626-B7FE-F39985F6EB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53340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102A43"/>
                </a:solidFill>
              </a:defRPr>
            </a:pPr>
            <a:r>
              <a:rPr sz="2400" b="1" i="0">
                <a:solidFill>
                  <a:srgbClr val="102A43"/>
                </a:solidFill>
              </a:rPr>
              <a:t>Arquitectura híbrida para interfaz, dominio, datos y ejecución</a:t>
            </a:r>
          </a:p>
        </p:txBody>
      </p:sp>
      <p:sp>
        <p:nvSpPr>
          <p:cNvPr id="4" name="header-line-9">
            <a:extLst xmlns:a="http://schemas.openxmlformats.org/drawingml/2006/main">
              <a:ext uri="{FF2B5EF4-FFF2-40B4-BE49-F238E27FC236}">
                <a16:creationId xmlns:a16="http://schemas.microsoft.com/office/drawing/2014/main" id="{80A63EBE-63C0-41EF-9B46-D99FBC091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ED"/>
            </a:solidFill>
            <a:prstDash val="solid"/>
          </a:ln>
        </p:spPr>
      </p:sp>
      <p:sp>
        <p:nvSpPr>
          <p:cNvPr id="5" name="footer-9">
            <a:extLst xmlns:a="http://schemas.openxmlformats.org/drawingml/2006/main">
              <a:ext uri="{FF2B5EF4-FFF2-40B4-BE49-F238E27FC236}">
                <a16:creationId xmlns:a16="http://schemas.microsoft.com/office/drawing/2014/main" id="{059C3CA0-C466-4B4A-A492-BAF3AE371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4748B"/>
                </a:solidFill>
              </a:defRPr>
            </a:pPr>
            <a:r>
              <a:rPr sz="750" b="0" i="0">
                <a:solidFill>
                  <a:srgbClr val="64748B"/>
                </a:solidFill>
              </a:rPr>
              <a:t>ALUNZA · CAPSTONE 2026 · SEDE PUENTE ALTO</a:t>
            </a:r>
          </a:p>
        </p:txBody>
      </p:sp>
      <p:sp>
        <p:nvSpPr>
          <p:cNvPr id="6" name="page-9">
            <a:extLst xmlns:a="http://schemas.openxmlformats.org/drawingml/2006/main">
              <a:ext uri="{FF2B5EF4-FFF2-40B4-BE49-F238E27FC236}">
                <a16:creationId xmlns:a16="http://schemas.microsoft.com/office/drawing/2014/main" id="{6DB0E600-AB77-4C49-BC8D-CFD2ED735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579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4748B"/>
                </a:solidFill>
              </a:defRPr>
            </a:pPr>
            <a:r>
              <a:rPr sz="825" b="0" i="0">
                <a:solidFill>
                  <a:srgbClr val="64748B"/>
                </a:solidFill>
              </a:rPr>
              <a:t>09</a:t>
            </a:r>
          </a:p>
        </p:txBody>
      </p:sp>
      <p:sp>
        <p:nvSpPr>
          <p:cNvPr id="7" name="arch-lead">
            <a:extLst xmlns:a="http://schemas.openxmlformats.org/drawingml/2006/main">
              <a:ext uri="{FF2B5EF4-FFF2-40B4-BE49-F238E27FC236}">
                <a16:creationId xmlns:a16="http://schemas.microsoft.com/office/drawing/2014/main" id="{16BEFDF7-622B-4F50-A3AE-2794BBF49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4748B"/>
                </a:solidFill>
              </a:defRPr>
            </a:pPr>
            <a:r>
              <a:rPr sz="1200" b="0" i="0">
                <a:solidFill>
                  <a:srgbClr val="64748B"/>
                </a:solidFill>
              </a:rPr>
              <a:t>Vercel sirve la interfaz y el Sandbox; Supabase gestiona identidad y datos; Azure aloja la API y la IA.</a:t>
            </a:r>
          </a:p>
        </p:txBody>
      </p:sp>
      <p:sp>
        <p:nvSpPr>
          <p:cNvPr id="8" name="arch-flow1-title">
            <a:extLst xmlns:a="http://schemas.openxmlformats.org/drawingml/2006/main">
              <a:ext uri="{FF2B5EF4-FFF2-40B4-BE49-F238E27FC236}">
                <a16:creationId xmlns:a16="http://schemas.microsoft.com/office/drawing/2014/main" id="{B5D91435-0CFF-4773-A5CF-4F54AD6C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F6FED"/>
                </a:solidFill>
              </a:defRPr>
            </a:pPr>
            <a:r>
              <a:rPr sz="1050" b="1" i="0">
                <a:solidFill>
                  <a:srgbClr val="2F6FED"/>
                </a:solidFill>
              </a:rPr>
              <a:t>FLUJO TRANSACCIONAL</a:t>
            </a:r>
          </a:p>
        </p:txBody>
      </p:sp>
      <p:sp>
        <p:nvSpPr>
          <p:cNvPr id="9" name="arch-f1-0">
            <a:extLst xmlns:a="http://schemas.openxmlformats.org/drawingml/2006/main">
              <a:ext uri="{FF2B5EF4-FFF2-40B4-BE49-F238E27FC236}">
                <a16:creationId xmlns:a16="http://schemas.microsoft.com/office/drawing/2014/main" id="{29986D54-63AD-44FE-8A8C-DE52BD009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5811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F6FED"/>
            </a:solidFill>
            <a:prstDash val="solid"/>
          </a:ln>
        </p:spPr>
      </p:sp>
      <p:sp>
        <p:nvSpPr>
          <p:cNvPr id="10" name="arch-f1-t-0">
            <a:extLst xmlns:a="http://schemas.openxmlformats.org/drawingml/2006/main">
              <a:ext uri="{FF2B5EF4-FFF2-40B4-BE49-F238E27FC236}">
                <a16:creationId xmlns:a16="http://schemas.microsoft.com/office/drawing/2014/main" id="{66B82ABA-49DE-4BA1-B79C-56C225E6C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1390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2F6FED"/>
                </a:solidFill>
              </a:defRPr>
            </a:pPr>
            <a:r>
              <a:rPr sz="1050" b="1" i="0">
                <a:solidFill>
                  <a:srgbClr val="2F6FED"/>
                </a:solidFill>
              </a:rPr>
              <a:t>Next.js en Vercel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2F6FED"/>
                </a:solidFill>
              </a:defRPr>
            </a:pPr>
            <a:r>
              <a:rPr sz="1050" b="1" i="0">
                <a:solidFill>
                  <a:srgbClr val="2F6FED"/>
                </a:solidFill>
              </a:rPr>
              <a:t>React 19 + TS 5.x</a:t>
            </a:r>
          </a:p>
        </p:txBody>
      </p:sp>
      <p:sp>
        <p:nvSpPr>
          <p:cNvPr id="11" name="arch-f1-1">
            <a:extLst xmlns:a="http://schemas.openxmlformats.org/drawingml/2006/main">
              <a:ext uri="{FF2B5EF4-FFF2-40B4-BE49-F238E27FC236}">
                <a16:creationId xmlns:a16="http://schemas.microsoft.com/office/drawing/2014/main" id="{E4EDCDEE-882C-4037-A333-AD6D3658A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266950"/>
            <a:ext cx="15811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6F6F3"/>
          </a:solidFill>
          <a:ln xmlns:a="http://schemas.openxmlformats.org/drawingml/2006/main" w="9525">
            <a:solidFill>
              <a:srgbClr val="159A8C"/>
            </a:solidFill>
            <a:prstDash val="solid"/>
          </a:ln>
        </p:spPr>
      </p:sp>
      <p:sp>
        <p:nvSpPr>
          <p:cNvPr id="12" name="arch-f1-t-1">
            <a:extLst xmlns:a="http://schemas.openxmlformats.org/drawingml/2006/main">
              <a:ext uri="{FF2B5EF4-FFF2-40B4-BE49-F238E27FC236}">
                <a16:creationId xmlns:a16="http://schemas.microsoft.com/office/drawing/2014/main" id="{13E95291-1AAF-436D-ABE9-2280BCEC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457450"/>
            <a:ext cx="1390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59A8C"/>
                </a:solidFill>
              </a:defRPr>
            </a:pPr>
            <a:r>
              <a:rPr sz="1050" b="1" i="0">
                <a:solidFill>
                  <a:srgbClr val="159A8C"/>
                </a:solidFill>
              </a:rPr>
              <a:t>NestJS 12 en Azure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59A8C"/>
                </a:solidFill>
              </a:defRPr>
            </a:pPr>
            <a:r>
              <a:rPr sz="1050" b="1" i="0">
                <a:solidFill>
                  <a:srgbClr val="159A8C"/>
                </a:solidFill>
              </a:rPr>
              <a:t>Node 24 LTS</a:t>
            </a:r>
          </a:p>
        </p:txBody>
      </p:sp>
      <p:cxnSp>
        <p:nvCxnSpPr>
          <p:cNvPr id="177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190750" y="269557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4A3B8"/>
            </a:solidFill>
            <a:prstDash val="solid"/>
            <a:tailEnd type="arrow" w="sm" len="sm"/>
          </a:ln>
        </p:spPr>
      </p:cxnSp>
      <p:sp>
        <p:nvSpPr>
          <p:cNvPr id="14" name="arch-f1-2">
            <a:extLst xmlns:a="http://schemas.openxmlformats.org/drawingml/2006/main">
              <a:ext uri="{FF2B5EF4-FFF2-40B4-BE49-F238E27FC236}">
                <a16:creationId xmlns:a16="http://schemas.microsoft.com/office/drawing/2014/main" id="{B77A0E54-BB60-4DA7-BBAF-839ECABD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266950"/>
            <a:ext cx="15811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4D6"/>
          </a:solidFill>
          <a:ln xmlns:a="http://schemas.openxmlformats.org/drawingml/2006/main" w="9525">
            <a:solidFill>
              <a:srgbClr val="F4B63E"/>
            </a:solidFill>
            <a:prstDash val="solid"/>
          </a:ln>
        </p:spPr>
      </p:sp>
      <p:sp>
        <p:nvSpPr>
          <p:cNvPr id="15" name="arch-f1-t-2">
            <a:extLst xmlns:a="http://schemas.openxmlformats.org/drawingml/2006/main">
              <a:ext uri="{FF2B5EF4-FFF2-40B4-BE49-F238E27FC236}">
                <a16:creationId xmlns:a16="http://schemas.microsoft.com/office/drawing/2014/main" id="{D1BA59A9-B833-4AB8-8DA7-891621EA3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457450"/>
            <a:ext cx="1390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4B63E"/>
                </a:solidFill>
              </a:defRPr>
            </a:pPr>
            <a:r>
              <a:rPr sz="1050" b="1" i="0">
                <a:solidFill>
                  <a:srgbClr val="F4B63E"/>
                </a:solidFill>
              </a:rPr>
              <a:t>Vercel Sandbox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F4B63E"/>
                </a:solidFill>
              </a:defRPr>
            </a:pPr>
            <a:r>
              <a:rPr sz="1050" b="1" i="0">
                <a:solidFill>
                  <a:srgbClr val="F4B63E"/>
                </a:solidFill>
              </a:rPr>
              <a:t>1 vCPU + 2 GB</a:t>
            </a:r>
          </a:p>
        </p:txBody>
      </p:sp>
      <p:cxnSp>
        <p:nvCxnSpPr>
          <p:cNvPr id="180" name=""/>
          <p:cNvCxnSpPr>
            <a:stCxn xmlns:a="http://schemas.openxmlformats.org/drawingml/2006/main" id="11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943350" y="269557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4A3B8"/>
            </a:solidFill>
            <a:prstDash val="solid"/>
            <a:tailEnd type="arrow" w="sm" len="sm"/>
          </a:ln>
        </p:spPr>
      </p:cxnSp>
      <p:sp>
        <p:nvSpPr>
          <p:cNvPr id="17" name="arch-f1-3">
            <a:extLst xmlns:a="http://schemas.openxmlformats.org/drawingml/2006/main">
              <a:ext uri="{FF2B5EF4-FFF2-40B4-BE49-F238E27FC236}">
                <a16:creationId xmlns:a16="http://schemas.microsoft.com/office/drawing/2014/main" id="{FDEBADFE-D85E-4ABB-9B96-F0A31C7D7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266950"/>
            <a:ext cx="15811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0EDFF"/>
          </a:solidFill>
          <a:ln xmlns:a="http://schemas.openxmlformats.org/drawingml/2006/main" w="9525">
            <a:solidFill>
              <a:srgbClr val="7563C9"/>
            </a:solidFill>
            <a:prstDash val="solid"/>
          </a:ln>
        </p:spPr>
      </p:sp>
      <p:sp>
        <p:nvSpPr>
          <p:cNvPr id="18" name="arch-f1-t-3">
            <a:extLst xmlns:a="http://schemas.openxmlformats.org/drawingml/2006/main">
              <a:ext uri="{FF2B5EF4-FFF2-40B4-BE49-F238E27FC236}">
                <a16:creationId xmlns:a16="http://schemas.microsoft.com/office/drawing/2014/main" id="{79800FC5-5142-4FAF-8E39-51E1AEAE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57450"/>
            <a:ext cx="1390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7563C9"/>
                </a:solidFill>
              </a:defRPr>
            </a:pPr>
            <a:r>
              <a:rPr sz="1050" b="1" i="0">
                <a:solidFill>
                  <a:srgbClr val="7563C9"/>
                </a:solidFill>
              </a:rPr>
              <a:t>Supabase PG17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7563C9"/>
                </a:solidFill>
              </a:defRPr>
            </a:pPr>
            <a:r>
              <a:rPr sz="1050" b="1" i="0">
                <a:solidFill>
                  <a:srgbClr val="7563C9"/>
                </a:solidFill>
              </a:rPr>
              <a:t>Auth + RLS + Storage</a:t>
            </a:r>
          </a:p>
        </p:txBody>
      </p:sp>
      <p:cxnSp>
        <p:nvCxnSpPr>
          <p:cNvPr id="183" name=""/>
          <p:cNvCxnSpPr>
            <a:stCxn xmlns:a="http://schemas.openxmlformats.org/drawingml/2006/main" id="14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5695950" y="269557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4A3B8"/>
            </a:solidFill>
            <a:prstDash val="solid"/>
            <a:tailEnd type="arrow" w="sm" len="sm"/>
          </a:ln>
        </p:spPr>
      </p:cxnSp>
      <p:sp>
        <p:nvSpPr>
          <p:cNvPr id="20" name="arch-f1-4">
            <a:extLst xmlns:a="http://schemas.openxmlformats.org/drawingml/2006/main">
              <a:ext uri="{FF2B5EF4-FFF2-40B4-BE49-F238E27FC236}">
                <a16:creationId xmlns:a16="http://schemas.microsoft.com/office/drawing/2014/main" id="{EAEA1250-7638-4083-915D-B434EB3F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266950"/>
            <a:ext cx="15811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4F86C6"/>
            </a:solidFill>
            <a:prstDash val="solid"/>
          </a:ln>
        </p:spPr>
      </p:sp>
      <p:sp>
        <p:nvSpPr>
          <p:cNvPr id="21" name="arch-f1-t-4">
            <a:extLst xmlns:a="http://schemas.openxmlformats.org/drawingml/2006/main">
              <a:ext uri="{FF2B5EF4-FFF2-40B4-BE49-F238E27FC236}">
                <a16:creationId xmlns:a16="http://schemas.microsoft.com/office/drawing/2014/main" id="{C1185BE6-2BCA-4096-A4F4-68F72920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457450"/>
            <a:ext cx="1390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4F86C6"/>
                </a:solidFill>
              </a:defRPr>
            </a:pPr>
            <a:r>
              <a:rPr sz="1050" b="1" i="0">
                <a:solidFill>
                  <a:srgbClr val="4F86C6"/>
                </a:solidFill>
              </a:rPr>
              <a:t>Reglas + pgvector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4F86C6"/>
                </a:solidFill>
              </a:defRPr>
            </a:pPr>
            <a:r>
              <a:rPr sz="1050" b="1" i="0">
                <a:solidFill>
                  <a:srgbClr val="4F86C6"/>
                </a:solidFill>
              </a:rPr>
              <a:t>SQL versionado</a:t>
            </a:r>
          </a:p>
        </p:txBody>
      </p:sp>
      <p:cxnSp>
        <p:nvCxnSpPr>
          <p:cNvPr id="186" name=""/>
          <p:cNvCxnSpPr>
            <a:stCxn xmlns:a="http://schemas.openxmlformats.org/drawingml/2006/main" id="17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7448550" y="269557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4A3B8"/>
            </a:solidFill>
            <a:prstDash val="solid"/>
            <a:tailEnd type="arrow" w="sm" len="sm"/>
          </a:ln>
        </p:spPr>
      </p:cxnSp>
      <p:sp>
        <p:nvSpPr>
          <p:cNvPr id="23" name="arch-f1-5">
            <a:extLst xmlns:a="http://schemas.openxmlformats.org/drawingml/2006/main">
              <a:ext uri="{FF2B5EF4-FFF2-40B4-BE49-F238E27FC236}">
                <a16:creationId xmlns:a16="http://schemas.microsoft.com/office/drawing/2014/main" id="{9244E46F-14D3-4C20-BDD3-67AA5594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266950"/>
            <a:ext cx="15811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8F0"/>
          </a:solidFill>
          <a:ln xmlns:a="http://schemas.openxmlformats.org/drawingml/2006/main" w="9525">
            <a:solidFill>
              <a:srgbClr val="2FA96B"/>
            </a:solidFill>
            <a:prstDash val="solid"/>
          </a:ln>
        </p:spPr>
      </p:sp>
      <p:sp>
        <p:nvSpPr>
          <p:cNvPr id="24" name="arch-f1-t-5">
            <a:extLst xmlns:a="http://schemas.openxmlformats.org/drawingml/2006/main">
              <a:ext uri="{FF2B5EF4-FFF2-40B4-BE49-F238E27FC236}">
                <a16:creationId xmlns:a16="http://schemas.microsoft.com/office/drawing/2014/main" id="{76FA0C8F-3819-40D4-9C63-90DE7746E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457450"/>
            <a:ext cx="1390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2FA96B"/>
                </a:solidFill>
              </a:defRPr>
            </a:pPr>
            <a:r>
              <a:rPr sz="1050" b="1" i="0">
                <a:solidFill>
                  <a:srgbClr val="2FA96B"/>
                </a:solidFill>
              </a:rPr>
              <a:t>Tablero + CSV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2FA96B"/>
                </a:solidFill>
              </a:defRPr>
            </a:pPr>
            <a:r>
              <a:rPr sz="1050" b="1" i="0">
                <a:solidFill>
                  <a:srgbClr val="2FA96B"/>
                </a:solidFill>
              </a:rPr>
              <a:t>Recharts + shadcn/ui</a:t>
            </a:r>
          </a:p>
        </p:txBody>
      </p:sp>
      <p:cxnSp>
        <p:nvCxnSpPr>
          <p:cNvPr id="189" name=""/>
          <p:cNvCxnSpPr>
            <a:stCxn xmlns:a="http://schemas.openxmlformats.org/drawingml/2006/main" id="20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9201150" y="269557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4A3B8"/>
            </a:solidFill>
            <a:prstDash val="solid"/>
            <a:tailEnd type="arrow" w="sm" len="sm"/>
          </a:ln>
        </p:spPr>
      </p:cxnSp>
      <p:sp>
        <p:nvSpPr>
          <p:cNvPr id="26" name="arch-flow2-title">
            <a:extLst xmlns:a="http://schemas.openxmlformats.org/drawingml/2006/main">
              <a:ext uri="{FF2B5EF4-FFF2-40B4-BE49-F238E27FC236}">
                <a16:creationId xmlns:a16="http://schemas.microsoft.com/office/drawing/2014/main" id="{7DECC807-6C80-4B6E-9587-DFA79EC7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7563C9"/>
                </a:solidFill>
              </a:defRPr>
            </a:pPr>
            <a:r>
              <a:rPr sz="1050" b="1" i="0">
                <a:solidFill>
                  <a:srgbClr val="7563C9"/>
                </a:solidFill>
              </a:rPr>
              <a:t>INGESTA Y RECUPERACIÓN RAG</a:t>
            </a:r>
          </a:p>
        </p:txBody>
      </p:sp>
      <p:sp>
        <p:nvSpPr>
          <p:cNvPr id="27" name="arch-f2-0">
            <a:extLst xmlns:a="http://schemas.openxmlformats.org/drawingml/2006/main">
              <a:ext uri="{FF2B5EF4-FFF2-40B4-BE49-F238E27FC236}">
                <a16:creationId xmlns:a16="http://schemas.microsoft.com/office/drawing/2014/main" id="{DFD3554B-1EAF-4304-80E9-65E309B39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18097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563C9"/>
            </a:solidFill>
            <a:prstDash val="solid"/>
          </a:ln>
        </p:spPr>
      </p:sp>
      <p:sp>
        <p:nvSpPr>
          <p:cNvPr id="28" name="arch-f2-t-0">
            <a:extLst xmlns:a="http://schemas.openxmlformats.org/drawingml/2006/main">
              <a:ext uri="{FF2B5EF4-FFF2-40B4-BE49-F238E27FC236}">
                <a16:creationId xmlns:a16="http://schemas.microsoft.com/office/drawing/2014/main" id="{C2B6C430-2A94-48B9-8CE0-3B853CF4B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71950"/>
            <a:ext cx="1543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7563C9"/>
                </a:solidFill>
              </a:defRPr>
            </a:pPr>
            <a:r>
              <a:rPr sz="1125" b="1" i="0">
                <a:solidFill>
                  <a:srgbClr val="7563C9"/>
                </a:solidFill>
              </a:rPr>
              <a:t>Documento autorizado</a:t>
            </a:r>
          </a:p>
        </p:txBody>
      </p:sp>
      <p:sp>
        <p:nvSpPr>
          <p:cNvPr id="29" name="arch-f2-1">
            <a:extLst xmlns:a="http://schemas.openxmlformats.org/drawingml/2006/main">
              <a:ext uri="{FF2B5EF4-FFF2-40B4-BE49-F238E27FC236}">
                <a16:creationId xmlns:a16="http://schemas.microsoft.com/office/drawing/2014/main" id="{A9FA8FC9-8B9C-4C00-8212-55C89453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943350"/>
            <a:ext cx="18097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563C9"/>
            </a:solidFill>
            <a:prstDash val="solid"/>
          </a:ln>
        </p:spPr>
      </p:sp>
      <p:sp>
        <p:nvSpPr>
          <p:cNvPr id="30" name="arch-f2-t-1">
            <a:extLst xmlns:a="http://schemas.openxmlformats.org/drawingml/2006/main">
              <a:ext uri="{FF2B5EF4-FFF2-40B4-BE49-F238E27FC236}">
                <a16:creationId xmlns:a16="http://schemas.microsoft.com/office/drawing/2014/main" id="{D367582D-DDEA-4E6C-BB10-153C410C0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71950"/>
            <a:ext cx="1543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7563C9"/>
                </a:solidFill>
              </a:defRPr>
            </a:pPr>
            <a:r>
              <a:rPr sz="1125" b="1" i="0">
                <a:solidFill>
                  <a:srgbClr val="7563C9"/>
                </a:solidFill>
              </a:rPr>
              <a:t>Extraer y fragmentar</a:t>
            </a:r>
          </a:p>
        </p:txBody>
      </p:sp>
      <p:cxnSp>
        <p:nvCxnSpPr>
          <p:cNvPr id="195" name=""/>
          <p:cNvCxnSpPr>
            <a:stCxn xmlns:a="http://schemas.openxmlformats.org/drawingml/2006/main" id="27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>
            <a:off x="2419350" y="433387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563C9"/>
            </a:solidFill>
            <a:prstDash val="solid"/>
            <a:tailEnd type="arrow" w="sm" len="sm"/>
          </a:ln>
        </p:spPr>
      </p:cxnSp>
      <p:sp>
        <p:nvSpPr>
          <p:cNvPr id="32" name="arch-f2-2">
            <a:extLst xmlns:a="http://schemas.openxmlformats.org/drawingml/2006/main">
              <a:ext uri="{FF2B5EF4-FFF2-40B4-BE49-F238E27FC236}">
                <a16:creationId xmlns:a16="http://schemas.microsoft.com/office/drawing/2014/main" id="{4F9E5D39-F488-4BAE-8E39-E42429A79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943350"/>
            <a:ext cx="18097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563C9"/>
            </a:solidFill>
            <a:prstDash val="solid"/>
          </a:ln>
        </p:spPr>
      </p:sp>
      <p:sp>
        <p:nvSpPr>
          <p:cNvPr id="33" name="arch-f2-t-2">
            <a:extLst xmlns:a="http://schemas.openxmlformats.org/drawingml/2006/main">
              <a:ext uri="{FF2B5EF4-FFF2-40B4-BE49-F238E27FC236}">
                <a16:creationId xmlns:a16="http://schemas.microsoft.com/office/drawing/2014/main" id="{A01C13D5-2001-4692-BE4E-6D0EE0D29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171950"/>
            <a:ext cx="1543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7563C9"/>
                </a:solidFill>
              </a:defRPr>
            </a:pPr>
            <a:r>
              <a:rPr sz="1125" b="1" i="0">
                <a:solidFill>
                  <a:srgbClr val="7563C9"/>
                </a:solidFill>
              </a:rPr>
              <a:t>Embeddings Azure OpenAI</a:t>
            </a:r>
          </a:p>
        </p:txBody>
      </p:sp>
      <p:cxnSp>
        <p:nvCxnSpPr>
          <p:cNvPr id="198" name=""/>
          <p:cNvCxnSpPr>
            <a:stCxn xmlns:a="http://schemas.openxmlformats.org/drawingml/2006/main" id="29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4533900" y="433387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563C9"/>
            </a:solidFill>
            <a:prstDash val="solid"/>
            <a:tailEnd type="arrow" w="sm" len="sm"/>
          </a:ln>
        </p:spPr>
      </p:cxnSp>
      <p:sp>
        <p:nvSpPr>
          <p:cNvPr id="35" name="arch-f2-3">
            <a:extLst xmlns:a="http://schemas.openxmlformats.org/drawingml/2006/main">
              <a:ext uri="{FF2B5EF4-FFF2-40B4-BE49-F238E27FC236}">
                <a16:creationId xmlns:a16="http://schemas.microsoft.com/office/drawing/2014/main" id="{BFABBD42-1A4A-41C8-8587-72E2D39E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943350"/>
            <a:ext cx="18097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563C9"/>
            </a:solidFill>
            <a:prstDash val="solid"/>
          </a:ln>
        </p:spPr>
      </p:sp>
      <p:sp>
        <p:nvSpPr>
          <p:cNvPr id="36" name="arch-f2-t-3">
            <a:extLst xmlns:a="http://schemas.openxmlformats.org/drawingml/2006/main">
              <a:ext uri="{FF2B5EF4-FFF2-40B4-BE49-F238E27FC236}">
                <a16:creationId xmlns:a16="http://schemas.microsoft.com/office/drawing/2014/main" id="{704852DB-324D-484D-98EE-C55829E3F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171950"/>
            <a:ext cx="1543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7563C9"/>
                </a:solidFill>
              </a:defRPr>
            </a:pPr>
            <a:r>
              <a:rPr sz="1125" b="1" i="0">
                <a:solidFill>
                  <a:srgbClr val="7563C9"/>
                </a:solidFill>
              </a:rPr>
              <a:t>pgvector en Supabase</a:t>
            </a:r>
          </a:p>
        </p:txBody>
      </p:sp>
      <p:cxnSp>
        <p:nvCxnSpPr>
          <p:cNvPr id="201" name=""/>
          <p:cNvCxnSpPr>
            <a:stCxn xmlns:a="http://schemas.openxmlformats.org/drawingml/2006/main" id="32" idx="3"/>
            <a:endCxn xmlns:a="http://schemas.openxmlformats.org/drawingml/2006/main" id="35" idx="1"/>
          </p:cNvCxnSpPr>
          <p:nvPr/>
        </p:nvCxnSpPr>
        <p:spPr>
          <a:xfrm xmlns:a="http://schemas.openxmlformats.org/drawingml/2006/main">
            <a:off x="6648450" y="433387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563C9"/>
            </a:solidFill>
            <a:prstDash val="solid"/>
            <a:tailEnd type="arrow" w="sm" len="sm"/>
          </a:ln>
        </p:spPr>
      </p:cxnSp>
      <p:sp>
        <p:nvSpPr>
          <p:cNvPr id="38" name="arch-f2-4">
            <a:extLst xmlns:a="http://schemas.openxmlformats.org/drawingml/2006/main">
              <a:ext uri="{FF2B5EF4-FFF2-40B4-BE49-F238E27FC236}">
                <a16:creationId xmlns:a16="http://schemas.microsoft.com/office/drawing/2014/main" id="{D70E32C1-8F9C-4543-8D48-DC04D4153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943350"/>
            <a:ext cx="18097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563C9"/>
            </a:solidFill>
            <a:prstDash val="solid"/>
          </a:ln>
        </p:spPr>
      </p:sp>
      <p:sp>
        <p:nvSpPr>
          <p:cNvPr id="39" name="arch-f2-t-4">
            <a:extLst xmlns:a="http://schemas.openxmlformats.org/drawingml/2006/main">
              <a:ext uri="{FF2B5EF4-FFF2-40B4-BE49-F238E27FC236}">
                <a16:creationId xmlns:a16="http://schemas.microsoft.com/office/drawing/2014/main" id="{021560FD-FC7C-498A-8B09-0CA57010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171950"/>
            <a:ext cx="1543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7563C9"/>
                </a:solidFill>
              </a:defRPr>
            </a:pPr>
            <a:r>
              <a:rPr sz="1125" b="1" i="0">
                <a:solidFill>
                  <a:srgbClr val="7563C9"/>
                </a:solidFill>
              </a:rPr>
              <a:t>Recuperar + validar cita</a:t>
            </a:r>
          </a:p>
        </p:txBody>
      </p:sp>
      <p:cxnSp>
        <p:nvCxnSpPr>
          <p:cNvPr id="204" name=""/>
          <p:cNvCxnSpPr>
            <a:stCxn xmlns:a="http://schemas.openxmlformats.org/drawingml/2006/main" id="35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8763000" y="433387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563C9"/>
            </a:solidFill>
            <a:prstDash val="solid"/>
            <a:tailEnd type="arrow" w="sm" len="sm"/>
          </a:ln>
        </p:spPr>
      </p:cxnSp>
      <p:sp>
        <p:nvSpPr>
          <p:cNvPr id="41" name="arch-cross-bg">
            <a:extLst xmlns:a="http://schemas.openxmlformats.org/drawingml/2006/main">
              <a:ext uri="{FF2B5EF4-FFF2-40B4-BE49-F238E27FC236}">
                <a16:creationId xmlns:a16="http://schemas.microsoft.com/office/drawing/2014/main" id="{33FE2AA1-C0C8-474D-9AEE-372250E33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6680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102A43"/>
            </a:solidFill>
            <a:prstDash val="solid"/>
          </a:ln>
        </p:spPr>
      </p:sp>
      <p:sp>
        <p:nvSpPr>
          <p:cNvPr id="42" name="arch-cross-title">
            <a:extLst xmlns:a="http://schemas.openxmlformats.org/drawingml/2006/main">
              <a:ext uri="{FF2B5EF4-FFF2-40B4-BE49-F238E27FC236}">
                <a16:creationId xmlns:a16="http://schemas.microsoft.com/office/drawing/2014/main" id="{95B3DDF6-11CE-465F-B81E-F3FAD679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7210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4B63E"/>
                </a:solidFill>
              </a:defRPr>
            </a:pPr>
            <a:r>
              <a:rPr sz="1050" b="1" i="0">
                <a:solidFill>
                  <a:srgbClr val="F4B63E"/>
                </a:solidFill>
              </a:rPr>
              <a:t>CAPAS TRANSVERSALES</a:t>
            </a:r>
          </a:p>
        </p:txBody>
      </p:sp>
      <p:sp>
        <p:nvSpPr>
          <p:cNvPr id="43" name="arch-cross-copy">
            <a:extLst xmlns:a="http://schemas.openxmlformats.org/drawingml/2006/main">
              <a:ext uri="{FF2B5EF4-FFF2-40B4-BE49-F238E27FC236}">
                <a16:creationId xmlns:a16="http://schemas.microsoft.com/office/drawing/2014/main" id="{6BBDB632-56A9-4C64-AD84-C027B825F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33400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JWT validado en NestJS, RLS por organización y clase, proceso 128 MB/3 s/64 KB, correlación por intento, Docker Compose local y GitHub Actions.</a:t>
            </a:r>
          </a:p>
        </p:txBody>
      </p:sp>
      <p:sp>
        <p:nvSpPr>
          <p:cNvPr id="44" name="arch-audit">
            <a:extLst xmlns:a="http://schemas.openxmlformats.org/drawingml/2006/main">
              <a:ext uri="{FF2B5EF4-FFF2-40B4-BE49-F238E27FC236}">
                <a16:creationId xmlns:a16="http://schemas.microsoft.com/office/drawing/2014/main" id="{D9F578E7-21DA-4F10-8A94-1949A057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676900"/>
            <a:ext cx="819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AF2FF"/>
                </a:solidFill>
              </a:defRPr>
            </a:pPr>
            <a:r>
              <a:rPr sz="1125" b="0" i="0">
                <a:solidFill>
                  <a:srgbClr val="EAF2FF"/>
                </a:solidFill>
              </a:rPr>
              <a:t>NestJS concentra dominio, autorización, auditoría y orquestación; Next.js no replica la API.</a:t>
            </a:r>
          </a:p>
        </p:txBody>
      </p:sp>
    </p:spTree>
    <p:extLst>
      <p:ext uri="{BB962C8B-B14F-4D97-AF65-F5344CB8AC3E}">
        <p14:creationId xmlns:p14="http://schemas.microsoft.com/office/powerpoint/2010/main" val="76189113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0" name="rail-10">
            <a:extLst xmlns:a="http://schemas.openxmlformats.org/drawingml/2006/main">
              <a:ext uri="{FF2B5EF4-FFF2-40B4-BE49-F238E27FC236}">
                <a16:creationId xmlns:a16="http://schemas.microsoft.com/office/drawing/2014/main" id="{74B783DF-1E57-4267-9295-BC245A3F5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2" name="kicker-10">
            <a:extLst xmlns:a="http://schemas.openxmlformats.org/drawingml/2006/main">
              <a:ext uri="{FF2B5EF4-FFF2-40B4-BE49-F238E27FC236}">
                <a16:creationId xmlns:a16="http://schemas.microsoft.com/office/drawing/2014/main" id="{02BA8225-8E16-47BC-B598-86B99CCA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2F6FED"/>
                </a:solidFill>
              </a:defRPr>
            </a:pPr>
            <a:r>
              <a:rPr sz="900" b="1" i="0">
                <a:solidFill>
                  <a:srgbClr val="2F6FED"/>
                </a:solidFill>
              </a:rPr>
              <a:t>PLANIFICACIÓN · RACI</a:t>
            </a:r>
          </a:p>
        </p:txBody>
      </p:sp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7B56CFE4-3541-4CF0-B83D-A9D36B4CB0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53340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102A43"/>
                </a:solidFill>
              </a:defRPr>
            </a:pPr>
            <a:r>
              <a:rPr sz="2400" b="1" i="0">
                <a:solidFill>
                  <a:srgbClr val="102A43"/>
                </a:solidFill>
              </a:rPr>
              <a:t>Responsabilidades claras reducen el riesgo de trabajo desigual</a:t>
            </a:r>
          </a:p>
        </p:txBody>
      </p:sp>
      <p:sp>
        <p:nvSpPr>
          <p:cNvPr id="4" name="header-line-10">
            <a:extLst xmlns:a="http://schemas.openxmlformats.org/drawingml/2006/main">
              <a:ext uri="{FF2B5EF4-FFF2-40B4-BE49-F238E27FC236}">
                <a16:creationId xmlns:a16="http://schemas.microsoft.com/office/drawing/2014/main" id="{B4B6FCD7-DCC1-43DB-B1BF-80181A65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ED"/>
            </a:solidFill>
            <a:prstDash val="solid"/>
          </a:ln>
        </p:spPr>
      </p:sp>
      <p:sp>
        <p:nvSpPr>
          <p:cNvPr id="5" name="footer-10">
            <a:extLst xmlns:a="http://schemas.openxmlformats.org/drawingml/2006/main">
              <a:ext uri="{FF2B5EF4-FFF2-40B4-BE49-F238E27FC236}">
                <a16:creationId xmlns:a16="http://schemas.microsoft.com/office/drawing/2014/main" id="{A45A1C1D-1435-4374-A1F7-A44FA0ED6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4748B"/>
                </a:solidFill>
              </a:defRPr>
            </a:pPr>
            <a:r>
              <a:rPr sz="750" b="0" i="0">
                <a:solidFill>
                  <a:srgbClr val="64748B"/>
                </a:solidFill>
              </a:rPr>
              <a:t>ALUNZA · CAPSTONE 2026 · SEDE PUENTE ALTO</a:t>
            </a:r>
          </a:p>
        </p:txBody>
      </p:sp>
      <p:sp>
        <p:nvSpPr>
          <p:cNvPr id="6" name="page-10">
            <a:extLst xmlns:a="http://schemas.openxmlformats.org/drawingml/2006/main">
              <a:ext uri="{FF2B5EF4-FFF2-40B4-BE49-F238E27FC236}">
                <a16:creationId xmlns:a16="http://schemas.microsoft.com/office/drawing/2014/main" id="{946CD26C-527E-4857-A14D-E56CD42F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579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4748B"/>
                </a:solidFill>
              </a:defRPr>
            </a:pPr>
            <a:r>
              <a:rPr sz="825" b="0" i="0">
                <a:solidFill>
                  <a:srgbClr val="64748B"/>
                </a:solidFill>
              </a:rPr>
              <a:t>10</a:t>
            </a:r>
          </a:p>
        </p:txBody>
      </p:sp>
      <p:sp>
        <p:nvSpPr>
          <p:cNvPr id="7" name="owner-0-bg">
            <a:extLst xmlns:a="http://schemas.openxmlformats.org/drawingml/2006/main">
              <a:ext uri="{FF2B5EF4-FFF2-40B4-BE49-F238E27FC236}">
                <a16:creationId xmlns:a16="http://schemas.microsoft.com/office/drawing/2014/main" id="{960EE13F-46F5-4567-933C-77295ACB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3718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8" name="owner-0-title">
            <a:extLst xmlns:a="http://schemas.openxmlformats.org/drawingml/2006/main">
              <a:ext uri="{FF2B5EF4-FFF2-40B4-BE49-F238E27FC236}">
                <a16:creationId xmlns:a16="http://schemas.microsoft.com/office/drawing/2014/main" id="{D61BC9D3-595E-4F41-9807-1803FF5F5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2F6FED"/>
                </a:solidFill>
              </a:defRPr>
            </a:pPr>
            <a:r>
              <a:rPr sz="1425" b="1" i="0">
                <a:solidFill>
                  <a:srgbClr val="2F6FED"/>
                </a:solidFill>
              </a:rPr>
              <a:t>Marcelo Núñez</a:t>
            </a:r>
          </a:p>
        </p:txBody>
      </p:sp>
      <p:sp>
        <p:nvSpPr>
          <p:cNvPr id="9" name="owner-0-body">
            <a:extLst xmlns:a="http://schemas.openxmlformats.org/drawingml/2006/main">
              <a:ext uri="{FF2B5EF4-FFF2-40B4-BE49-F238E27FC236}">
                <a16:creationId xmlns:a16="http://schemas.microsoft.com/office/drawing/2014/main" id="{C04BB5B0-FF34-4810-90C6-7924DE6F4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43100"/>
            <a:ext cx="3067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Product Owner · backend e integración</a:t>
            </a:r>
          </a:p>
        </p:txBody>
      </p:sp>
      <p:sp>
        <p:nvSpPr>
          <p:cNvPr id="10" name="owner-1-bg">
            <a:extLst xmlns:a="http://schemas.openxmlformats.org/drawingml/2006/main">
              <a:ext uri="{FF2B5EF4-FFF2-40B4-BE49-F238E27FC236}">
                <a16:creationId xmlns:a16="http://schemas.microsoft.com/office/drawing/2014/main" id="{01677E4B-BD2A-4BA6-9F21-1EA89C56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04950"/>
            <a:ext cx="33718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11" name="owner-1-title">
            <a:extLst xmlns:a="http://schemas.openxmlformats.org/drawingml/2006/main">
              <a:ext uri="{FF2B5EF4-FFF2-40B4-BE49-F238E27FC236}">
                <a16:creationId xmlns:a16="http://schemas.microsoft.com/office/drawing/2014/main" id="{7E6C4524-77CE-4449-A0D2-0EDC3CEE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6192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59A8C"/>
                </a:solidFill>
              </a:defRPr>
            </a:pPr>
            <a:r>
              <a:rPr sz="1425" b="1" i="0">
                <a:solidFill>
                  <a:srgbClr val="159A8C"/>
                </a:solidFill>
              </a:rPr>
              <a:t>Benjamin Pérez</a:t>
            </a:r>
          </a:p>
        </p:txBody>
      </p:sp>
      <p:sp>
        <p:nvSpPr>
          <p:cNvPr id="12" name="owner-1-body">
            <a:extLst xmlns:a="http://schemas.openxmlformats.org/drawingml/2006/main">
              <a:ext uri="{FF2B5EF4-FFF2-40B4-BE49-F238E27FC236}">
                <a16:creationId xmlns:a16="http://schemas.microsoft.com/office/drawing/2014/main" id="{ED674FB7-A108-44DB-8EA9-C9362498E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943100"/>
            <a:ext cx="3067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UX/UI · frontend y documentación</a:t>
            </a:r>
          </a:p>
        </p:txBody>
      </p:sp>
      <p:sp>
        <p:nvSpPr>
          <p:cNvPr id="13" name="owner-2-bg">
            <a:extLst xmlns:a="http://schemas.openxmlformats.org/drawingml/2006/main">
              <a:ext uri="{FF2B5EF4-FFF2-40B4-BE49-F238E27FC236}">
                <a16:creationId xmlns:a16="http://schemas.microsoft.com/office/drawing/2014/main" id="{B62FD66D-3ED6-46CB-8718-5FE99EE3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3718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14" name="owner-2-title">
            <a:extLst xmlns:a="http://schemas.openxmlformats.org/drawingml/2006/main">
              <a:ext uri="{FF2B5EF4-FFF2-40B4-BE49-F238E27FC236}">
                <a16:creationId xmlns:a16="http://schemas.microsoft.com/office/drawing/2014/main" id="{63EBA61A-5340-4BFD-A6B9-BBD0CC660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192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7563C9"/>
                </a:solidFill>
              </a:defRPr>
            </a:pPr>
            <a:r>
              <a:rPr sz="1425" b="1" i="0">
                <a:solidFill>
                  <a:srgbClr val="7563C9"/>
                </a:solidFill>
              </a:rPr>
              <a:t>Abraham Retamal</a:t>
            </a:r>
          </a:p>
        </p:txBody>
      </p:sp>
      <p:sp>
        <p:nvSpPr>
          <p:cNvPr id="15" name="owner-2-body">
            <a:extLst xmlns:a="http://schemas.openxmlformats.org/drawingml/2006/main">
              <a:ext uri="{FF2B5EF4-FFF2-40B4-BE49-F238E27FC236}">
                <a16:creationId xmlns:a16="http://schemas.microsoft.com/office/drawing/2014/main" id="{B17F5E84-5D07-4EA3-925D-DAC22993B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943100"/>
            <a:ext cx="3067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243B53"/>
                </a:solidFill>
              </a:defRPr>
            </a:pPr>
            <a:r>
              <a:rPr sz="1050" b="0" i="0">
                <a:solidFill>
                  <a:srgbClr val="243B53"/>
                </a:solidFill>
              </a:rPr>
              <a:t>Datos · IA/RAG y calidad</a:t>
            </a:r>
          </a:p>
        </p:txBody>
      </p:sp>
      <p:sp>
        <p:nvSpPr>
          <p:cNvPr id="16" name="raci-head-0">
            <a:extLst xmlns:a="http://schemas.openxmlformats.org/drawingml/2006/main">
              <a:ext uri="{FF2B5EF4-FFF2-40B4-BE49-F238E27FC236}">
                <a16:creationId xmlns:a16="http://schemas.microsoft.com/office/drawing/2014/main" id="{AD37A999-5E11-47A0-B598-1351DD79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5372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raci-head-t-0">
            <a:extLst xmlns:a="http://schemas.openxmlformats.org/drawingml/2006/main">
              <a:ext uri="{FF2B5EF4-FFF2-40B4-BE49-F238E27FC236}">
                <a16:creationId xmlns:a16="http://schemas.microsoft.com/office/drawing/2014/main" id="{4B63520C-C329-49B0-9F83-D951EEA4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8425"/>
            <a:ext cx="518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</a:defRPr>
            </a:pPr>
            <a:r>
              <a:rPr sz="1125" b="1" i="0">
                <a:solidFill>
                  <a:srgbClr val="FFFFFF"/>
                </a:solidFill>
              </a:rPr>
              <a:t>Actividad</a:t>
            </a:r>
          </a:p>
        </p:txBody>
      </p:sp>
      <p:sp>
        <p:nvSpPr>
          <p:cNvPr id="18" name="raci-head-1">
            <a:extLst xmlns:a="http://schemas.openxmlformats.org/drawingml/2006/main">
              <a:ext uri="{FF2B5EF4-FFF2-40B4-BE49-F238E27FC236}">
                <a16:creationId xmlns:a16="http://schemas.microsoft.com/office/drawing/2014/main" id="{057B5F2E-835A-45B9-8986-25B5E68E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533650"/>
            <a:ext cx="1676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raci-head-t-1">
            <a:extLst xmlns:a="http://schemas.openxmlformats.org/drawingml/2006/main">
              <a:ext uri="{FF2B5EF4-FFF2-40B4-BE49-F238E27FC236}">
                <a16:creationId xmlns:a16="http://schemas.microsoft.com/office/drawing/2014/main" id="{EF0F395A-820A-4B2D-955E-CE4CFFB2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638425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FFFFFF"/>
                </a:solidFill>
              </a:defRPr>
            </a:pPr>
            <a:r>
              <a:rPr sz="1125" b="1" i="0">
                <a:solidFill>
                  <a:srgbClr val="FFFFFF"/>
                </a:solidFill>
              </a:rPr>
              <a:t>Marcelo</a:t>
            </a:r>
          </a:p>
        </p:txBody>
      </p:sp>
      <p:sp>
        <p:nvSpPr>
          <p:cNvPr id="20" name="raci-head-2">
            <a:extLst xmlns:a="http://schemas.openxmlformats.org/drawingml/2006/main">
              <a:ext uri="{FF2B5EF4-FFF2-40B4-BE49-F238E27FC236}">
                <a16:creationId xmlns:a16="http://schemas.microsoft.com/office/drawing/2014/main" id="{7EDCBC39-A63F-4E75-99B1-2D8895CB6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533650"/>
            <a:ext cx="1676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raci-head-t-2">
            <a:extLst xmlns:a="http://schemas.openxmlformats.org/drawingml/2006/main">
              <a:ext uri="{FF2B5EF4-FFF2-40B4-BE49-F238E27FC236}">
                <a16:creationId xmlns:a16="http://schemas.microsoft.com/office/drawing/2014/main" id="{97CC65B7-B045-4A0B-B9E5-A23C26601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638425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FFFFFF"/>
                </a:solidFill>
              </a:defRPr>
            </a:pPr>
            <a:r>
              <a:rPr sz="1125" b="1" i="0">
                <a:solidFill>
                  <a:srgbClr val="FFFFFF"/>
                </a:solidFill>
              </a:rPr>
              <a:t>Benjamin</a:t>
            </a:r>
          </a:p>
        </p:txBody>
      </p:sp>
      <p:sp>
        <p:nvSpPr>
          <p:cNvPr id="22" name="raci-head-3">
            <a:extLst xmlns:a="http://schemas.openxmlformats.org/drawingml/2006/main">
              <a:ext uri="{FF2B5EF4-FFF2-40B4-BE49-F238E27FC236}">
                <a16:creationId xmlns:a16="http://schemas.microsoft.com/office/drawing/2014/main" id="{CFDF3FCF-5B1F-4ABF-A54C-A5496EC36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33650"/>
            <a:ext cx="1676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raci-head-t-3">
            <a:extLst xmlns:a="http://schemas.openxmlformats.org/drawingml/2006/main">
              <a:ext uri="{FF2B5EF4-FFF2-40B4-BE49-F238E27FC236}">
                <a16:creationId xmlns:a16="http://schemas.microsoft.com/office/drawing/2014/main" id="{7C8F673E-D312-47EE-9243-CA69CFD0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638425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FFFFFF"/>
                </a:solidFill>
              </a:defRPr>
            </a:pPr>
            <a:r>
              <a:rPr sz="1125" b="1" i="0">
                <a:solidFill>
                  <a:srgbClr val="FFFFFF"/>
                </a:solidFill>
              </a:rPr>
              <a:t>Abraham</a:t>
            </a:r>
          </a:p>
        </p:txBody>
      </p:sp>
      <p:sp>
        <p:nvSpPr>
          <p:cNvPr id="24" name="raci-0-0">
            <a:extLst xmlns:a="http://schemas.openxmlformats.org/drawingml/2006/main">
              <a:ext uri="{FF2B5EF4-FFF2-40B4-BE49-F238E27FC236}">
                <a16:creationId xmlns:a16="http://schemas.microsoft.com/office/drawing/2014/main" id="{DF7CFCBC-6089-4CE5-9A68-60178E03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5372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25" name="raci-t-0-0">
            <a:extLst xmlns:a="http://schemas.openxmlformats.org/drawingml/2006/main">
              <a:ext uri="{FF2B5EF4-FFF2-40B4-BE49-F238E27FC236}">
                <a16:creationId xmlns:a16="http://schemas.microsoft.com/office/drawing/2014/main" id="{CD645AB4-B832-456E-B35A-356FF0AA2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518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43B53"/>
                </a:solidFill>
              </a:defRPr>
            </a:pPr>
            <a:r>
              <a:rPr sz="1125" b="0" i="0">
                <a:solidFill>
                  <a:srgbClr val="243B53"/>
                </a:solidFill>
              </a:rPr>
              <a:t>Producto y backlog</a:t>
            </a:r>
          </a:p>
        </p:txBody>
      </p:sp>
      <p:sp>
        <p:nvSpPr>
          <p:cNvPr id="26" name="raci-0-1">
            <a:extLst xmlns:a="http://schemas.openxmlformats.org/drawingml/2006/main">
              <a:ext uri="{FF2B5EF4-FFF2-40B4-BE49-F238E27FC236}">
                <a16:creationId xmlns:a16="http://schemas.microsoft.com/office/drawing/2014/main" id="{7850B0BA-4AB7-4E98-AF68-ED8AC793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95275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6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27" name="raci-t-0-1">
            <a:extLst xmlns:a="http://schemas.openxmlformats.org/drawingml/2006/main">
              <a:ext uri="{FF2B5EF4-FFF2-40B4-BE49-F238E27FC236}">
                <a16:creationId xmlns:a16="http://schemas.microsoft.com/office/drawing/2014/main" id="{60301D12-ADBE-4827-A776-65EE2F577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48000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A/R</a:t>
            </a:r>
          </a:p>
        </p:txBody>
      </p:sp>
      <p:sp>
        <p:nvSpPr>
          <p:cNvPr id="28" name="raci-0-2">
            <a:extLst xmlns:a="http://schemas.openxmlformats.org/drawingml/2006/main">
              <a:ext uri="{FF2B5EF4-FFF2-40B4-BE49-F238E27FC236}">
                <a16:creationId xmlns:a16="http://schemas.microsoft.com/office/drawing/2014/main" id="{F773ECD5-2361-4E4D-B2C3-F5FD65018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95275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29" name="raci-t-0-2">
            <a:extLst xmlns:a="http://schemas.openxmlformats.org/drawingml/2006/main">
              <a:ext uri="{FF2B5EF4-FFF2-40B4-BE49-F238E27FC236}">
                <a16:creationId xmlns:a16="http://schemas.microsoft.com/office/drawing/2014/main" id="{1115772E-DA2B-418F-8C98-27493359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48000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64748B"/>
                </a:solidFill>
              </a:defRPr>
            </a:pPr>
            <a:r>
              <a:rPr sz="1125" b="1" i="0">
                <a:solidFill>
                  <a:srgbClr val="64748B"/>
                </a:solidFill>
              </a:rPr>
              <a:t>C</a:t>
            </a:r>
          </a:p>
        </p:txBody>
      </p:sp>
      <p:sp>
        <p:nvSpPr>
          <p:cNvPr id="30" name="raci-0-3">
            <a:extLst xmlns:a="http://schemas.openxmlformats.org/drawingml/2006/main">
              <a:ext uri="{FF2B5EF4-FFF2-40B4-BE49-F238E27FC236}">
                <a16:creationId xmlns:a16="http://schemas.microsoft.com/office/drawing/2014/main" id="{E67ED5D9-28CB-49F8-857E-90359B323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95275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31" name="raci-t-0-3">
            <a:extLst xmlns:a="http://schemas.openxmlformats.org/drawingml/2006/main">
              <a:ext uri="{FF2B5EF4-FFF2-40B4-BE49-F238E27FC236}">
                <a16:creationId xmlns:a16="http://schemas.microsoft.com/office/drawing/2014/main" id="{5525A671-BFB1-40EA-90F3-0CA2ABCC0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048000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64748B"/>
                </a:solidFill>
              </a:defRPr>
            </a:pPr>
            <a:r>
              <a:rPr sz="1125" b="1" i="0">
                <a:solidFill>
                  <a:srgbClr val="64748B"/>
                </a:solidFill>
              </a:rPr>
              <a:t>C</a:t>
            </a:r>
          </a:p>
        </p:txBody>
      </p:sp>
      <p:sp>
        <p:nvSpPr>
          <p:cNvPr id="32" name="raci-1-0">
            <a:extLst xmlns:a="http://schemas.openxmlformats.org/drawingml/2006/main">
              <a:ext uri="{FF2B5EF4-FFF2-40B4-BE49-F238E27FC236}">
                <a16:creationId xmlns:a16="http://schemas.microsoft.com/office/drawing/2014/main" id="{D8C1F294-6A7B-4FBE-9CCC-8DF438281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5372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33" name="raci-t-1-0">
            <a:extLst xmlns:a="http://schemas.openxmlformats.org/drawingml/2006/main">
              <a:ext uri="{FF2B5EF4-FFF2-40B4-BE49-F238E27FC236}">
                <a16:creationId xmlns:a16="http://schemas.microsoft.com/office/drawing/2014/main" id="{A7D42E46-131E-4379-811D-85AAADD17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9950"/>
            <a:ext cx="518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43B53"/>
                </a:solidFill>
              </a:defRPr>
            </a:pPr>
            <a:r>
              <a:rPr sz="1125" b="0" i="0">
                <a:solidFill>
                  <a:srgbClr val="243B53"/>
                </a:solidFill>
              </a:rPr>
              <a:t>UX/UI y frontend</a:t>
            </a:r>
          </a:p>
        </p:txBody>
      </p:sp>
      <p:sp>
        <p:nvSpPr>
          <p:cNvPr id="34" name="raci-1-1">
            <a:extLst xmlns:a="http://schemas.openxmlformats.org/drawingml/2006/main">
              <a:ext uri="{FF2B5EF4-FFF2-40B4-BE49-F238E27FC236}">
                <a16:creationId xmlns:a16="http://schemas.microsoft.com/office/drawing/2014/main" id="{1F2BCB38-56F1-4D51-BE93-F91EB937D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31470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35" name="raci-t-1-1">
            <a:extLst xmlns:a="http://schemas.openxmlformats.org/drawingml/2006/main">
              <a:ext uri="{FF2B5EF4-FFF2-40B4-BE49-F238E27FC236}">
                <a16:creationId xmlns:a16="http://schemas.microsoft.com/office/drawing/2014/main" id="{99546B27-A414-4060-B1D9-A8F5F1AD5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09950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64748B"/>
                </a:solidFill>
              </a:defRPr>
            </a:pPr>
            <a:r>
              <a:rPr sz="1125" b="1" i="0">
                <a:solidFill>
                  <a:srgbClr val="64748B"/>
                </a:solidFill>
              </a:rPr>
              <a:t>C</a:t>
            </a:r>
          </a:p>
        </p:txBody>
      </p:sp>
      <p:sp>
        <p:nvSpPr>
          <p:cNvPr id="36" name="raci-1-2">
            <a:extLst xmlns:a="http://schemas.openxmlformats.org/drawingml/2006/main">
              <a:ext uri="{FF2B5EF4-FFF2-40B4-BE49-F238E27FC236}">
                <a16:creationId xmlns:a16="http://schemas.microsoft.com/office/drawing/2014/main" id="{9DF6F0A8-91DF-49F2-8261-9112B1F8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31470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6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37" name="raci-t-1-2">
            <a:extLst xmlns:a="http://schemas.openxmlformats.org/drawingml/2006/main">
              <a:ext uri="{FF2B5EF4-FFF2-40B4-BE49-F238E27FC236}">
                <a16:creationId xmlns:a16="http://schemas.microsoft.com/office/drawing/2014/main" id="{6D1FB4E0-D23B-4CCA-9EAE-E9FAB617E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409950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A/R</a:t>
            </a:r>
          </a:p>
        </p:txBody>
      </p:sp>
      <p:sp>
        <p:nvSpPr>
          <p:cNvPr id="38" name="raci-1-3">
            <a:extLst xmlns:a="http://schemas.openxmlformats.org/drawingml/2006/main">
              <a:ext uri="{FF2B5EF4-FFF2-40B4-BE49-F238E27FC236}">
                <a16:creationId xmlns:a16="http://schemas.microsoft.com/office/drawing/2014/main" id="{57AC5877-8D7B-4293-8727-8E4231DE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1470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39" name="raci-t-1-3">
            <a:extLst xmlns:a="http://schemas.openxmlformats.org/drawingml/2006/main">
              <a:ext uri="{FF2B5EF4-FFF2-40B4-BE49-F238E27FC236}">
                <a16:creationId xmlns:a16="http://schemas.microsoft.com/office/drawing/2014/main" id="{4C5384FC-68DE-4FEE-B2E6-FA27517C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09950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64748B"/>
                </a:solidFill>
              </a:defRPr>
            </a:pPr>
            <a:r>
              <a:rPr sz="1125" b="1" i="0">
                <a:solidFill>
                  <a:srgbClr val="64748B"/>
                </a:solidFill>
              </a:rPr>
              <a:t>I</a:t>
            </a:r>
          </a:p>
        </p:txBody>
      </p:sp>
      <p:sp>
        <p:nvSpPr>
          <p:cNvPr id="40" name="raci-2-0">
            <a:extLst xmlns:a="http://schemas.openxmlformats.org/drawingml/2006/main">
              <a:ext uri="{FF2B5EF4-FFF2-40B4-BE49-F238E27FC236}">
                <a16:creationId xmlns:a16="http://schemas.microsoft.com/office/drawing/2014/main" id="{FEDFC7AE-0424-4795-850C-117AD9F1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5372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41" name="raci-t-2-0">
            <a:extLst xmlns:a="http://schemas.openxmlformats.org/drawingml/2006/main">
              <a:ext uri="{FF2B5EF4-FFF2-40B4-BE49-F238E27FC236}">
                <a16:creationId xmlns:a16="http://schemas.microsoft.com/office/drawing/2014/main" id="{5DB87080-B910-4A0C-835F-CDF717014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71900"/>
            <a:ext cx="518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43B53"/>
                </a:solidFill>
              </a:defRPr>
            </a:pPr>
            <a:r>
              <a:rPr sz="1125" b="0" i="0">
                <a:solidFill>
                  <a:srgbClr val="243B53"/>
                </a:solidFill>
              </a:rPr>
              <a:t>Backend, API y seguridad</a:t>
            </a:r>
          </a:p>
        </p:txBody>
      </p:sp>
      <p:sp>
        <p:nvSpPr>
          <p:cNvPr id="42" name="raci-2-1">
            <a:extLst xmlns:a="http://schemas.openxmlformats.org/drawingml/2006/main">
              <a:ext uri="{FF2B5EF4-FFF2-40B4-BE49-F238E27FC236}">
                <a16:creationId xmlns:a16="http://schemas.microsoft.com/office/drawing/2014/main" id="{A638F00E-3E56-43B3-BE64-DF0F4421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67665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6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43" name="raci-t-2-1">
            <a:extLst xmlns:a="http://schemas.openxmlformats.org/drawingml/2006/main">
              <a:ext uri="{FF2B5EF4-FFF2-40B4-BE49-F238E27FC236}">
                <a16:creationId xmlns:a16="http://schemas.microsoft.com/office/drawing/2014/main" id="{9CA5CFF9-6B88-4272-A0A0-5D9897401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771900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A/R</a:t>
            </a:r>
          </a:p>
        </p:txBody>
      </p:sp>
      <p:sp>
        <p:nvSpPr>
          <p:cNvPr id="44" name="raci-2-2">
            <a:extLst xmlns:a="http://schemas.openxmlformats.org/drawingml/2006/main">
              <a:ext uri="{FF2B5EF4-FFF2-40B4-BE49-F238E27FC236}">
                <a16:creationId xmlns:a16="http://schemas.microsoft.com/office/drawing/2014/main" id="{5CAD2503-E41D-4973-B615-67A2F7383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67665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45" name="raci-t-2-2">
            <a:extLst xmlns:a="http://schemas.openxmlformats.org/drawingml/2006/main">
              <a:ext uri="{FF2B5EF4-FFF2-40B4-BE49-F238E27FC236}">
                <a16:creationId xmlns:a16="http://schemas.microsoft.com/office/drawing/2014/main" id="{CB828D1D-E0E2-4F42-90CF-A02F45DAF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771900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64748B"/>
                </a:solidFill>
              </a:defRPr>
            </a:pPr>
            <a:r>
              <a:rPr sz="1125" b="1" i="0">
                <a:solidFill>
                  <a:srgbClr val="64748B"/>
                </a:solidFill>
              </a:rPr>
              <a:t>C</a:t>
            </a:r>
          </a:p>
        </p:txBody>
      </p:sp>
      <p:sp>
        <p:nvSpPr>
          <p:cNvPr id="46" name="raci-2-3">
            <a:extLst xmlns:a="http://schemas.openxmlformats.org/drawingml/2006/main">
              <a:ext uri="{FF2B5EF4-FFF2-40B4-BE49-F238E27FC236}">
                <a16:creationId xmlns:a16="http://schemas.microsoft.com/office/drawing/2014/main" id="{A591BE34-1006-44AF-BAC3-EB44E4EA6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67665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47" name="raci-t-2-3">
            <a:extLst xmlns:a="http://schemas.openxmlformats.org/drawingml/2006/main">
              <a:ext uri="{FF2B5EF4-FFF2-40B4-BE49-F238E27FC236}">
                <a16:creationId xmlns:a16="http://schemas.microsoft.com/office/drawing/2014/main" id="{84CDF565-884A-4E4B-8006-0A6933438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771900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64748B"/>
                </a:solidFill>
              </a:defRPr>
            </a:pPr>
            <a:r>
              <a:rPr sz="1125" b="1" i="0">
                <a:solidFill>
                  <a:srgbClr val="64748B"/>
                </a:solidFill>
              </a:rPr>
              <a:t>C</a:t>
            </a:r>
          </a:p>
        </p:txBody>
      </p:sp>
      <p:sp>
        <p:nvSpPr>
          <p:cNvPr id="48" name="raci-3-0">
            <a:extLst xmlns:a="http://schemas.openxmlformats.org/drawingml/2006/main">
              <a:ext uri="{FF2B5EF4-FFF2-40B4-BE49-F238E27FC236}">
                <a16:creationId xmlns:a16="http://schemas.microsoft.com/office/drawing/2014/main" id="{AFA6155D-EC5A-42CB-9682-F452CCA57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5372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49" name="raci-t-3-0">
            <a:extLst xmlns:a="http://schemas.openxmlformats.org/drawingml/2006/main">
              <a:ext uri="{FF2B5EF4-FFF2-40B4-BE49-F238E27FC236}">
                <a16:creationId xmlns:a16="http://schemas.microsoft.com/office/drawing/2014/main" id="{2DAF4FDD-1661-4C7A-99B5-BF023DF7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33850"/>
            <a:ext cx="518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43B53"/>
                </a:solidFill>
              </a:defRPr>
            </a:pPr>
            <a:r>
              <a:rPr sz="1125" b="0" i="0">
                <a:solidFill>
                  <a:srgbClr val="243B53"/>
                </a:solidFill>
              </a:rPr>
              <a:t>Datos y consultas</a:t>
            </a:r>
          </a:p>
        </p:txBody>
      </p:sp>
      <p:sp>
        <p:nvSpPr>
          <p:cNvPr id="50" name="raci-3-1">
            <a:extLst xmlns:a="http://schemas.openxmlformats.org/drawingml/2006/main">
              <a:ext uri="{FF2B5EF4-FFF2-40B4-BE49-F238E27FC236}">
                <a16:creationId xmlns:a16="http://schemas.microsoft.com/office/drawing/2014/main" id="{E109896F-B668-41CB-AFDA-B652A122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03860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51" name="raci-t-3-1">
            <a:extLst xmlns:a="http://schemas.openxmlformats.org/drawingml/2006/main">
              <a:ext uri="{FF2B5EF4-FFF2-40B4-BE49-F238E27FC236}">
                <a16:creationId xmlns:a16="http://schemas.microsoft.com/office/drawing/2014/main" id="{DA5C53BB-A5CC-4BF6-B7E4-C982C2E0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133850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64748B"/>
                </a:solidFill>
              </a:defRPr>
            </a:pPr>
            <a:r>
              <a:rPr sz="1125" b="1" i="0">
                <a:solidFill>
                  <a:srgbClr val="64748B"/>
                </a:solidFill>
              </a:rPr>
              <a:t>C</a:t>
            </a:r>
          </a:p>
        </p:txBody>
      </p:sp>
      <p:sp>
        <p:nvSpPr>
          <p:cNvPr id="52" name="raci-3-2">
            <a:extLst xmlns:a="http://schemas.openxmlformats.org/drawingml/2006/main">
              <a:ext uri="{FF2B5EF4-FFF2-40B4-BE49-F238E27FC236}">
                <a16:creationId xmlns:a16="http://schemas.microsoft.com/office/drawing/2014/main" id="{557DF059-592C-492B-909B-DF0A8E4EC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03860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53" name="raci-t-3-2">
            <a:extLst xmlns:a="http://schemas.openxmlformats.org/drawingml/2006/main">
              <a:ext uri="{FF2B5EF4-FFF2-40B4-BE49-F238E27FC236}">
                <a16:creationId xmlns:a16="http://schemas.microsoft.com/office/drawing/2014/main" id="{13573B82-5509-4C96-85AE-5AF27BB9E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33850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64748B"/>
                </a:solidFill>
              </a:defRPr>
            </a:pPr>
            <a:r>
              <a:rPr sz="1125" b="1" i="0">
                <a:solidFill>
                  <a:srgbClr val="64748B"/>
                </a:solidFill>
              </a:rPr>
              <a:t>I</a:t>
            </a:r>
          </a:p>
        </p:txBody>
      </p:sp>
      <p:sp>
        <p:nvSpPr>
          <p:cNvPr id="54" name="raci-3-3">
            <a:extLst xmlns:a="http://schemas.openxmlformats.org/drawingml/2006/main">
              <a:ext uri="{FF2B5EF4-FFF2-40B4-BE49-F238E27FC236}">
                <a16:creationId xmlns:a16="http://schemas.microsoft.com/office/drawing/2014/main" id="{CB768881-71B6-4494-9F5B-9EF592F7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03860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6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55" name="raci-t-3-3">
            <a:extLst xmlns:a="http://schemas.openxmlformats.org/drawingml/2006/main">
              <a:ext uri="{FF2B5EF4-FFF2-40B4-BE49-F238E27FC236}">
                <a16:creationId xmlns:a16="http://schemas.microsoft.com/office/drawing/2014/main" id="{63374621-B94F-4C5D-AEE6-69E76BE1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33850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A/R</a:t>
            </a:r>
          </a:p>
        </p:txBody>
      </p:sp>
      <p:sp>
        <p:nvSpPr>
          <p:cNvPr id="56" name="raci-4-0">
            <a:extLst xmlns:a="http://schemas.openxmlformats.org/drawingml/2006/main">
              <a:ext uri="{FF2B5EF4-FFF2-40B4-BE49-F238E27FC236}">
                <a16:creationId xmlns:a16="http://schemas.microsoft.com/office/drawing/2014/main" id="{3F0CEB21-E29D-4E54-BC5E-7A6064CD0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5372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57" name="raci-t-4-0">
            <a:extLst xmlns:a="http://schemas.openxmlformats.org/drawingml/2006/main">
              <a:ext uri="{FF2B5EF4-FFF2-40B4-BE49-F238E27FC236}">
                <a16:creationId xmlns:a16="http://schemas.microsoft.com/office/drawing/2014/main" id="{2638A6E3-E7B9-4702-84C4-7B3C9C4E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95800"/>
            <a:ext cx="518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43B53"/>
                </a:solidFill>
              </a:defRPr>
            </a:pPr>
            <a:r>
              <a:rPr sz="1125" b="0" i="0">
                <a:solidFill>
                  <a:srgbClr val="243B53"/>
                </a:solidFill>
              </a:rPr>
              <a:t>Runner JS y test cases</a:t>
            </a:r>
          </a:p>
        </p:txBody>
      </p:sp>
      <p:sp>
        <p:nvSpPr>
          <p:cNvPr id="58" name="raci-4-1">
            <a:extLst xmlns:a="http://schemas.openxmlformats.org/drawingml/2006/main">
              <a:ext uri="{FF2B5EF4-FFF2-40B4-BE49-F238E27FC236}">
                <a16:creationId xmlns:a16="http://schemas.microsoft.com/office/drawing/2014/main" id="{B7A8F1B9-632E-4C9B-A4A5-172485903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40055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6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59" name="raci-t-4-1">
            <a:extLst xmlns:a="http://schemas.openxmlformats.org/drawingml/2006/main">
              <a:ext uri="{FF2B5EF4-FFF2-40B4-BE49-F238E27FC236}">
                <a16:creationId xmlns:a16="http://schemas.microsoft.com/office/drawing/2014/main" id="{3D477977-3653-4134-9722-B73F77D24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495800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A</a:t>
            </a:r>
          </a:p>
        </p:txBody>
      </p:sp>
      <p:sp>
        <p:nvSpPr>
          <p:cNvPr id="60" name="raci-4-2">
            <a:extLst xmlns:a="http://schemas.openxmlformats.org/drawingml/2006/main">
              <a:ext uri="{FF2B5EF4-FFF2-40B4-BE49-F238E27FC236}">
                <a16:creationId xmlns:a16="http://schemas.microsoft.com/office/drawing/2014/main" id="{5B49B48A-B074-4FDF-B5F5-994ADBB07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40055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61" name="raci-t-4-2">
            <a:extLst xmlns:a="http://schemas.openxmlformats.org/drawingml/2006/main">
              <a:ext uri="{FF2B5EF4-FFF2-40B4-BE49-F238E27FC236}">
                <a16:creationId xmlns:a16="http://schemas.microsoft.com/office/drawing/2014/main" id="{9088AAE4-8B74-4C42-B9A0-1284740A3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95800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64748B"/>
                </a:solidFill>
              </a:defRPr>
            </a:pPr>
            <a:r>
              <a:rPr sz="1125" b="1" i="0">
                <a:solidFill>
                  <a:srgbClr val="64748B"/>
                </a:solidFill>
              </a:rPr>
              <a:t>C</a:t>
            </a:r>
          </a:p>
        </p:txBody>
      </p:sp>
      <p:sp>
        <p:nvSpPr>
          <p:cNvPr id="62" name="raci-4-3">
            <a:extLst xmlns:a="http://schemas.openxmlformats.org/drawingml/2006/main">
              <a:ext uri="{FF2B5EF4-FFF2-40B4-BE49-F238E27FC236}">
                <a16:creationId xmlns:a16="http://schemas.microsoft.com/office/drawing/2014/main" id="{DA309515-1A80-4582-AF1A-7CB0F661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40055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6F3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63" name="raci-t-4-3">
            <a:extLst xmlns:a="http://schemas.openxmlformats.org/drawingml/2006/main">
              <a:ext uri="{FF2B5EF4-FFF2-40B4-BE49-F238E27FC236}">
                <a16:creationId xmlns:a16="http://schemas.microsoft.com/office/drawing/2014/main" id="{63C12756-13AB-4CF1-A725-FE2FDF232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495800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64748B"/>
                </a:solidFill>
              </a:defRPr>
            </a:pPr>
            <a:r>
              <a:rPr sz="1125" b="1" i="0">
                <a:solidFill>
                  <a:srgbClr val="64748B"/>
                </a:solidFill>
              </a:rPr>
              <a:t>R</a:t>
            </a:r>
          </a:p>
        </p:txBody>
      </p:sp>
      <p:sp>
        <p:nvSpPr>
          <p:cNvPr id="64" name="raci-5-0">
            <a:extLst xmlns:a="http://schemas.openxmlformats.org/drawingml/2006/main">
              <a:ext uri="{FF2B5EF4-FFF2-40B4-BE49-F238E27FC236}">
                <a16:creationId xmlns:a16="http://schemas.microsoft.com/office/drawing/2014/main" id="{B0F027BA-A0F4-42E4-BA26-8E07CA102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5372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65" name="raci-t-5-0">
            <a:extLst xmlns:a="http://schemas.openxmlformats.org/drawingml/2006/main">
              <a:ext uri="{FF2B5EF4-FFF2-40B4-BE49-F238E27FC236}">
                <a16:creationId xmlns:a16="http://schemas.microsoft.com/office/drawing/2014/main" id="{CE3186CB-2997-4E7F-BFC5-83DCDA6CF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57750"/>
            <a:ext cx="518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43B53"/>
                </a:solidFill>
              </a:defRPr>
            </a:pPr>
            <a:r>
              <a:rPr sz="1125" b="0" i="0">
                <a:solidFill>
                  <a:srgbClr val="243B53"/>
                </a:solidFill>
              </a:rPr>
              <a:t>IA, RAG y diagnóstico</a:t>
            </a:r>
          </a:p>
        </p:txBody>
      </p:sp>
      <p:sp>
        <p:nvSpPr>
          <p:cNvPr id="66" name="raci-5-1">
            <a:extLst xmlns:a="http://schemas.openxmlformats.org/drawingml/2006/main">
              <a:ext uri="{FF2B5EF4-FFF2-40B4-BE49-F238E27FC236}">
                <a16:creationId xmlns:a16="http://schemas.microsoft.com/office/drawing/2014/main" id="{E611D723-E71C-45F9-91DD-4AE4B2B6D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76250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67" name="raci-t-5-1">
            <a:extLst xmlns:a="http://schemas.openxmlformats.org/drawingml/2006/main">
              <a:ext uri="{FF2B5EF4-FFF2-40B4-BE49-F238E27FC236}">
                <a16:creationId xmlns:a16="http://schemas.microsoft.com/office/drawing/2014/main" id="{15731BDA-0CCF-4D5D-89B4-5810F3017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857750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64748B"/>
                </a:solidFill>
              </a:defRPr>
            </a:pPr>
            <a:r>
              <a:rPr sz="1125" b="1" i="0">
                <a:solidFill>
                  <a:srgbClr val="64748B"/>
                </a:solidFill>
              </a:rPr>
              <a:t>C</a:t>
            </a:r>
          </a:p>
        </p:txBody>
      </p:sp>
      <p:sp>
        <p:nvSpPr>
          <p:cNvPr id="68" name="raci-5-2">
            <a:extLst xmlns:a="http://schemas.openxmlformats.org/drawingml/2006/main">
              <a:ext uri="{FF2B5EF4-FFF2-40B4-BE49-F238E27FC236}">
                <a16:creationId xmlns:a16="http://schemas.microsoft.com/office/drawing/2014/main" id="{D8D3337E-FC19-484D-94F0-A4B2F7FE5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76250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69" name="raci-t-5-2">
            <a:extLst xmlns:a="http://schemas.openxmlformats.org/drawingml/2006/main">
              <a:ext uri="{FF2B5EF4-FFF2-40B4-BE49-F238E27FC236}">
                <a16:creationId xmlns:a16="http://schemas.microsoft.com/office/drawing/2014/main" id="{2168BDB2-CB89-4786-B2AC-49D64FB3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57750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64748B"/>
                </a:solidFill>
              </a:defRPr>
            </a:pPr>
            <a:r>
              <a:rPr sz="1125" b="1" i="0">
                <a:solidFill>
                  <a:srgbClr val="64748B"/>
                </a:solidFill>
              </a:rPr>
              <a:t>I</a:t>
            </a:r>
          </a:p>
        </p:txBody>
      </p:sp>
      <p:sp>
        <p:nvSpPr>
          <p:cNvPr id="70" name="raci-5-3">
            <a:extLst xmlns:a="http://schemas.openxmlformats.org/drawingml/2006/main">
              <a:ext uri="{FF2B5EF4-FFF2-40B4-BE49-F238E27FC236}">
                <a16:creationId xmlns:a16="http://schemas.microsoft.com/office/drawing/2014/main" id="{5002DA9F-0ACF-442C-B656-6BF1849B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76250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6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71" name="raci-t-5-3">
            <a:extLst xmlns:a="http://schemas.openxmlformats.org/drawingml/2006/main">
              <a:ext uri="{FF2B5EF4-FFF2-40B4-BE49-F238E27FC236}">
                <a16:creationId xmlns:a16="http://schemas.microsoft.com/office/drawing/2014/main" id="{053DB77B-E6FA-4F37-B7FC-E8B070653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857750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A/R</a:t>
            </a:r>
          </a:p>
        </p:txBody>
      </p:sp>
      <p:sp>
        <p:nvSpPr>
          <p:cNvPr id="72" name="raci-6-0">
            <a:extLst xmlns:a="http://schemas.openxmlformats.org/drawingml/2006/main">
              <a:ext uri="{FF2B5EF4-FFF2-40B4-BE49-F238E27FC236}">
                <a16:creationId xmlns:a16="http://schemas.microsoft.com/office/drawing/2014/main" id="{B18D4216-156C-4C51-A76E-C942DA569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5372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73" name="raci-t-6-0">
            <a:extLst xmlns:a="http://schemas.openxmlformats.org/drawingml/2006/main">
              <a:ext uri="{FF2B5EF4-FFF2-40B4-BE49-F238E27FC236}">
                <a16:creationId xmlns:a16="http://schemas.microsoft.com/office/drawing/2014/main" id="{B9667F7D-2763-463D-9DF1-5B26E5807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19700"/>
            <a:ext cx="518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43B53"/>
                </a:solidFill>
              </a:defRPr>
            </a:pPr>
            <a:r>
              <a:rPr sz="1125" b="0" i="0">
                <a:solidFill>
                  <a:srgbClr val="243B53"/>
                </a:solidFill>
              </a:rPr>
              <a:t>Tablero y señales</a:t>
            </a:r>
          </a:p>
        </p:txBody>
      </p:sp>
      <p:sp>
        <p:nvSpPr>
          <p:cNvPr id="74" name="raci-6-1">
            <a:extLst xmlns:a="http://schemas.openxmlformats.org/drawingml/2006/main">
              <a:ext uri="{FF2B5EF4-FFF2-40B4-BE49-F238E27FC236}">
                <a16:creationId xmlns:a16="http://schemas.microsoft.com/office/drawing/2014/main" id="{AFE8A171-CF31-434A-8D80-8E42AEDC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12445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75" name="raci-t-6-1">
            <a:extLst xmlns:a="http://schemas.openxmlformats.org/drawingml/2006/main">
              <a:ext uri="{FF2B5EF4-FFF2-40B4-BE49-F238E27FC236}">
                <a16:creationId xmlns:a16="http://schemas.microsoft.com/office/drawing/2014/main" id="{FA592998-7715-4DFB-9DBD-026D9465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19700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64748B"/>
                </a:solidFill>
              </a:defRPr>
            </a:pPr>
            <a:r>
              <a:rPr sz="1125" b="1" i="0">
                <a:solidFill>
                  <a:srgbClr val="64748B"/>
                </a:solidFill>
              </a:rPr>
              <a:t>C</a:t>
            </a:r>
          </a:p>
        </p:txBody>
      </p:sp>
      <p:sp>
        <p:nvSpPr>
          <p:cNvPr id="76" name="raci-6-2">
            <a:extLst xmlns:a="http://schemas.openxmlformats.org/drawingml/2006/main">
              <a:ext uri="{FF2B5EF4-FFF2-40B4-BE49-F238E27FC236}">
                <a16:creationId xmlns:a16="http://schemas.microsoft.com/office/drawing/2014/main" id="{00941F8C-80AA-4D2B-9810-D5C3B9E13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12445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6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77" name="raci-t-6-2">
            <a:extLst xmlns:a="http://schemas.openxmlformats.org/drawingml/2006/main">
              <a:ext uri="{FF2B5EF4-FFF2-40B4-BE49-F238E27FC236}">
                <a16:creationId xmlns:a16="http://schemas.microsoft.com/office/drawing/2014/main" id="{0A49183D-D1C5-4BDE-837C-7E673ED2B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219700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A/R</a:t>
            </a:r>
          </a:p>
        </p:txBody>
      </p:sp>
      <p:sp>
        <p:nvSpPr>
          <p:cNvPr id="78" name="raci-6-3">
            <a:extLst xmlns:a="http://schemas.openxmlformats.org/drawingml/2006/main">
              <a:ext uri="{FF2B5EF4-FFF2-40B4-BE49-F238E27FC236}">
                <a16:creationId xmlns:a16="http://schemas.microsoft.com/office/drawing/2014/main" id="{1A4A23DB-9402-43C8-995D-2EB99FDB9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12445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79" name="raci-t-6-3">
            <a:extLst xmlns:a="http://schemas.openxmlformats.org/drawingml/2006/main">
              <a:ext uri="{FF2B5EF4-FFF2-40B4-BE49-F238E27FC236}">
                <a16:creationId xmlns:a16="http://schemas.microsoft.com/office/drawing/2014/main" id="{747FBE9A-D987-4661-BA22-79A2DFF8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219700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64748B"/>
                </a:solidFill>
              </a:defRPr>
            </a:pPr>
            <a:r>
              <a:rPr sz="1125" b="1" i="0">
                <a:solidFill>
                  <a:srgbClr val="64748B"/>
                </a:solidFill>
              </a:rPr>
              <a:t>C</a:t>
            </a:r>
          </a:p>
        </p:txBody>
      </p:sp>
      <p:sp>
        <p:nvSpPr>
          <p:cNvPr id="80" name="raci-7-0">
            <a:extLst xmlns:a="http://schemas.openxmlformats.org/drawingml/2006/main">
              <a:ext uri="{FF2B5EF4-FFF2-40B4-BE49-F238E27FC236}">
                <a16:creationId xmlns:a16="http://schemas.microsoft.com/office/drawing/2014/main" id="{FB10D62C-F0F5-4DBC-995E-B3370F8C2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5372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81" name="raci-t-7-0">
            <a:extLst xmlns:a="http://schemas.openxmlformats.org/drawingml/2006/main">
              <a:ext uri="{FF2B5EF4-FFF2-40B4-BE49-F238E27FC236}">
                <a16:creationId xmlns:a16="http://schemas.microsoft.com/office/drawing/2014/main" id="{5E96A7C8-964F-4255-82DF-AB51B5032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81650"/>
            <a:ext cx="518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43B53"/>
                </a:solidFill>
              </a:defRPr>
            </a:pPr>
            <a:r>
              <a:rPr sz="1125" b="0" i="0">
                <a:solidFill>
                  <a:srgbClr val="243B53"/>
                </a:solidFill>
              </a:rPr>
              <a:t>Pruebas, Docker y defensa</a:t>
            </a:r>
          </a:p>
        </p:txBody>
      </p:sp>
      <p:sp>
        <p:nvSpPr>
          <p:cNvPr id="82" name="raci-7-1">
            <a:extLst xmlns:a="http://schemas.openxmlformats.org/drawingml/2006/main">
              <a:ext uri="{FF2B5EF4-FFF2-40B4-BE49-F238E27FC236}">
                <a16:creationId xmlns:a16="http://schemas.microsoft.com/office/drawing/2014/main" id="{076FD4F8-9684-48E0-9D2F-E5E1EEC10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48640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6F3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83" name="raci-t-7-1">
            <a:extLst xmlns:a="http://schemas.openxmlformats.org/drawingml/2006/main">
              <a:ext uri="{FF2B5EF4-FFF2-40B4-BE49-F238E27FC236}">
                <a16:creationId xmlns:a16="http://schemas.microsoft.com/office/drawing/2014/main" id="{AEDA1739-2111-4A27-90FC-277CE5767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581650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64748B"/>
                </a:solidFill>
              </a:defRPr>
            </a:pPr>
            <a:r>
              <a:rPr sz="1125" b="1" i="0">
                <a:solidFill>
                  <a:srgbClr val="64748B"/>
                </a:solidFill>
              </a:rPr>
              <a:t>R</a:t>
            </a:r>
          </a:p>
        </p:txBody>
      </p:sp>
      <p:sp>
        <p:nvSpPr>
          <p:cNvPr id="84" name="raci-7-2">
            <a:extLst xmlns:a="http://schemas.openxmlformats.org/drawingml/2006/main">
              <a:ext uri="{FF2B5EF4-FFF2-40B4-BE49-F238E27FC236}">
                <a16:creationId xmlns:a16="http://schemas.microsoft.com/office/drawing/2014/main" id="{FFDFE0B7-2B3B-4E2A-A987-E87CC1443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48640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6F3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85" name="raci-t-7-2">
            <a:extLst xmlns:a="http://schemas.openxmlformats.org/drawingml/2006/main">
              <a:ext uri="{FF2B5EF4-FFF2-40B4-BE49-F238E27FC236}">
                <a16:creationId xmlns:a16="http://schemas.microsoft.com/office/drawing/2014/main" id="{4F4A6927-F792-41A6-8EA9-8A2E2038A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581650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64748B"/>
                </a:solidFill>
              </a:defRPr>
            </a:pPr>
            <a:r>
              <a:rPr sz="1125" b="1" i="0">
                <a:solidFill>
                  <a:srgbClr val="64748B"/>
                </a:solidFill>
              </a:rPr>
              <a:t>R</a:t>
            </a:r>
          </a:p>
        </p:txBody>
      </p:sp>
      <p:sp>
        <p:nvSpPr>
          <p:cNvPr id="86" name="raci-7-3">
            <a:extLst xmlns:a="http://schemas.openxmlformats.org/drawingml/2006/main">
              <a:ext uri="{FF2B5EF4-FFF2-40B4-BE49-F238E27FC236}">
                <a16:creationId xmlns:a16="http://schemas.microsoft.com/office/drawing/2014/main" id="{FE406EEA-88CA-419D-AB7F-B5F34A27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48640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6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87" name="raci-t-7-3">
            <a:extLst xmlns:a="http://schemas.openxmlformats.org/drawingml/2006/main">
              <a:ext uri="{FF2B5EF4-FFF2-40B4-BE49-F238E27FC236}">
                <a16:creationId xmlns:a16="http://schemas.microsoft.com/office/drawing/2014/main" id="{71B7F101-115C-42A7-BC93-E98D9B16C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581650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A</a:t>
            </a:r>
          </a:p>
        </p:txBody>
      </p:sp>
      <p:sp>
        <p:nvSpPr>
          <p:cNvPr id="88" name="raci-capacity-bg">
            <a:extLst xmlns:a="http://schemas.openxmlformats.org/drawingml/2006/main">
              <a:ext uri="{FF2B5EF4-FFF2-40B4-BE49-F238E27FC236}">
                <a16:creationId xmlns:a16="http://schemas.microsoft.com/office/drawing/2014/main" id="{7BA118C9-C762-418A-8475-749BC5020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668000" cy="323850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FDECEE"/>
          </a:solidFill>
          <a:ln xmlns:a="http://schemas.openxmlformats.org/drawingml/2006/main" w="9525">
            <a:solidFill>
              <a:srgbClr val="DE5C6B"/>
            </a:solidFill>
            <a:prstDash val="solid"/>
          </a:ln>
        </p:spPr>
      </p:sp>
      <p:sp>
        <p:nvSpPr>
          <p:cNvPr id="89" name="raci-capacity">
            <a:extLst xmlns:a="http://schemas.openxmlformats.org/drawingml/2006/main">
              <a:ext uri="{FF2B5EF4-FFF2-40B4-BE49-F238E27FC236}">
                <a16:creationId xmlns:a16="http://schemas.microsoft.com/office/drawing/2014/main" id="{96765083-3365-4F89-B1AC-79793BF9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0363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DE5C6B"/>
                </a:solidFill>
              </a:defRPr>
            </a:pPr>
            <a:r>
              <a:rPr sz="1050" b="1" i="0">
                <a:solidFill>
                  <a:srgbClr val="DE5C6B"/>
                </a:solidFill>
              </a:rPr>
              <a:t>Sprint 2: 60 h — Marcelo 21 · Abraham 20 · Benjamin 19. Validar capacidad en Sprint Planning.</a:t>
            </a:r>
          </a:p>
        </p:txBody>
      </p:sp>
    </p:spTree>
    <p:extLst>
      <p:ext uri="{BB962C8B-B14F-4D97-AF65-F5344CB8AC3E}">
        <p14:creationId xmlns:p14="http://schemas.microsoft.com/office/powerpoint/2010/main" val="76189113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rail-11">
            <a:extLst xmlns:a="http://schemas.openxmlformats.org/drawingml/2006/main">
              <a:ext uri="{FF2B5EF4-FFF2-40B4-BE49-F238E27FC236}">
                <a16:creationId xmlns:a16="http://schemas.microsoft.com/office/drawing/2014/main" id="{DBA6C9C8-EE3F-4132-8CBC-50AEDBF9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2" name="kicker-11">
            <a:extLst xmlns:a="http://schemas.openxmlformats.org/drawingml/2006/main">
              <a:ext uri="{FF2B5EF4-FFF2-40B4-BE49-F238E27FC236}">
                <a16:creationId xmlns:a16="http://schemas.microsoft.com/office/drawing/2014/main" id="{53106BCD-FA25-4F14-B4E3-5FABE614E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2F6FED"/>
                </a:solidFill>
              </a:defRPr>
            </a:pPr>
            <a:r>
              <a:rPr sz="900" b="1" i="0">
                <a:solidFill>
                  <a:srgbClr val="2F6FED"/>
                </a:solidFill>
              </a:rPr>
              <a:t>RIESGOS · NIVEL/EXPOSICIÓN E IMPACTO</a:t>
            </a:r>
          </a:p>
        </p:txBody>
      </p:sp>
      <p:sp>
        <p:nvSpPr>
          <p:cNvPr id="3" name="title-11">
            <a:extLst xmlns:a="http://schemas.openxmlformats.org/drawingml/2006/main">
              <a:ext uri="{FF2B5EF4-FFF2-40B4-BE49-F238E27FC236}">
                <a16:creationId xmlns:a16="http://schemas.microsoft.com/office/drawing/2014/main" id="{66F99ED9-F4C5-4C92-8B3E-3AF5A75A1B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53340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102A43"/>
                </a:solidFill>
              </a:defRPr>
            </a:pPr>
            <a:r>
              <a:rPr sz="2400" b="1" i="0">
                <a:solidFill>
                  <a:srgbClr val="102A43"/>
                </a:solidFill>
              </a:rPr>
              <a:t>Ocho riesgos tienen respuesta, dueño y disparador observable</a:t>
            </a:r>
          </a:p>
        </p:txBody>
      </p:sp>
      <p:sp>
        <p:nvSpPr>
          <p:cNvPr id="4" name="header-line-11">
            <a:extLst xmlns:a="http://schemas.openxmlformats.org/drawingml/2006/main">
              <a:ext uri="{FF2B5EF4-FFF2-40B4-BE49-F238E27FC236}">
                <a16:creationId xmlns:a16="http://schemas.microsoft.com/office/drawing/2014/main" id="{C59C56FF-5B43-4A2B-B2A7-A1B2970F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ED"/>
            </a:solidFill>
            <a:prstDash val="solid"/>
          </a:ln>
        </p:spPr>
      </p:sp>
      <p:sp>
        <p:nvSpPr>
          <p:cNvPr id="5" name="footer-11">
            <a:extLst xmlns:a="http://schemas.openxmlformats.org/drawingml/2006/main">
              <a:ext uri="{FF2B5EF4-FFF2-40B4-BE49-F238E27FC236}">
                <a16:creationId xmlns:a16="http://schemas.microsoft.com/office/drawing/2014/main" id="{E86BF9C2-0648-4219-93A4-93C865AA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4748B"/>
                </a:solidFill>
              </a:defRPr>
            </a:pPr>
            <a:r>
              <a:rPr sz="750" b="0" i="0">
                <a:solidFill>
                  <a:srgbClr val="64748B"/>
                </a:solidFill>
              </a:rPr>
              <a:t>ALUNZA · CAPSTONE 2026 · SEDE PUENTE ALTO</a:t>
            </a:r>
          </a:p>
        </p:txBody>
      </p:sp>
      <p:sp>
        <p:nvSpPr>
          <p:cNvPr id="6" name="page-11">
            <a:extLst xmlns:a="http://schemas.openxmlformats.org/drawingml/2006/main">
              <a:ext uri="{FF2B5EF4-FFF2-40B4-BE49-F238E27FC236}">
                <a16:creationId xmlns:a16="http://schemas.microsoft.com/office/drawing/2014/main" id="{40BE4A01-CE22-4EAA-8853-1C098D6B5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579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4748B"/>
                </a:solidFill>
              </a:defRPr>
            </a:pPr>
            <a:r>
              <a:rPr sz="825" b="0" i="0">
                <a:solidFill>
                  <a:srgbClr val="64748B"/>
                </a:solidFill>
              </a:rPr>
              <a:t>11</a:t>
            </a:r>
          </a:p>
        </p:txBody>
      </p:sp>
      <p:sp>
        <p:nvSpPr>
          <p:cNvPr id="7" name="risk-lead">
            <a:extLst xmlns:a="http://schemas.openxmlformats.org/drawingml/2006/main">
              <a:ext uri="{FF2B5EF4-FFF2-40B4-BE49-F238E27FC236}">
                <a16:creationId xmlns:a16="http://schemas.microsoft.com/office/drawing/2014/main" id="{05355F75-7ADC-4AC3-8A21-B2A2635A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4748B"/>
                </a:solidFill>
              </a:defRPr>
            </a:pPr>
            <a:r>
              <a:rPr sz="1200" b="0" i="0">
                <a:solidFill>
                  <a:srgbClr val="64748B"/>
                </a:solidFill>
              </a:rPr>
              <a:t>La revisión ocurre en cada retrospectiva y antes de los hitos de semanas 10 y 15.</a:t>
            </a:r>
          </a:p>
        </p:txBody>
      </p:sp>
      <p:sp>
        <p:nvSpPr>
          <p:cNvPr id="8" name="risk-bg-0">
            <a:extLst xmlns:a="http://schemas.openxmlformats.org/drawingml/2006/main">
              <a:ext uri="{FF2B5EF4-FFF2-40B4-BE49-F238E27FC236}">
                <a16:creationId xmlns:a16="http://schemas.microsoft.com/office/drawing/2014/main" id="{2849FBDA-2678-4D6D-931A-161BAA6EB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52197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risk-n-bg-0">
            <a:extLst xmlns:a="http://schemas.openxmlformats.org/drawingml/2006/main">
              <a:ext uri="{FF2B5EF4-FFF2-40B4-BE49-F238E27FC236}">
                <a16:creationId xmlns:a16="http://schemas.microsoft.com/office/drawing/2014/main" id="{FAA94A29-2153-46B6-A90C-F1AD49C7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5C6B"/>
          </a:solidFill>
          <a:ln xmlns:a="http://schemas.openxmlformats.org/drawingml/2006/main" w="0">
            <a:solidFill>
              <a:srgbClr val="DE5C6B"/>
            </a:solidFill>
            <a:prstDash val="solid"/>
          </a:ln>
        </p:spPr>
      </p:sp>
      <p:sp>
        <p:nvSpPr>
          <p:cNvPr id="10" name="risk-n-0">
            <a:extLst xmlns:a="http://schemas.openxmlformats.org/drawingml/2006/main">
              <a:ext uri="{FF2B5EF4-FFF2-40B4-BE49-F238E27FC236}">
                <a16:creationId xmlns:a16="http://schemas.microsoft.com/office/drawing/2014/main" id="{787BD486-C510-4C5B-879C-6EAA6ADD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risk-title-0">
            <a:extLst xmlns:a="http://schemas.openxmlformats.org/drawingml/2006/main">
              <a:ext uri="{FF2B5EF4-FFF2-40B4-BE49-F238E27FC236}">
                <a16:creationId xmlns:a16="http://schemas.microsoft.com/office/drawing/2014/main" id="{450DB3D2-6CC7-415D-9B11-33EE52C2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000250"/>
            <a:ext cx="264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Alcance excesivo</a:t>
            </a:r>
          </a:p>
        </p:txBody>
      </p:sp>
      <p:sp>
        <p:nvSpPr>
          <p:cNvPr id="12" name="risk-owner-0">
            <a:extLst xmlns:a="http://schemas.openxmlformats.org/drawingml/2006/main">
              <a:ext uri="{FF2B5EF4-FFF2-40B4-BE49-F238E27FC236}">
                <a16:creationId xmlns:a16="http://schemas.microsoft.com/office/drawing/2014/main" id="{B19F2E70-6738-41EB-89BE-6E569D776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00025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DE5C6B"/>
                </a:solidFill>
              </a:defRPr>
            </a:pPr>
            <a:r>
              <a:rPr sz="975" b="1" i="0">
                <a:solidFill>
                  <a:srgbClr val="DE5C6B"/>
                </a:solidFill>
              </a:rPr>
              <a:t>Dueño: Marcelo</a:t>
            </a:r>
          </a:p>
        </p:txBody>
      </p:sp>
      <p:sp>
        <p:nvSpPr>
          <p:cNvPr id="13" name="risk-trigger-0">
            <a:extLst xmlns:a="http://schemas.openxmlformats.org/drawingml/2006/main">
              <a:ext uri="{FF2B5EF4-FFF2-40B4-BE49-F238E27FC236}">
                <a16:creationId xmlns:a16="http://schemas.microsoft.com/office/drawing/2014/main" id="{8C634BE5-465E-4799-A8FB-D18D1D32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2669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4748B"/>
                </a:solidFill>
              </a:defRPr>
            </a:pPr>
            <a:r>
              <a:rPr sz="975" b="0" i="0">
                <a:solidFill>
                  <a:srgbClr val="64748B"/>
                </a:solidFill>
              </a:rPr>
              <a:t>Disparador: Opcional antes del núcleo</a:t>
            </a:r>
          </a:p>
        </p:txBody>
      </p:sp>
      <p:sp>
        <p:nvSpPr>
          <p:cNvPr id="14" name="risk-control-0">
            <a:extLst xmlns:a="http://schemas.openxmlformats.org/drawingml/2006/main">
              <a:ext uri="{FF2B5EF4-FFF2-40B4-BE49-F238E27FC236}">
                <a16:creationId xmlns:a16="http://schemas.microsoft.com/office/drawing/2014/main" id="{37D9EE28-16BA-4C58-B0C6-9A7A4F647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51460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43B53"/>
                </a:solidFill>
              </a:defRPr>
            </a:pPr>
            <a:r>
              <a:rPr sz="1050" b="1" i="0">
                <a:solidFill>
                  <a:srgbClr val="243B53"/>
                </a:solidFill>
              </a:rPr>
              <a:t>Respuesta: MoSCoW + freeze S15</a:t>
            </a:r>
          </a:p>
        </p:txBody>
      </p:sp>
      <p:sp>
        <p:nvSpPr>
          <p:cNvPr id="15" name="risk-bg-1">
            <a:extLst xmlns:a="http://schemas.openxmlformats.org/drawingml/2006/main">
              <a:ext uri="{FF2B5EF4-FFF2-40B4-BE49-F238E27FC236}">
                <a16:creationId xmlns:a16="http://schemas.microsoft.com/office/drawing/2014/main" id="{C08F2192-90A3-4BB1-B665-7335282D8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52197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risk-n-bg-1">
            <a:extLst xmlns:a="http://schemas.openxmlformats.org/drawingml/2006/main">
              <a:ext uri="{FF2B5EF4-FFF2-40B4-BE49-F238E27FC236}">
                <a16:creationId xmlns:a16="http://schemas.microsoft.com/office/drawing/2014/main" id="{19BE83C3-589D-4C67-85C3-7B7C94FF2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5C6B"/>
          </a:solidFill>
          <a:ln xmlns:a="http://schemas.openxmlformats.org/drawingml/2006/main" w="0">
            <a:solidFill>
              <a:srgbClr val="DE5C6B"/>
            </a:solidFill>
            <a:prstDash val="solid"/>
          </a:ln>
        </p:spPr>
      </p:sp>
      <p:sp>
        <p:nvSpPr>
          <p:cNvPr id="17" name="risk-n-1">
            <a:extLst xmlns:a="http://schemas.openxmlformats.org/drawingml/2006/main">
              <a:ext uri="{FF2B5EF4-FFF2-40B4-BE49-F238E27FC236}">
                <a16:creationId xmlns:a16="http://schemas.microsoft.com/office/drawing/2014/main" id="{827935E3-272C-4D8D-8A25-51B258FC2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194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risk-title-1">
            <a:extLst xmlns:a="http://schemas.openxmlformats.org/drawingml/2006/main">
              <a:ext uri="{FF2B5EF4-FFF2-40B4-BE49-F238E27FC236}">
                <a16:creationId xmlns:a16="http://schemas.microsoft.com/office/drawing/2014/main" id="{266A8496-3028-4CDB-AA31-2DE844DC9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28950"/>
            <a:ext cx="264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Ejecución insegura</a:t>
            </a:r>
          </a:p>
        </p:txBody>
      </p:sp>
      <p:sp>
        <p:nvSpPr>
          <p:cNvPr id="19" name="risk-owner-1">
            <a:extLst xmlns:a="http://schemas.openxmlformats.org/drawingml/2006/main">
              <a:ext uri="{FF2B5EF4-FFF2-40B4-BE49-F238E27FC236}">
                <a16:creationId xmlns:a16="http://schemas.microsoft.com/office/drawing/2014/main" id="{E9719B8A-ED8E-4D4D-A36C-1F72BB8A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02895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DE5C6B"/>
                </a:solidFill>
              </a:defRPr>
            </a:pPr>
            <a:r>
              <a:rPr sz="975" b="1" i="0">
                <a:solidFill>
                  <a:srgbClr val="DE5C6B"/>
                </a:solidFill>
              </a:rPr>
              <a:t>Dueño: Marcelo</a:t>
            </a:r>
          </a:p>
        </p:txBody>
      </p:sp>
      <p:sp>
        <p:nvSpPr>
          <p:cNvPr id="20" name="risk-trigger-1">
            <a:extLst xmlns:a="http://schemas.openxmlformats.org/drawingml/2006/main">
              <a:ext uri="{FF2B5EF4-FFF2-40B4-BE49-F238E27FC236}">
                <a16:creationId xmlns:a16="http://schemas.microsoft.com/office/drawing/2014/main" id="{E7C5E957-D7A9-40CF-9CBF-39875F49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956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4748B"/>
                </a:solidFill>
              </a:defRPr>
            </a:pPr>
            <a:r>
              <a:rPr sz="975" b="0" i="0">
                <a:solidFill>
                  <a:srgbClr val="64748B"/>
                </a:solidFill>
              </a:rPr>
              <a:t>Disparador: Falla prueba adversarial</a:t>
            </a:r>
          </a:p>
        </p:txBody>
      </p:sp>
      <p:sp>
        <p:nvSpPr>
          <p:cNvPr id="21" name="risk-control-1">
            <a:extLst xmlns:a="http://schemas.openxmlformats.org/drawingml/2006/main">
              <a:ext uri="{FF2B5EF4-FFF2-40B4-BE49-F238E27FC236}">
                <a16:creationId xmlns:a16="http://schemas.microsoft.com/office/drawing/2014/main" id="{A1B54160-B8F2-446A-AE89-3C00BE1F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4330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43B53"/>
                </a:solidFill>
              </a:defRPr>
            </a:pPr>
            <a:r>
              <a:rPr sz="1050" b="1" i="0">
                <a:solidFill>
                  <a:srgbClr val="243B53"/>
                </a:solidFill>
              </a:rPr>
              <a:t>Respuesta: Vercel Sandbox + límites internos</a:t>
            </a:r>
          </a:p>
        </p:txBody>
      </p:sp>
      <p:sp>
        <p:nvSpPr>
          <p:cNvPr id="22" name="risk-bg-2">
            <a:extLst xmlns:a="http://schemas.openxmlformats.org/drawingml/2006/main">
              <a:ext uri="{FF2B5EF4-FFF2-40B4-BE49-F238E27FC236}">
                <a16:creationId xmlns:a16="http://schemas.microsoft.com/office/drawing/2014/main" id="{5E66F91C-1A37-4A0A-B12B-CE550E7C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52197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risk-n-bg-2">
            <a:extLst xmlns:a="http://schemas.openxmlformats.org/drawingml/2006/main">
              <a:ext uri="{FF2B5EF4-FFF2-40B4-BE49-F238E27FC236}">
                <a16:creationId xmlns:a16="http://schemas.microsoft.com/office/drawing/2014/main" id="{5EBD28DA-07FB-4344-BD4D-1472705C3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33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63E"/>
          </a:solidFill>
          <a:ln xmlns:a="http://schemas.openxmlformats.org/drawingml/2006/main" w="0">
            <a:solidFill>
              <a:srgbClr val="F4B63E"/>
            </a:solidFill>
            <a:prstDash val="solid"/>
          </a:ln>
        </p:spPr>
      </p:sp>
      <p:sp>
        <p:nvSpPr>
          <p:cNvPr id="24" name="risk-n-2">
            <a:extLst xmlns:a="http://schemas.openxmlformats.org/drawingml/2006/main">
              <a:ext uri="{FF2B5EF4-FFF2-40B4-BE49-F238E27FC236}">
                <a16:creationId xmlns:a16="http://schemas.microsoft.com/office/drawing/2014/main" id="{4E09DBF6-6369-4F3D-8982-B071F57C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481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risk-title-2">
            <a:extLst xmlns:a="http://schemas.openxmlformats.org/drawingml/2006/main">
              <a:ext uri="{FF2B5EF4-FFF2-40B4-BE49-F238E27FC236}">
                <a16:creationId xmlns:a16="http://schemas.microsoft.com/office/drawing/2014/main" id="{DCAC849A-E907-4324-BD48-BB0AC648F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57650"/>
            <a:ext cx="264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RAG consume tiempo</a:t>
            </a:r>
          </a:p>
        </p:txBody>
      </p:sp>
      <p:sp>
        <p:nvSpPr>
          <p:cNvPr id="26" name="risk-owner-2">
            <a:extLst xmlns:a="http://schemas.openxmlformats.org/drawingml/2006/main">
              <a:ext uri="{FF2B5EF4-FFF2-40B4-BE49-F238E27FC236}">
                <a16:creationId xmlns:a16="http://schemas.microsoft.com/office/drawing/2014/main" id="{08CCA19A-820E-45E7-9FFC-D7111778B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05765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F4B63E"/>
                </a:solidFill>
              </a:defRPr>
            </a:pPr>
            <a:r>
              <a:rPr sz="975" b="1" i="0">
                <a:solidFill>
                  <a:srgbClr val="F4B63E"/>
                </a:solidFill>
              </a:rPr>
              <a:t>Dueño: Abraham</a:t>
            </a:r>
          </a:p>
        </p:txBody>
      </p:sp>
      <p:sp>
        <p:nvSpPr>
          <p:cNvPr id="27" name="risk-trigger-2">
            <a:extLst xmlns:a="http://schemas.openxmlformats.org/drawingml/2006/main">
              <a:ext uri="{FF2B5EF4-FFF2-40B4-BE49-F238E27FC236}">
                <a16:creationId xmlns:a16="http://schemas.microsoft.com/office/drawing/2014/main" id="{8518DF7C-B025-4485-9A69-8006D1DB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243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4748B"/>
                </a:solidFill>
              </a:defRPr>
            </a:pPr>
            <a:r>
              <a:rPr sz="975" b="0" i="0">
                <a:solidFill>
                  <a:srgbClr val="64748B"/>
                </a:solidFill>
              </a:rPr>
              <a:t>Disparador: Validación excede costo o latencia</a:t>
            </a:r>
          </a:p>
        </p:txBody>
      </p:sp>
      <p:sp>
        <p:nvSpPr>
          <p:cNvPr id="28" name="risk-control-2">
            <a:extLst xmlns:a="http://schemas.openxmlformats.org/drawingml/2006/main">
              <a:ext uri="{FF2B5EF4-FFF2-40B4-BE49-F238E27FC236}">
                <a16:creationId xmlns:a16="http://schemas.microsoft.com/office/drawing/2014/main" id="{D762A80F-66C7-4DF5-A9E7-417DEA35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7200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43B53"/>
                </a:solidFill>
              </a:defRPr>
            </a:pPr>
            <a:r>
              <a:rPr sz="1050" b="1" i="0">
                <a:solidFill>
                  <a:srgbClr val="243B53"/>
                </a:solidFill>
              </a:rPr>
              <a:t>Respuesta: top-k=5 + pipeline mínimo</a:t>
            </a:r>
          </a:p>
        </p:txBody>
      </p:sp>
      <p:sp>
        <p:nvSpPr>
          <p:cNvPr id="29" name="risk-bg-3">
            <a:extLst xmlns:a="http://schemas.openxmlformats.org/drawingml/2006/main">
              <a:ext uri="{FF2B5EF4-FFF2-40B4-BE49-F238E27FC236}">
                <a16:creationId xmlns:a16="http://schemas.microsoft.com/office/drawing/2014/main" id="{60C4DF63-CF4D-4C54-85B7-0292A730F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52197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risk-n-bg-3">
            <a:extLst xmlns:a="http://schemas.openxmlformats.org/drawingml/2006/main">
              <a:ext uri="{FF2B5EF4-FFF2-40B4-BE49-F238E27FC236}">
                <a16:creationId xmlns:a16="http://schemas.microsoft.com/office/drawing/2014/main" id="{B728649F-82F6-4FA9-ADC9-0B3BEB03F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625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63C9"/>
          </a:solidFill>
          <a:ln xmlns:a="http://schemas.openxmlformats.org/drawingml/2006/main" w="0">
            <a:solidFill>
              <a:srgbClr val="7563C9"/>
            </a:solidFill>
            <a:prstDash val="solid"/>
          </a:ln>
        </p:spPr>
      </p:sp>
      <p:sp>
        <p:nvSpPr>
          <p:cNvPr id="31" name="risk-n-3">
            <a:extLst xmlns:a="http://schemas.openxmlformats.org/drawingml/2006/main">
              <a:ext uri="{FF2B5EF4-FFF2-40B4-BE49-F238E27FC236}">
                <a16:creationId xmlns:a16="http://schemas.microsoft.com/office/drawing/2014/main" id="{1DF6BD63-2309-4D6E-8B4B-AA6CC3F6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76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2" name="risk-title-3">
            <a:extLst xmlns:a="http://schemas.openxmlformats.org/drawingml/2006/main">
              <a:ext uri="{FF2B5EF4-FFF2-40B4-BE49-F238E27FC236}">
                <a16:creationId xmlns:a16="http://schemas.microsoft.com/office/drawing/2014/main" id="{8EA7DB61-B647-4BBD-928B-B9EF53F1B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86350"/>
            <a:ext cx="264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Diagnóstico incorrecto</a:t>
            </a:r>
          </a:p>
        </p:txBody>
      </p:sp>
      <p:sp>
        <p:nvSpPr>
          <p:cNvPr id="33" name="risk-owner-3">
            <a:extLst xmlns:a="http://schemas.openxmlformats.org/drawingml/2006/main">
              <a:ext uri="{FF2B5EF4-FFF2-40B4-BE49-F238E27FC236}">
                <a16:creationId xmlns:a16="http://schemas.microsoft.com/office/drawing/2014/main" id="{63B5A513-C365-40A6-9B83-AB4FF2C88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508635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7563C9"/>
                </a:solidFill>
              </a:defRPr>
            </a:pPr>
            <a:r>
              <a:rPr sz="975" b="1" i="0">
                <a:solidFill>
                  <a:srgbClr val="7563C9"/>
                </a:solidFill>
              </a:rPr>
              <a:t>Dueño: Abraham</a:t>
            </a:r>
          </a:p>
        </p:txBody>
      </p:sp>
      <p:sp>
        <p:nvSpPr>
          <p:cNvPr id="34" name="risk-trigger-3">
            <a:extLst xmlns:a="http://schemas.openxmlformats.org/drawingml/2006/main">
              <a:ext uri="{FF2B5EF4-FFF2-40B4-BE49-F238E27FC236}">
                <a16:creationId xmlns:a16="http://schemas.microsoft.com/office/drawing/2014/main" id="{9066CB45-C989-44B9-B45A-4E0E85D4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530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4748B"/>
                </a:solidFill>
              </a:defRPr>
            </a:pPr>
            <a:r>
              <a:rPr sz="975" b="0" i="0">
                <a:solidFill>
                  <a:srgbClr val="64748B"/>
                </a:solidFill>
              </a:rPr>
              <a:t>Disparador: Esquema inválido o no verificable</a:t>
            </a:r>
          </a:p>
        </p:txBody>
      </p:sp>
      <p:sp>
        <p:nvSpPr>
          <p:cNvPr id="35" name="risk-control-3">
            <a:extLst xmlns:a="http://schemas.openxmlformats.org/drawingml/2006/main">
              <a:ext uri="{FF2B5EF4-FFF2-40B4-BE49-F238E27FC236}">
                <a16:creationId xmlns:a16="http://schemas.microsoft.com/office/drawing/2014/main" id="{75D4660B-D2B2-4A20-AE6B-0AF2E263E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60070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43B53"/>
                </a:solidFill>
              </a:defRPr>
            </a:pPr>
            <a:r>
              <a:rPr sz="1050" b="1" i="0">
                <a:solidFill>
                  <a:srgbClr val="243B53"/>
                </a:solidFill>
              </a:rPr>
              <a:t>Respuesta: Casos de prueba + diagnosis_code UNKNOWN</a:t>
            </a:r>
          </a:p>
        </p:txBody>
      </p:sp>
      <p:sp>
        <p:nvSpPr>
          <p:cNvPr id="36" name="risk-bg-4">
            <a:extLst xmlns:a="http://schemas.openxmlformats.org/drawingml/2006/main">
              <a:ext uri="{FF2B5EF4-FFF2-40B4-BE49-F238E27FC236}">
                <a16:creationId xmlns:a16="http://schemas.microsoft.com/office/drawing/2014/main" id="{288CAD20-6781-4C4F-8055-F71838CC8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905000"/>
            <a:ext cx="52197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7" name="risk-n-bg-4">
            <a:extLst xmlns:a="http://schemas.openxmlformats.org/drawingml/2006/main">
              <a:ext uri="{FF2B5EF4-FFF2-40B4-BE49-F238E27FC236}">
                <a16:creationId xmlns:a16="http://schemas.microsoft.com/office/drawing/2014/main" id="{FA7FB58E-E783-431C-9B5A-0AAB93AA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764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B56"/>
          </a:solidFill>
          <a:ln xmlns:a="http://schemas.openxmlformats.org/drawingml/2006/main" w="0">
            <a:solidFill>
              <a:srgbClr val="183B56"/>
            </a:solidFill>
            <a:prstDash val="solid"/>
          </a:ln>
        </p:spPr>
      </p:sp>
      <p:sp>
        <p:nvSpPr>
          <p:cNvPr id="38" name="risk-n-4">
            <a:extLst xmlns:a="http://schemas.openxmlformats.org/drawingml/2006/main">
              <a:ext uri="{FF2B5EF4-FFF2-40B4-BE49-F238E27FC236}">
                <a16:creationId xmlns:a16="http://schemas.microsoft.com/office/drawing/2014/main" id="{ED5F90B4-93D2-4189-9CFA-6F981A222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907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9" name="risk-title-4">
            <a:extLst xmlns:a="http://schemas.openxmlformats.org/drawingml/2006/main">
              <a:ext uri="{FF2B5EF4-FFF2-40B4-BE49-F238E27FC236}">
                <a16:creationId xmlns:a16="http://schemas.microsoft.com/office/drawing/2014/main" id="{11E98731-375D-471A-993F-8145E8095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000250"/>
            <a:ext cx="264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Integración tardía</a:t>
            </a:r>
          </a:p>
        </p:txBody>
      </p:sp>
      <p:sp>
        <p:nvSpPr>
          <p:cNvPr id="40" name="risk-owner-4">
            <a:extLst xmlns:a="http://schemas.openxmlformats.org/drawingml/2006/main">
              <a:ext uri="{FF2B5EF4-FFF2-40B4-BE49-F238E27FC236}">
                <a16:creationId xmlns:a16="http://schemas.microsoft.com/office/drawing/2014/main" id="{20C92549-4E66-42E6-B4AC-E36D671B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00025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183B56"/>
                </a:solidFill>
              </a:defRPr>
            </a:pPr>
            <a:r>
              <a:rPr sz="975" b="1" i="0">
                <a:solidFill>
                  <a:srgbClr val="183B56"/>
                </a:solidFill>
              </a:rPr>
              <a:t>Dueño: Marcelo</a:t>
            </a:r>
          </a:p>
        </p:txBody>
      </p:sp>
      <p:sp>
        <p:nvSpPr>
          <p:cNvPr id="41" name="risk-trigger-4">
            <a:extLst xmlns:a="http://schemas.openxmlformats.org/drawingml/2006/main">
              <a:ext uri="{FF2B5EF4-FFF2-40B4-BE49-F238E27FC236}">
                <a16:creationId xmlns:a16="http://schemas.microsoft.com/office/drawing/2014/main" id="{0EBB9493-1136-44A6-9045-DCECF041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669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4748B"/>
                </a:solidFill>
              </a:defRPr>
            </a:pPr>
            <a:r>
              <a:rPr sz="975" b="0" i="0">
                <a:solidFill>
                  <a:srgbClr val="64748B"/>
                </a:solidFill>
              </a:rPr>
              <a:t>Disparador: Sin vertical integrada S10</a:t>
            </a:r>
          </a:p>
        </p:txBody>
      </p:sp>
      <p:sp>
        <p:nvSpPr>
          <p:cNvPr id="42" name="risk-control-4">
            <a:extLst xmlns:a="http://schemas.openxmlformats.org/drawingml/2006/main">
              <a:ext uri="{FF2B5EF4-FFF2-40B4-BE49-F238E27FC236}">
                <a16:creationId xmlns:a16="http://schemas.microsoft.com/office/drawing/2014/main" id="{7107D688-FE98-4F99-86B8-F6A92642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1460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43B53"/>
                </a:solidFill>
              </a:defRPr>
            </a:pPr>
            <a:r>
              <a:rPr sz="1050" b="1" i="0">
                <a:solidFill>
                  <a:srgbClr val="243B53"/>
                </a:solidFill>
              </a:rPr>
              <a:t>Respuesta: CI + E2E + PR pequeños</a:t>
            </a:r>
          </a:p>
        </p:txBody>
      </p:sp>
      <p:sp>
        <p:nvSpPr>
          <p:cNvPr id="43" name="risk-bg-5">
            <a:extLst xmlns:a="http://schemas.openxmlformats.org/drawingml/2006/main">
              <a:ext uri="{FF2B5EF4-FFF2-40B4-BE49-F238E27FC236}">
                <a16:creationId xmlns:a16="http://schemas.microsoft.com/office/drawing/2014/main" id="{3B6D6E59-FD38-4D6E-B2C2-9B9DE5E0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933700"/>
            <a:ext cx="52197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4" name="risk-n-bg-5">
            <a:extLst xmlns:a="http://schemas.openxmlformats.org/drawingml/2006/main">
              <a:ext uri="{FF2B5EF4-FFF2-40B4-BE49-F238E27FC236}">
                <a16:creationId xmlns:a16="http://schemas.microsoft.com/office/drawing/2014/main" id="{750D2D9F-093B-46F2-A834-E1D15FDA6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5C6B"/>
          </a:solidFill>
          <a:ln xmlns:a="http://schemas.openxmlformats.org/drawingml/2006/main" w="0">
            <a:solidFill>
              <a:srgbClr val="DE5C6B"/>
            </a:solidFill>
            <a:prstDash val="solid"/>
          </a:ln>
        </p:spPr>
      </p:sp>
      <p:sp>
        <p:nvSpPr>
          <p:cNvPr id="45" name="risk-n-5">
            <a:extLst xmlns:a="http://schemas.openxmlformats.org/drawingml/2006/main">
              <a:ext uri="{FF2B5EF4-FFF2-40B4-BE49-F238E27FC236}">
                <a16:creationId xmlns:a16="http://schemas.microsoft.com/office/drawing/2014/main" id="{9C0CDEB0-FF58-4D99-9889-3129EB6F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194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6" name="risk-title-5">
            <a:extLst xmlns:a="http://schemas.openxmlformats.org/drawingml/2006/main">
              <a:ext uri="{FF2B5EF4-FFF2-40B4-BE49-F238E27FC236}">
                <a16:creationId xmlns:a16="http://schemas.microsoft.com/office/drawing/2014/main" id="{F9FFF7DC-EEA2-43A7-93DF-C4CCBCC44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028950"/>
            <a:ext cx="264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Datos o secretos expuestos</a:t>
            </a:r>
          </a:p>
        </p:txBody>
      </p:sp>
      <p:sp>
        <p:nvSpPr>
          <p:cNvPr id="47" name="risk-owner-5">
            <a:extLst xmlns:a="http://schemas.openxmlformats.org/drawingml/2006/main">
              <a:ext uri="{FF2B5EF4-FFF2-40B4-BE49-F238E27FC236}">
                <a16:creationId xmlns:a16="http://schemas.microsoft.com/office/drawing/2014/main" id="{9D3C5B81-D1EE-40EB-A7FB-E5A5C2F00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02895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DE5C6B"/>
                </a:solidFill>
              </a:defRPr>
            </a:pPr>
            <a:r>
              <a:rPr sz="975" b="1" i="0">
                <a:solidFill>
                  <a:srgbClr val="DE5C6B"/>
                </a:solidFill>
              </a:rPr>
              <a:t>Dueño: Equipo</a:t>
            </a:r>
          </a:p>
        </p:txBody>
      </p:sp>
      <p:sp>
        <p:nvSpPr>
          <p:cNvPr id="48" name="risk-trigger-5">
            <a:extLst xmlns:a="http://schemas.openxmlformats.org/drawingml/2006/main">
              <a:ext uri="{FF2B5EF4-FFF2-40B4-BE49-F238E27FC236}">
                <a16:creationId xmlns:a16="http://schemas.microsoft.com/office/drawing/2014/main" id="{53AD1E46-F290-4C24-A101-1B12A23A2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2956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4748B"/>
                </a:solidFill>
              </a:defRPr>
            </a:pPr>
            <a:r>
              <a:rPr sz="975" b="0" i="0">
                <a:solidFill>
                  <a:srgbClr val="64748B"/>
                </a:solidFill>
              </a:rPr>
              <a:t>Disparador: PII o secret scan fallido</a:t>
            </a:r>
          </a:p>
        </p:txBody>
      </p:sp>
      <p:sp>
        <p:nvSpPr>
          <p:cNvPr id="49" name="risk-control-5">
            <a:extLst xmlns:a="http://schemas.openxmlformats.org/drawingml/2006/main">
              <a:ext uri="{FF2B5EF4-FFF2-40B4-BE49-F238E27FC236}">
                <a16:creationId xmlns:a16="http://schemas.microsoft.com/office/drawing/2014/main" id="{79AA0127-D1C9-4623-A45D-C3F65487B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54330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43B53"/>
                </a:solidFill>
              </a:defRPr>
            </a:pPr>
            <a:r>
              <a:rPr sz="1050" b="1" i="0">
                <a:solidFill>
                  <a:srgbClr val="243B53"/>
                </a:solidFill>
              </a:rPr>
              <a:t>Respuesta: RLS + secretos sólo en servidor</a:t>
            </a:r>
          </a:p>
        </p:txBody>
      </p:sp>
      <p:sp>
        <p:nvSpPr>
          <p:cNvPr id="50" name="risk-bg-6">
            <a:extLst xmlns:a="http://schemas.openxmlformats.org/drawingml/2006/main">
              <a:ext uri="{FF2B5EF4-FFF2-40B4-BE49-F238E27FC236}">
                <a16:creationId xmlns:a16="http://schemas.microsoft.com/office/drawing/2014/main" id="{E0F3289A-9D92-4575-A006-4BAB80B4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962400"/>
            <a:ext cx="52197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1" name="risk-n-bg-6">
            <a:extLst xmlns:a="http://schemas.openxmlformats.org/drawingml/2006/main">
              <a:ext uri="{FF2B5EF4-FFF2-40B4-BE49-F238E27FC236}">
                <a16:creationId xmlns:a16="http://schemas.microsoft.com/office/drawing/2014/main" id="{BCDBFE1F-9D1E-4128-9FD0-798FB3040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33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9A8C"/>
          </a:solidFill>
          <a:ln xmlns:a="http://schemas.openxmlformats.org/drawingml/2006/main" w="0">
            <a:solidFill>
              <a:srgbClr val="159A8C"/>
            </a:solidFill>
            <a:prstDash val="solid"/>
          </a:ln>
        </p:spPr>
      </p:sp>
      <p:sp>
        <p:nvSpPr>
          <p:cNvPr id="52" name="risk-n-6">
            <a:extLst xmlns:a="http://schemas.openxmlformats.org/drawingml/2006/main">
              <a:ext uri="{FF2B5EF4-FFF2-40B4-BE49-F238E27FC236}">
                <a16:creationId xmlns:a16="http://schemas.microsoft.com/office/drawing/2014/main" id="{E9E5859A-1D4C-4F07-B162-301B2D057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481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53" name="risk-title-6">
            <a:extLst xmlns:a="http://schemas.openxmlformats.org/drawingml/2006/main">
              <a:ext uri="{FF2B5EF4-FFF2-40B4-BE49-F238E27FC236}">
                <a16:creationId xmlns:a16="http://schemas.microsoft.com/office/drawing/2014/main" id="{C0F98C89-32B5-4547-BB1A-6525ADCE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57650"/>
            <a:ext cx="264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Trabajo desigual</a:t>
            </a:r>
          </a:p>
        </p:txBody>
      </p:sp>
      <p:sp>
        <p:nvSpPr>
          <p:cNvPr id="54" name="risk-owner-6">
            <a:extLst xmlns:a="http://schemas.openxmlformats.org/drawingml/2006/main">
              <a:ext uri="{FF2B5EF4-FFF2-40B4-BE49-F238E27FC236}">
                <a16:creationId xmlns:a16="http://schemas.microsoft.com/office/drawing/2014/main" id="{DF43B154-1F79-4251-A48E-414F063D7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05765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159A8C"/>
                </a:solidFill>
              </a:defRPr>
            </a:pPr>
            <a:r>
              <a:rPr sz="975" b="1" i="0">
                <a:solidFill>
                  <a:srgbClr val="159A8C"/>
                </a:solidFill>
              </a:rPr>
              <a:t>Dueño: Equipo</a:t>
            </a:r>
          </a:p>
        </p:txBody>
      </p:sp>
      <p:sp>
        <p:nvSpPr>
          <p:cNvPr id="55" name="risk-trigger-6">
            <a:extLst xmlns:a="http://schemas.openxmlformats.org/drawingml/2006/main">
              <a:ext uri="{FF2B5EF4-FFF2-40B4-BE49-F238E27FC236}">
                <a16:creationId xmlns:a16="http://schemas.microsoft.com/office/drawing/2014/main" id="{A19323F5-EA98-4E41-B7F7-549EABCCE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243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4748B"/>
                </a:solidFill>
              </a:defRPr>
            </a:pPr>
            <a:r>
              <a:rPr sz="975" b="0" i="0">
                <a:solidFill>
                  <a:srgbClr val="64748B"/>
                </a:solidFill>
              </a:rPr>
              <a:t>Disparador: &gt;40% de carga en una persona</a:t>
            </a:r>
          </a:p>
        </p:txBody>
      </p:sp>
      <p:sp>
        <p:nvSpPr>
          <p:cNvPr id="56" name="risk-control-6">
            <a:extLst xmlns:a="http://schemas.openxmlformats.org/drawingml/2006/main">
              <a:ext uri="{FF2B5EF4-FFF2-40B4-BE49-F238E27FC236}">
                <a16:creationId xmlns:a16="http://schemas.microsoft.com/office/drawing/2014/main" id="{3F0FC2BD-7C4C-4D15-BB3D-A617FD09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57200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43B53"/>
                </a:solidFill>
              </a:defRPr>
            </a:pPr>
            <a:r>
              <a:rPr sz="1050" b="1" i="0">
                <a:solidFill>
                  <a:srgbClr val="243B53"/>
                </a:solidFill>
              </a:rPr>
              <a:t>Respuesta: Capacidad + rebalance semanal</a:t>
            </a:r>
          </a:p>
        </p:txBody>
      </p:sp>
      <p:sp>
        <p:nvSpPr>
          <p:cNvPr id="57" name="risk-bg-7">
            <a:extLst xmlns:a="http://schemas.openxmlformats.org/drawingml/2006/main">
              <a:ext uri="{FF2B5EF4-FFF2-40B4-BE49-F238E27FC236}">
                <a16:creationId xmlns:a16="http://schemas.microsoft.com/office/drawing/2014/main" id="{37A14073-4095-45C3-A587-EB26D7105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991100"/>
            <a:ext cx="52197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8" name="risk-n-bg-7">
            <a:extLst xmlns:a="http://schemas.openxmlformats.org/drawingml/2006/main">
              <a:ext uri="{FF2B5EF4-FFF2-40B4-BE49-F238E27FC236}">
                <a16:creationId xmlns:a16="http://schemas.microsoft.com/office/drawing/2014/main" id="{72A4AD0A-C20B-4B20-B16D-A3FFE0AC7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1625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6C6"/>
          </a:solidFill>
          <a:ln xmlns:a="http://schemas.openxmlformats.org/drawingml/2006/main" w="0">
            <a:solidFill>
              <a:srgbClr val="4F86C6"/>
            </a:solidFill>
            <a:prstDash val="solid"/>
          </a:ln>
        </p:spPr>
      </p:sp>
      <p:sp>
        <p:nvSpPr>
          <p:cNvPr id="59" name="risk-n-7">
            <a:extLst xmlns:a="http://schemas.openxmlformats.org/drawingml/2006/main">
              <a:ext uri="{FF2B5EF4-FFF2-40B4-BE49-F238E27FC236}">
                <a16:creationId xmlns:a16="http://schemas.microsoft.com/office/drawing/2014/main" id="{63D8018D-257E-492E-9EF8-DAD07746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76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60" name="risk-title-7">
            <a:extLst xmlns:a="http://schemas.openxmlformats.org/drawingml/2006/main">
              <a:ext uri="{FF2B5EF4-FFF2-40B4-BE49-F238E27FC236}">
                <a16:creationId xmlns:a16="http://schemas.microsoft.com/office/drawing/2014/main" id="{A3FB36B6-786C-4EA8-B8E4-A944B9195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086350"/>
            <a:ext cx="264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Costo/dependencia IA</a:t>
            </a:r>
          </a:p>
        </p:txBody>
      </p:sp>
      <p:sp>
        <p:nvSpPr>
          <p:cNvPr id="61" name="risk-owner-7">
            <a:extLst xmlns:a="http://schemas.openxmlformats.org/drawingml/2006/main">
              <a:ext uri="{FF2B5EF4-FFF2-40B4-BE49-F238E27FC236}">
                <a16:creationId xmlns:a16="http://schemas.microsoft.com/office/drawing/2014/main" id="{1D5B1582-7037-447B-99D3-5AAC90C78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08635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4F86C6"/>
                </a:solidFill>
              </a:defRPr>
            </a:pPr>
            <a:r>
              <a:rPr sz="975" b="1" i="0">
                <a:solidFill>
                  <a:srgbClr val="4F86C6"/>
                </a:solidFill>
              </a:rPr>
              <a:t>Dueño: Abraham</a:t>
            </a:r>
          </a:p>
        </p:txBody>
      </p:sp>
      <p:sp>
        <p:nvSpPr>
          <p:cNvPr id="62" name="risk-trigger-7">
            <a:extLst xmlns:a="http://schemas.openxmlformats.org/drawingml/2006/main">
              <a:ext uri="{FF2B5EF4-FFF2-40B4-BE49-F238E27FC236}">
                <a16:creationId xmlns:a16="http://schemas.microsoft.com/office/drawing/2014/main" id="{DC609F55-4DF4-4415-BB97-09C8AFCC1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3530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4748B"/>
                </a:solidFill>
              </a:defRPr>
            </a:pPr>
            <a:r>
              <a:rPr sz="975" b="0" i="0">
                <a:solidFill>
                  <a:srgbClr val="64748B"/>
                </a:solidFill>
              </a:rPr>
              <a:t>Disparador: Latencia/costo supera límite</a:t>
            </a:r>
          </a:p>
        </p:txBody>
      </p:sp>
      <p:sp>
        <p:nvSpPr>
          <p:cNvPr id="63" name="risk-control-7">
            <a:extLst xmlns:a="http://schemas.openxmlformats.org/drawingml/2006/main">
              <a:ext uri="{FF2B5EF4-FFF2-40B4-BE49-F238E27FC236}">
                <a16:creationId xmlns:a16="http://schemas.microsoft.com/office/drawing/2014/main" id="{AB9E9516-ED5C-456C-B72C-F6FE53C8E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60070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43B53"/>
                </a:solidFill>
              </a:defRPr>
            </a:pPr>
            <a:r>
              <a:rPr sz="1050" b="1" i="0">
                <a:solidFill>
                  <a:srgbClr val="243B53"/>
                </a:solidFill>
              </a:rPr>
              <a:t>Respuesta: Cuotas + observabilidad + degradación</a:t>
            </a:r>
          </a:p>
        </p:txBody>
      </p:sp>
    </p:spTree>
    <p:extLst>
      <p:ext uri="{BB962C8B-B14F-4D97-AF65-F5344CB8AC3E}">
        <p14:creationId xmlns:p14="http://schemas.microsoft.com/office/powerpoint/2010/main" val="139690507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ail-12">
            <a:extLst xmlns:a="http://schemas.openxmlformats.org/drawingml/2006/main">
              <a:ext uri="{FF2B5EF4-FFF2-40B4-BE49-F238E27FC236}">
                <a16:creationId xmlns:a16="http://schemas.microsoft.com/office/drawing/2014/main" id="{D01CA219-5645-48D0-B979-92B60689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2" name="kicker-12">
            <a:extLst xmlns:a="http://schemas.openxmlformats.org/drawingml/2006/main">
              <a:ext uri="{FF2B5EF4-FFF2-40B4-BE49-F238E27FC236}">
                <a16:creationId xmlns:a16="http://schemas.microsoft.com/office/drawing/2014/main" id="{EB380583-EBC3-4B46-9992-D1573F12C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2F6FED"/>
                </a:solidFill>
              </a:defRPr>
            </a:pPr>
            <a:r>
              <a:rPr sz="900" b="1" i="0">
                <a:solidFill>
                  <a:srgbClr val="2F6FED"/>
                </a:solidFill>
              </a:rPr>
              <a:t>PLANIFICACIÓN</a:t>
            </a:r>
          </a:p>
        </p:txBody>
      </p:sp>
      <p:sp>
        <p:nvSpPr>
          <p:cNvPr id="3" name="title-12">
            <a:extLst xmlns:a="http://schemas.openxmlformats.org/drawingml/2006/main">
              <a:ext uri="{FF2B5EF4-FFF2-40B4-BE49-F238E27FC236}">
                <a16:creationId xmlns:a16="http://schemas.microsoft.com/office/drawing/2014/main" id="{7605C50E-B177-4EB1-823F-6726C76123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53340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102A43"/>
                </a:solidFill>
              </a:defRPr>
            </a:pPr>
            <a:r>
              <a:rPr sz="2400" b="1" i="0">
                <a:solidFill>
                  <a:srgbClr val="102A43"/>
                </a:solidFill>
              </a:rPr>
              <a:t>Las cuatro etapas alinean sprints, evidencia y puertas CAPSTONE</a:t>
            </a:r>
          </a:p>
        </p:txBody>
      </p:sp>
      <p:sp>
        <p:nvSpPr>
          <p:cNvPr id="4" name="header-line-12">
            <a:extLst xmlns:a="http://schemas.openxmlformats.org/drawingml/2006/main">
              <a:ext uri="{FF2B5EF4-FFF2-40B4-BE49-F238E27FC236}">
                <a16:creationId xmlns:a16="http://schemas.microsoft.com/office/drawing/2014/main" id="{F034096D-1DBE-4940-97FA-E22997096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ED"/>
            </a:solidFill>
            <a:prstDash val="solid"/>
          </a:ln>
        </p:spPr>
      </p:sp>
      <p:sp>
        <p:nvSpPr>
          <p:cNvPr id="5" name="footer-12">
            <a:extLst xmlns:a="http://schemas.openxmlformats.org/drawingml/2006/main">
              <a:ext uri="{FF2B5EF4-FFF2-40B4-BE49-F238E27FC236}">
                <a16:creationId xmlns:a16="http://schemas.microsoft.com/office/drawing/2014/main" id="{773FCF85-8332-4B66-A80B-62E134BF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4748B"/>
                </a:solidFill>
              </a:defRPr>
            </a:pPr>
            <a:r>
              <a:rPr sz="750" b="0" i="0">
                <a:solidFill>
                  <a:srgbClr val="64748B"/>
                </a:solidFill>
              </a:rPr>
              <a:t>ALUNZA · CAPSTONE 2026 · SEDE PUENTE ALTO</a:t>
            </a:r>
          </a:p>
        </p:txBody>
      </p:sp>
      <p:sp>
        <p:nvSpPr>
          <p:cNvPr id="6" name="page-12">
            <a:extLst xmlns:a="http://schemas.openxmlformats.org/drawingml/2006/main">
              <a:ext uri="{FF2B5EF4-FFF2-40B4-BE49-F238E27FC236}">
                <a16:creationId xmlns:a16="http://schemas.microsoft.com/office/drawing/2014/main" id="{863B3483-010F-4FC8-AE80-367E97D0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579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4748B"/>
                </a:solidFill>
              </a:defRPr>
            </a:pPr>
            <a:r>
              <a:rPr sz="825" b="0" i="0">
                <a:solidFill>
                  <a:srgbClr val="64748B"/>
                </a:solidFill>
              </a:rPr>
              <a:t>12</a:t>
            </a:r>
          </a:p>
        </p:txBody>
      </p:sp>
      <p:sp>
        <p:nvSpPr>
          <p:cNvPr id="7" name="roadmap-lead">
            <a:extLst xmlns:a="http://schemas.openxmlformats.org/drawingml/2006/main">
              <a:ext uri="{FF2B5EF4-FFF2-40B4-BE49-F238E27FC236}">
                <a16:creationId xmlns:a16="http://schemas.microsoft.com/office/drawing/2014/main" id="{C4D80B5F-F8D7-428B-A70C-6AB0B9755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4748B"/>
                </a:solidFill>
              </a:defRPr>
            </a:pPr>
            <a:r>
              <a:rPr sz="1200" b="0" i="0">
                <a:solidFill>
                  <a:srgbClr val="64748B"/>
                </a:solidFill>
              </a:rPr>
              <a:t>El cierre de semana 4 entrega diseño y planificación. La arquitectura está definida; la validación operativa comienza en S2.</a:t>
            </a:r>
          </a:p>
        </p:txBody>
      </p:sp>
      <p:sp>
        <p:nvSpPr>
          <p:cNvPr id="8" name="roadmap-stage-0">
            <a:extLst xmlns:a="http://schemas.openxmlformats.org/drawingml/2006/main">
              <a:ext uri="{FF2B5EF4-FFF2-40B4-BE49-F238E27FC236}">
                <a16:creationId xmlns:a16="http://schemas.microsoft.com/office/drawing/2014/main" id="{0BB54772-4FF4-4156-A7E8-DD55C353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457450" cy="2990850"/>
          </a:xfrm>
          <a:prstGeom xmlns:a="http://schemas.openxmlformats.org/drawingml/2006/main" prst="roundRect">
            <a:avLst>
              <a:gd name="adj" fmla="val 54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roadmap-stage-band-0">
            <a:extLst xmlns:a="http://schemas.openxmlformats.org/drawingml/2006/main">
              <a:ext uri="{FF2B5EF4-FFF2-40B4-BE49-F238E27FC236}">
                <a16:creationId xmlns:a16="http://schemas.microsoft.com/office/drawing/2014/main" id="{69BC5E66-4869-4A3B-890B-E4E3C2D0C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457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solidFill>
              <a:srgbClr val="EAF2FF"/>
            </a:solidFill>
            <a:prstDash val="solid"/>
          </a:ln>
        </p:spPr>
      </p:sp>
      <p:sp>
        <p:nvSpPr>
          <p:cNvPr id="10" name="roadmap-stage-name-0">
            <a:extLst xmlns:a="http://schemas.openxmlformats.org/drawingml/2006/main">
              <a:ext uri="{FF2B5EF4-FFF2-40B4-BE49-F238E27FC236}">
                <a16:creationId xmlns:a16="http://schemas.microsoft.com/office/drawing/2014/main" id="{6733D858-70EC-4588-A272-49A754187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2114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2F6FED"/>
                </a:solidFill>
              </a:defRPr>
            </a:pPr>
            <a:r>
              <a:rPr sz="1425" b="1" i="0">
                <a:solidFill>
                  <a:srgbClr val="2F6FED"/>
                </a:solidFill>
              </a:rPr>
              <a:t>DEFINIR</a:t>
            </a:r>
          </a:p>
        </p:txBody>
      </p:sp>
      <p:sp>
        <p:nvSpPr>
          <p:cNvPr id="11" name="roadmap-stage-sprint-0">
            <a:extLst xmlns:a="http://schemas.openxmlformats.org/drawingml/2006/main">
              <a:ext uri="{FF2B5EF4-FFF2-40B4-BE49-F238E27FC236}">
                <a16:creationId xmlns:a16="http://schemas.microsoft.com/office/drawing/2014/main" id="{ACEB45AA-EEF9-45DF-87AC-C56479BB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S0–S1 · Sem. 1–4</a:t>
            </a:r>
          </a:p>
        </p:txBody>
      </p:sp>
      <p:sp>
        <p:nvSpPr>
          <p:cNvPr id="12" name="roadmap-stage-status-0-bg">
            <a:extLst xmlns:a="http://schemas.openxmlformats.org/drawingml/2006/main">
              <a:ext uri="{FF2B5EF4-FFF2-40B4-BE49-F238E27FC236}">
                <a16:creationId xmlns:a16="http://schemas.microsoft.com/office/drawing/2014/main" id="{F2418307-27A1-4929-BF05-48FB3662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00400"/>
            <a:ext cx="1428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F6FED"/>
            </a:solidFill>
            <a:prstDash val="solid"/>
          </a:ln>
        </p:spPr>
      </p:sp>
      <p:sp>
        <p:nvSpPr>
          <p:cNvPr id="13" name="roadmap-stage-status-0-text">
            <a:extLst xmlns:a="http://schemas.openxmlformats.org/drawingml/2006/main">
              <a:ext uri="{FF2B5EF4-FFF2-40B4-BE49-F238E27FC236}">
                <a16:creationId xmlns:a16="http://schemas.microsoft.com/office/drawing/2014/main" id="{B553475F-8B5A-4E2C-B7E9-222A48944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57550"/>
            <a:ext cx="1276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2F6FED"/>
                </a:solidFill>
              </a:defRPr>
            </a:pPr>
            <a:r>
              <a:rPr sz="900" b="1" i="0">
                <a:solidFill>
                  <a:srgbClr val="2F6FED"/>
                </a:solidFill>
              </a:rPr>
              <a:t>CERRADO 02/09</a:t>
            </a:r>
          </a:p>
        </p:txBody>
      </p:sp>
      <p:sp>
        <p:nvSpPr>
          <p:cNvPr id="14" name="roadmap-stage-body-0">
            <a:extLst xmlns:a="http://schemas.openxmlformats.org/drawingml/2006/main">
              <a:ext uri="{FF2B5EF4-FFF2-40B4-BE49-F238E27FC236}">
                <a16:creationId xmlns:a16="http://schemas.microsoft.com/office/drawing/2014/main" id="{52E1EF62-7F84-42F2-8AB7-0AAC191EC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52850"/>
            <a:ext cx="2038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Visión · alcance · backlog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prototipos · arquitectura</a:t>
            </a:r>
          </a:p>
        </p:txBody>
      </p:sp>
      <p:sp>
        <p:nvSpPr>
          <p:cNvPr id="15" name="roadmap-stage-1">
            <a:extLst xmlns:a="http://schemas.openxmlformats.org/drawingml/2006/main">
              <a:ext uri="{FF2B5EF4-FFF2-40B4-BE49-F238E27FC236}">
                <a16:creationId xmlns:a16="http://schemas.microsoft.com/office/drawing/2014/main" id="{03A3337B-2D20-4ABF-9CA5-7B8DBA10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000250"/>
            <a:ext cx="2457450" cy="2990850"/>
          </a:xfrm>
          <a:prstGeom xmlns:a="http://schemas.openxmlformats.org/drawingml/2006/main" prst="roundRect">
            <a:avLst>
              <a:gd name="adj" fmla="val 54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roadmap-stage-band-1">
            <a:extLst xmlns:a="http://schemas.openxmlformats.org/drawingml/2006/main">
              <a:ext uri="{FF2B5EF4-FFF2-40B4-BE49-F238E27FC236}">
                <a16:creationId xmlns:a16="http://schemas.microsoft.com/office/drawing/2014/main" id="{94D0568F-F349-445B-92E4-DC16C7A55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000250"/>
            <a:ext cx="2457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6F3"/>
          </a:solidFill>
          <a:ln xmlns:a="http://schemas.openxmlformats.org/drawingml/2006/main" w="0">
            <a:solidFill>
              <a:srgbClr val="E6F6F3"/>
            </a:solidFill>
            <a:prstDash val="solid"/>
          </a:ln>
        </p:spPr>
      </p:sp>
      <p:sp>
        <p:nvSpPr>
          <p:cNvPr id="17" name="roadmap-stage-name-1">
            <a:extLst xmlns:a="http://schemas.openxmlformats.org/drawingml/2006/main">
              <a:ext uri="{FF2B5EF4-FFF2-40B4-BE49-F238E27FC236}">
                <a16:creationId xmlns:a16="http://schemas.microsoft.com/office/drawing/2014/main" id="{6866E124-8591-4887-AA95-EC381EDD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52650"/>
            <a:ext cx="2114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59A8C"/>
                </a:solidFill>
              </a:defRPr>
            </a:pPr>
            <a:r>
              <a:rPr sz="1425" b="1" i="0">
                <a:solidFill>
                  <a:srgbClr val="159A8C"/>
                </a:solidFill>
              </a:rPr>
              <a:t>CONSTRUIR</a:t>
            </a:r>
          </a:p>
        </p:txBody>
      </p:sp>
      <p:sp>
        <p:nvSpPr>
          <p:cNvPr id="18" name="roadmap-stage-sprint-1">
            <a:extLst xmlns:a="http://schemas.openxmlformats.org/drawingml/2006/main">
              <a:ext uri="{FF2B5EF4-FFF2-40B4-BE49-F238E27FC236}">
                <a16:creationId xmlns:a16="http://schemas.microsoft.com/office/drawing/2014/main" id="{C82FD345-ED89-41E9-92C9-256F7DE8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781300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S2–S4 · Sem. 5–10</a:t>
            </a:r>
          </a:p>
        </p:txBody>
      </p:sp>
      <p:sp>
        <p:nvSpPr>
          <p:cNvPr id="19" name="roadmap-stage-status-1-bg">
            <a:extLst xmlns:a="http://schemas.openxmlformats.org/drawingml/2006/main">
              <a:ext uri="{FF2B5EF4-FFF2-40B4-BE49-F238E27FC236}">
                <a16:creationId xmlns:a16="http://schemas.microsoft.com/office/drawing/2014/main" id="{C8D5F8DB-424F-480B-8D31-019A9E28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200400"/>
            <a:ext cx="1428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F6F3"/>
          </a:solidFill>
          <a:ln xmlns:a="http://schemas.openxmlformats.org/drawingml/2006/main" w="9525">
            <a:solidFill>
              <a:srgbClr val="159A8C"/>
            </a:solidFill>
            <a:prstDash val="solid"/>
          </a:ln>
        </p:spPr>
      </p:sp>
      <p:sp>
        <p:nvSpPr>
          <p:cNvPr id="20" name="roadmap-stage-status-1-text">
            <a:extLst xmlns:a="http://schemas.openxmlformats.org/drawingml/2006/main">
              <a:ext uri="{FF2B5EF4-FFF2-40B4-BE49-F238E27FC236}">
                <a16:creationId xmlns:a16="http://schemas.microsoft.com/office/drawing/2014/main" id="{7A7F8C86-F937-4B7D-AD99-69688BB5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257550"/>
            <a:ext cx="1276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159A8C"/>
                </a:solidFill>
              </a:defRPr>
            </a:pPr>
            <a:r>
              <a:rPr sz="900" b="1" i="0">
                <a:solidFill>
                  <a:srgbClr val="159A8C"/>
                </a:solidFill>
              </a:rPr>
              <a:t>PRÓXIMO</a:t>
            </a:r>
          </a:p>
        </p:txBody>
      </p:sp>
      <p:sp>
        <p:nvSpPr>
          <p:cNvPr id="21" name="roadmap-stage-body-1">
            <a:extLst xmlns:a="http://schemas.openxmlformats.org/drawingml/2006/main">
              <a:ext uri="{FF2B5EF4-FFF2-40B4-BE49-F238E27FC236}">
                <a16:creationId xmlns:a16="http://schemas.microsoft.com/office/drawing/2014/main" id="{99759A0D-47B4-41F6-BE07-BE16B2961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752850"/>
            <a:ext cx="2038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Next/Vercel y Supabase/Auth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Nest/Azure, RLS, CI y Sandbox</a:t>
            </a:r>
          </a:p>
        </p:txBody>
      </p:sp>
      <p:sp>
        <p:nvSpPr>
          <p:cNvPr id="22" name="roadmap-stage-2">
            <a:extLst xmlns:a="http://schemas.openxmlformats.org/drawingml/2006/main">
              <a:ext uri="{FF2B5EF4-FFF2-40B4-BE49-F238E27FC236}">
                <a16:creationId xmlns:a16="http://schemas.microsoft.com/office/drawing/2014/main" id="{AAD773FB-4716-4572-809C-A18C3ABA7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000250"/>
            <a:ext cx="2457450" cy="2990850"/>
          </a:xfrm>
          <a:prstGeom xmlns:a="http://schemas.openxmlformats.org/drawingml/2006/main" prst="roundRect">
            <a:avLst>
              <a:gd name="adj" fmla="val 54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roadmap-stage-band-2">
            <a:extLst xmlns:a="http://schemas.openxmlformats.org/drawingml/2006/main">
              <a:ext uri="{FF2B5EF4-FFF2-40B4-BE49-F238E27FC236}">
                <a16:creationId xmlns:a16="http://schemas.microsoft.com/office/drawing/2014/main" id="{165AA265-6BDE-4776-9FF4-ADCC04498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000250"/>
            <a:ext cx="2457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6"/>
          </a:solidFill>
          <a:ln xmlns:a="http://schemas.openxmlformats.org/drawingml/2006/main" w="0">
            <a:solidFill>
              <a:srgbClr val="FFF4D6"/>
            </a:solidFill>
            <a:prstDash val="solid"/>
          </a:ln>
        </p:spPr>
      </p:sp>
      <p:sp>
        <p:nvSpPr>
          <p:cNvPr id="24" name="roadmap-stage-name-2">
            <a:extLst xmlns:a="http://schemas.openxmlformats.org/drawingml/2006/main">
              <a:ext uri="{FF2B5EF4-FFF2-40B4-BE49-F238E27FC236}">
                <a16:creationId xmlns:a16="http://schemas.microsoft.com/office/drawing/2014/main" id="{34D20A22-ADE1-4B3A-AA8C-1B34A7F54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52650"/>
            <a:ext cx="2114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F4B63E"/>
                </a:solidFill>
              </a:defRPr>
            </a:pPr>
            <a:r>
              <a:rPr sz="1425" b="1" i="0">
                <a:solidFill>
                  <a:srgbClr val="F4B63E"/>
                </a:solidFill>
              </a:rPr>
              <a:t>VALIDAR</a:t>
            </a:r>
          </a:p>
        </p:txBody>
      </p:sp>
      <p:sp>
        <p:nvSpPr>
          <p:cNvPr id="25" name="roadmap-stage-sprint-2">
            <a:extLst xmlns:a="http://schemas.openxmlformats.org/drawingml/2006/main">
              <a:ext uri="{FF2B5EF4-FFF2-40B4-BE49-F238E27FC236}">
                <a16:creationId xmlns:a16="http://schemas.microsoft.com/office/drawing/2014/main" id="{2CA43606-E1B8-41EE-9E3A-31E3F65B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81300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S5–S6 · Sem. 11–14</a:t>
            </a:r>
          </a:p>
        </p:txBody>
      </p:sp>
      <p:sp>
        <p:nvSpPr>
          <p:cNvPr id="26" name="roadmap-stage-status-2-bg">
            <a:extLst xmlns:a="http://schemas.openxmlformats.org/drawingml/2006/main">
              <a:ext uri="{FF2B5EF4-FFF2-40B4-BE49-F238E27FC236}">
                <a16:creationId xmlns:a16="http://schemas.microsoft.com/office/drawing/2014/main" id="{F2EC2E11-417D-4085-ADB5-C559109B6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00400"/>
            <a:ext cx="1428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4D6"/>
          </a:solidFill>
          <a:ln xmlns:a="http://schemas.openxmlformats.org/drawingml/2006/main" w="9525">
            <a:solidFill>
              <a:srgbClr val="F4B63E"/>
            </a:solidFill>
            <a:prstDash val="solid"/>
          </a:ln>
        </p:spPr>
      </p:sp>
      <p:sp>
        <p:nvSpPr>
          <p:cNvPr id="27" name="roadmap-stage-status-2-text">
            <a:extLst xmlns:a="http://schemas.openxmlformats.org/drawingml/2006/main">
              <a:ext uri="{FF2B5EF4-FFF2-40B4-BE49-F238E27FC236}">
                <a16:creationId xmlns:a16="http://schemas.microsoft.com/office/drawing/2014/main" id="{BA1D0C3D-8EB8-44FD-BBDB-852C4AF26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57550"/>
            <a:ext cx="1276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F4B63E"/>
                </a:solidFill>
              </a:defRPr>
            </a:pPr>
            <a:r>
              <a:rPr sz="900" b="1" i="0">
                <a:solidFill>
                  <a:srgbClr val="F4B63E"/>
                </a:solidFill>
              </a:rPr>
              <a:t>PLANIFICADO</a:t>
            </a:r>
          </a:p>
        </p:txBody>
      </p:sp>
      <p:sp>
        <p:nvSpPr>
          <p:cNvPr id="28" name="roadmap-stage-body-2">
            <a:extLst xmlns:a="http://schemas.openxmlformats.org/drawingml/2006/main">
              <a:ext uri="{FF2B5EF4-FFF2-40B4-BE49-F238E27FC236}">
                <a16:creationId xmlns:a16="http://schemas.microsoft.com/office/drawing/2014/main" id="{62E27FD9-E64B-4D0E-A631-077D16474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52850"/>
            <a:ext cx="2038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RAG · pistas · feedback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tablero · 3 señales</a:t>
            </a:r>
          </a:p>
        </p:txBody>
      </p:sp>
      <p:sp>
        <p:nvSpPr>
          <p:cNvPr id="29" name="roadmap-stage-3">
            <a:extLst xmlns:a="http://schemas.openxmlformats.org/drawingml/2006/main">
              <a:ext uri="{FF2B5EF4-FFF2-40B4-BE49-F238E27FC236}">
                <a16:creationId xmlns:a16="http://schemas.microsoft.com/office/drawing/2014/main" id="{ABD2349F-911E-4112-A113-16DBB995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00250"/>
            <a:ext cx="2457450" cy="2990850"/>
          </a:xfrm>
          <a:prstGeom xmlns:a="http://schemas.openxmlformats.org/drawingml/2006/main" prst="roundRect">
            <a:avLst>
              <a:gd name="adj" fmla="val 54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roadmap-stage-band-3">
            <a:extLst xmlns:a="http://schemas.openxmlformats.org/drawingml/2006/main">
              <a:ext uri="{FF2B5EF4-FFF2-40B4-BE49-F238E27FC236}">
                <a16:creationId xmlns:a16="http://schemas.microsoft.com/office/drawing/2014/main" id="{5944A091-1D2F-40D9-9CB2-F5B657C5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00250"/>
            <a:ext cx="2457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E"/>
          </a:solidFill>
          <a:ln xmlns:a="http://schemas.openxmlformats.org/drawingml/2006/main" w="0">
            <a:solidFill>
              <a:srgbClr val="FDECEE"/>
            </a:solidFill>
            <a:prstDash val="solid"/>
          </a:ln>
        </p:spPr>
      </p:sp>
      <p:sp>
        <p:nvSpPr>
          <p:cNvPr id="31" name="roadmap-stage-name-3">
            <a:extLst xmlns:a="http://schemas.openxmlformats.org/drawingml/2006/main">
              <a:ext uri="{FF2B5EF4-FFF2-40B4-BE49-F238E27FC236}">
                <a16:creationId xmlns:a16="http://schemas.microsoft.com/office/drawing/2014/main" id="{84F93565-6296-44F0-BE07-E1177A781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152650"/>
            <a:ext cx="2114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DE5C6B"/>
                </a:solidFill>
              </a:defRPr>
            </a:pPr>
            <a:r>
              <a:rPr sz="1425" b="1" i="0">
                <a:solidFill>
                  <a:srgbClr val="DE5C6B"/>
                </a:solidFill>
              </a:rPr>
              <a:t>ESTABILIZAR</a:t>
            </a:r>
          </a:p>
        </p:txBody>
      </p:sp>
      <p:sp>
        <p:nvSpPr>
          <p:cNvPr id="32" name="roadmap-stage-sprint-3">
            <a:extLst xmlns:a="http://schemas.openxmlformats.org/drawingml/2006/main">
              <a:ext uri="{FF2B5EF4-FFF2-40B4-BE49-F238E27FC236}">
                <a16:creationId xmlns:a16="http://schemas.microsoft.com/office/drawing/2014/main" id="{C7B46E00-E6E0-4468-9190-E56360089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781300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S7–S8 · Sem. 15–18</a:t>
            </a:r>
          </a:p>
        </p:txBody>
      </p:sp>
      <p:sp>
        <p:nvSpPr>
          <p:cNvPr id="33" name="roadmap-stage-status-3-bg">
            <a:extLst xmlns:a="http://schemas.openxmlformats.org/drawingml/2006/main">
              <a:ext uri="{FF2B5EF4-FFF2-40B4-BE49-F238E27FC236}">
                <a16:creationId xmlns:a16="http://schemas.microsoft.com/office/drawing/2014/main" id="{4F8F5BD9-522D-457A-B1E6-57C42BC55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200400"/>
            <a:ext cx="1428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DECEE"/>
          </a:solidFill>
          <a:ln xmlns:a="http://schemas.openxmlformats.org/drawingml/2006/main" w="9525">
            <a:solidFill>
              <a:srgbClr val="DE5C6B"/>
            </a:solidFill>
            <a:prstDash val="solid"/>
          </a:ln>
        </p:spPr>
      </p:sp>
      <p:sp>
        <p:nvSpPr>
          <p:cNvPr id="34" name="roadmap-stage-status-3-text">
            <a:extLst xmlns:a="http://schemas.openxmlformats.org/drawingml/2006/main">
              <a:ext uri="{FF2B5EF4-FFF2-40B4-BE49-F238E27FC236}">
                <a16:creationId xmlns:a16="http://schemas.microsoft.com/office/drawing/2014/main" id="{8D4B64D5-0D83-4E4C-9871-60C0840A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257550"/>
            <a:ext cx="1276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DE5C6B"/>
                </a:solidFill>
              </a:defRPr>
            </a:pPr>
            <a:r>
              <a:rPr sz="900" b="1" i="0">
                <a:solidFill>
                  <a:srgbClr val="DE5C6B"/>
                </a:solidFill>
              </a:rPr>
              <a:t>PLANIFICADO</a:t>
            </a:r>
          </a:p>
        </p:txBody>
      </p:sp>
      <p:sp>
        <p:nvSpPr>
          <p:cNvPr id="35" name="roadmap-stage-body-3">
            <a:extLst xmlns:a="http://schemas.openxmlformats.org/drawingml/2006/main">
              <a:ext uri="{FF2B5EF4-FFF2-40B4-BE49-F238E27FC236}">
                <a16:creationId xmlns:a16="http://schemas.microsoft.com/office/drawing/2014/main" id="{7CAC8990-C388-4C8E-B4BA-9BA56DA90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752850"/>
            <a:ext cx="2038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Gobierno · auditoría · freeze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documentación · defensa</a:t>
            </a:r>
          </a:p>
        </p:txBody>
      </p:sp>
      <p:sp>
        <p:nvSpPr>
          <p:cNvPr id="36" name="roadmap-gate-line">
            <a:extLst xmlns:a="http://schemas.openxmlformats.org/drawingml/2006/main">
              <a:ext uri="{FF2B5EF4-FFF2-40B4-BE49-F238E27FC236}">
                <a16:creationId xmlns:a16="http://schemas.microsoft.com/office/drawing/2014/main" id="{BDA5625C-72CC-43B0-86F3-4DBD4A318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19750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8E3EF"/>
            </a:solidFill>
            <a:prstDash val="solid"/>
          </a:ln>
        </p:spPr>
      </p:sp>
      <p:sp>
        <p:nvSpPr>
          <p:cNvPr id="37" name="roadmap-gate-0">
            <a:extLst xmlns:a="http://schemas.openxmlformats.org/drawingml/2006/main">
              <a:ext uri="{FF2B5EF4-FFF2-40B4-BE49-F238E27FC236}">
                <a16:creationId xmlns:a16="http://schemas.microsoft.com/office/drawing/2014/main" id="{793ABCC7-D95B-4469-BD02-E4A62EA1C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483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38" name="roadmap-gate-label-0">
            <a:extLst xmlns:a="http://schemas.openxmlformats.org/drawingml/2006/main">
              <a:ext uri="{FF2B5EF4-FFF2-40B4-BE49-F238E27FC236}">
                <a16:creationId xmlns:a16="http://schemas.microsoft.com/office/drawing/2014/main" id="{3E3964D7-1ADA-4579-B5C1-0EB4665C5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104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2F6FED"/>
                </a:solidFill>
              </a:defRPr>
            </a:pPr>
            <a:r>
              <a:rPr sz="975" b="1" i="0">
                <a:solidFill>
                  <a:srgbClr val="2F6FED"/>
                </a:solidFill>
              </a:rPr>
              <a:t>Fase 1</a:t>
            </a:r>
          </a:p>
          <a:p xmlns:a="http://schemas.openxmlformats.org/drawingml/2006/main">
            <a:pPr algn="ctr">
              <a:buNone/>
              <a:defRPr sz="975" b="1" i="0">
                <a:solidFill>
                  <a:srgbClr val="2F6FED"/>
                </a:solidFill>
              </a:defRPr>
            </a:pPr>
            <a:r>
              <a:rPr sz="975" b="1" i="0">
                <a:solidFill>
                  <a:srgbClr val="2F6FED"/>
                </a:solidFill>
              </a:rPr>
              <a:t>S4 · 20%</a:t>
            </a:r>
          </a:p>
        </p:txBody>
      </p:sp>
      <p:sp>
        <p:nvSpPr>
          <p:cNvPr id="39" name="roadmap-gate-1">
            <a:extLst xmlns:a="http://schemas.openxmlformats.org/drawingml/2006/main">
              <a:ext uri="{FF2B5EF4-FFF2-40B4-BE49-F238E27FC236}">
                <a16:creationId xmlns:a16="http://schemas.microsoft.com/office/drawing/2014/main" id="{BD25F2F9-DC16-4DD3-8343-9DCDC49D5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4483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9A8C"/>
          </a:solidFill>
          <a:ln xmlns:a="http://schemas.openxmlformats.org/drawingml/2006/main" w="0">
            <a:solidFill>
              <a:srgbClr val="159A8C"/>
            </a:solidFill>
            <a:prstDash val="solid"/>
          </a:ln>
        </p:spPr>
      </p:sp>
      <p:sp>
        <p:nvSpPr>
          <p:cNvPr id="40" name="roadmap-gate-label-1">
            <a:extLst xmlns:a="http://schemas.openxmlformats.org/drawingml/2006/main">
              <a:ext uri="{FF2B5EF4-FFF2-40B4-BE49-F238E27FC236}">
                <a16:creationId xmlns:a16="http://schemas.microsoft.com/office/drawing/2014/main" id="{C5C7C828-E12E-474A-B5A6-5DEB25DE5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829300"/>
            <a:ext cx="1104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159A8C"/>
                </a:solidFill>
              </a:defRPr>
            </a:pPr>
            <a:r>
              <a:rPr sz="975" b="1" i="0">
                <a:solidFill>
                  <a:srgbClr val="159A8C"/>
                </a:solidFill>
              </a:rPr>
              <a:t>Avance</a:t>
            </a:r>
          </a:p>
          <a:p xmlns:a="http://schemas.openxmlformats.org/drawingml/2006/main">
            <a:pPr algn="ctr">
              <a:buNone/>
              <a:defRPr sz="975" b="1" i="0">
                <a:solidFill>
                  <a:srgbClr val="159A8C"/>
                </a:solidFill>
              </a:defRPr>
            </a:pPr>
            <a:r>
              <a:rPr sz="975" b="1" i="0">
                <a:solidFill>
                  <a:srgbClr val="159A8C"/>
                </a:solidFill>
              </a:rPr>
              <a:t>S10 · 20%</a:t>
            </a:r>
          </a:p>
        </p:txBody>
      </p:sp>
      <p:sp>
        <p:nvSpPr>
          <p:cNvPr id="41" name="roadmap-gate-2">
            <a:extLst xmlns:a="http://schemas.openxmlformats.org/drawingml/2006/main">
              <a:ext uri="{FF2B5EF4-FFF2-40B4-BE49-F238E27FC236}">
                <a16:creationId xmlns:a16="http://schemas.microsoft.com/office/drawing/2014/main" id="{FC670017-07DB-4591-9846-C09455A35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54483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63E"/>
          </a:solidFill>
          <a:ln xmlns:a="http://schemas.openxmlformats.org/drawingml/2006/main" w="0">
            <a:solidFill>
              <a:srgbClr val="F4B63E"/>
            </a:solidFill>
            <a:prstDash val="solid"/>
          </a:ln>
        </p:spPr>
      </p:sp>
      <p:sp>
        <p:nvSpPr>
          <p:cNvPr id="42" name="roadmap-gate-label-2">
            <a:extLst xmlns:a="http://schemas.openxmlformats.org/drawingml/2006/main">
              <a:ext uri="{FF2B5EF4-FFF2-40B4-BE49-F238E27FC236}">
                <a16:creationId xmlns:a16="http://schemas.microsoft.com/office/drawing/2014/main" id="{82F43D55-5609-4753-938A-06E5EA241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829300"/>
            <a:ext cx="1104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4B63E"/>
                </a:solidFill>
              </a:defRPr>
            </a:pPr>
            <a:r>
              <a:rPr sz="975" b="1" i="0">
                <a:solidFill>
                  <a:srgbClr val="F4B63E"/>
                </a:solidFill>
              </a:rPr>
              <a:t>Final</a:t>
            </a:r>
          </a:p>
          <a:p xmlns:a="http://schemas.openxmlformats.org/drawingml/2006/main">
            <a:pPr algn="ctr">
              <a:buNone/>
              <a:defRPr sz="975" b="1" i="0">
                <a:solidFill>
                  <a:srgbClr val="F4B63E"/>
                </a:solidFill>
              </a:defRPr>
            </a:pPr>
            <a:r>
              <a:rPr sz="975" b="1" i="0">
                <a:solidFill>
                  <a:srgbClr val="F4B63E"/>
                </a:solidFill>
              </a:rPr>
              <a:t>S15 · 30%</a:t>
            </a:r>
          </a:p>
        </p:txBody>
      </p:sp>
      <p:sp>
        <p:nvSpPr>
          <p:cNvPr id="43" name="roadmap-gate-3">
            <a:extLst xmlns:a="http://schemas.openxmlformats.org/drawingml/2006/main">
              <a:ext uri="{FF2B5EF4-FFF2-40B4-BE49-F238E27FC236}">
                <a16:creationId xmlns:a16="http://schemas.microsoft.com/office/drawing/2014/main" id="{F7815566-ADCE-439B-95F1-71780FB33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54483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5C6B"/>
          </a:solidFill>
          <a:ln xmlns:a="http://schemas.openxmlformats.org/drawingml/2006/main" w="0">
            <a:solidFill>
              <a:srgbClr val="DE5C6B"/>
            </a:solidFill>
            <a:prstDash val="solid"/>
          </a:ln>
        </p:spPr>
      </p:sp>
      <p:sp>
        <p:nvSpPr>
          <p:cNvPr id="44" name="roadmap-gate-label-3">
            <a:extLst xmlns:a="http://schemas.openxmlformats.org/drawingml/2006/main">
              <a:ext uri="{FF2B5EF4-FFF2-40B4-BE49-F238E27FC236}">
                <a16:creationId xmlns:a16="http://schemas.microsoft.com/office/drawing/2014/main" id="{D3F9472A-32B5-4DDE-B75A-CC7923EB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829300"/>
            <a:ext cx="1104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DE5C6B"/>
                </a:solidFill>
              </a:defRPr>
            </a:pPr>
            <a:r>
              <a:rPr sz="975" b="1" i="0">
                <a:solidFill>
                  <a:srgbClr val="DE5C6B"/>
                </a:solidFill>
              </a:rPr>
              <a:t>Defensa</a:t>
            </a:r>
          </a:p>
          <a:p xmlns:a="http://schemas.openxmlformats.org/drawingml/2006/main">
            <a:pPr algn="ctr">
              <a:buNone/>
              <a:defRPr sz="975" b="1" i="0">
                <a:solidFill>
                  <a:srgbClr val="DE5C6B"/>
                </a:solidFill>
              </a:defRPr>
            </a:pPr>
            <a:r>
              <a:rPr sz="975" b="1" i="0">
                <a:solidFill>
                  <a:srgbClr val="DE5C6B"/>
                </a:solidFill>
              </a:rPr>
              <a:t>S17–18 · 30%</a:t>
            </a:r>
          </a:p>
        </p:txBody>
      </p:sp>
    </p:spTree>
    <p:extLst>
      <p:ext uri="{BB962C8B-B14F-4D97-AF65-F5344CB8AC3E}">
        <p14:creationId xmlns:p14="http://schemas.microsoft.com/office/powerpoint/2010/main" val="76189113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ail-13">
            <a:extLst xmlns:a="http://schemas.openxmlformats.org/drawingml/2006/main">
              <a:ext uri="{FF2B5EF4-FFF2-40B4-BE49-F238E27FC236}">
                <a16:creationId xmlns:a16="http://schemas.microsoft.com/office/drawing/2014/main" id="{4D4C90C5-0B75-4953-B3C1-A9FC52CD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2" name="kicker-13">
            <a:extLst xmlns:a="http://schemas.openxmlformats.org/drawingml/2006/main">
              <a:ext uri="{FF2B5EF4-FFF2-40B4-BE49-F238E27FC236}">
                <a16:creationId xmlns:a16="http://schemas.microsoft.com/office/drawing/2014/main" id="{CC1C6E3D-2253-4719-966A-B4F375AF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2F6FED"/>
                </a:solidFill>
              </a:defRPr>
            </a:pPr>
            <a:r>
              <a:rPr sz="900" b="1" i="0">
                <a:solidFill>
                  <a:srgbClr val="2F6FED"/>
                </a:solidFill>
              </a:rPr>
              <a:t>PRESUPUESTO Y CONTROL DE CONSUMO</a:t>
            </a:r>
          </a:p>
        </p:txBody>
      </p:sp>
      <p:sp>
        <p:nvSpPr>
          <p:cNvPr id="3" name="title-13">
            <a:extLst xmlns:a="http://schemas.openxmlformats.org/drawingml/2006/main">
              <a:ext uri="{FF2B5EF4-FFF2-40B4-BE49-F238E27FC236}">
                <a16:creationId xmlns:a16="http://schemas.microsoft.com/office/drawing/2014/main" id="{FEF85ADE-5E62-40C8-9054-7F902517FB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53340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102A43"/>
                </a:solidFill>
              </a:defRPr>
            </a:pPr>
            <a:r>
              <a:rPr sz="2400" b="1" i="0">
                <a:solidFill>
                  <a:srgbClr val="102A43"/>
                </a:solidFill>
              </a:rPr>
              <a:t>El escenario base es $265.000 CLP directos y 540 h de equipo</a:t>
            </a:r>
          </a:p>
        </p:txBody>
      </p:sp>
      <p:sp>
        <p:nvSpPr>
          <p:cNvPr id="4" name="header-line-13">
            <a:extLst xmlns:a="http://schemas.openxmlformats.org/drawingml/2006/main">
              <a:ext uri="{FF2B5EF4-FFF2-40B4-BE49-F238E27FC236}">
                <a16:creationId xmlns:a16="http://schemas.microsoft.com/office/drawing/2014/main" id="{025A7DCE-32D8-4EFF-99F4-C27DD2F5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ED"/>
            </a:solidFill>
            <a:prstDash val="solid"/>
          </a:ln>
        </p:spPr>
      </p:sp>
      <p:sp>
        <p:nvSpPr>
          <p:cNvPr id="5" name="footer-13">
            <a:extLst xmlns:a="http://schemas.openxmlformats.org/drawingml/2006/main">
              <a:ext uri="{FF2B5EF4-FFF2-40B4-BE49-F238E27FC236}">
                <a16:creationId xmlns:a16="http://schemas.microsoft.com/office/drawing/2014/main" id="{497BB2CE-0218-4468-8929-B6DA27CFC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4748B"/>
                </a:solidFill>
              </a:defRPr>
            </a:pPr>
            <a:r>
              <a:rPr sz="750" b="0" i="0">
                <a:solidFill>
                  <a:srgbClr val="64748B"/>
                </a:solidFill>
              </a:rPr>
              <a:t>ALUNZA · CAPSTONE 2026 · SEDE PUENTE ALTO</a:t>
            </a:r>
          </a:p>
        </p:txBody>
      </p:sp>
      <p:sp>
        <p:nvSpPr>
          <p:cNvPr id="6" name="page-13">
            <a:extLst xmlns:a="http://schemas.openxmlformats.org/drawingml/2006/main">
              <a:ext uri="{FF2B5EF4-FFF2-40B4-BE49-F238E27FC236}">
                <a16:creationId xmlns:a16="http://schemas.microsoft.com/office/drawing/2014/main" id="{F0A74CBB-CED9-46BB-B2D7-11B203C2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579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4748B"/>
                </a:solidFill>
              </a:defRPr>
            </a:pPr>
            <a:r>
              <a:rPr sz="825" b="0" i="0">
                <a:solidFill>
                  <a:srgbClr val="64748B"/>
                </a:solidFill>
              </a:rPr>
              <a:t>13</a:t>
            </a:r>
          </a:p>
        </p:txBody>
      </p:sp>
      <p:sp>
        <p:nvSpPr>
          <p:cNvPr id="7" name="cost-lead">
            <a:extLst xmlns:a="http://schemas.openxmlformats.org/drawingml/2006/main">
              <a:ext uri="{FF2B5EF4-FFF2-40B4-BE49-F238E27FC236}">
                <a16:creationId xmlns:a16="http://schemas.microsoft.com/office/drawing/2014/main" id="{E572F197-0D6C-4C6D-A0A0-9211DFC0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4748B"/>
                </a:solidFill>
              </a:defRPr>
            </a:pPr>
            <a:r>
              <a:rPr sz="1200" b="0" i="0">
                <a:solidFill>
                  <a:srgbClr val="64748B"/>
                </a:solidFill>
              </a:rPr>
              <a:t>Tope directo de CLP 265.000. Se usan planes gratuitos y todo cobro real se registra dentro de ese límite.</a:t>
            </a:r>
          </a:p>
        </p:txBody>
      </p:sp>
      <p:sp>
        <p:nvSpPr>
          <p:cNvPr id="8" name="cost-left-bg">
            <a:extLst xmlns:a="http://schemas.openxmlformats.org/drawingml/2006/main">
              <a:ext uri="{FF2B5EF4-FFF2-40B4-BE49-F238E27FC236}">
                <a16:creationId xmlns:a16="http://schemas.microsoft.com/office/drawing/2014/main" id="{B13063EE-07DF-42FB-A2B8-784892D3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6477000" cy="3638550"/>
          </a:xfrm>
          <a:prstGeom xmlns:a="http://schemas.openxmlformats.org/drawingml/2006/main" prst="roundRect">
            <a:avLst>
              <a:gd name="adj" fmla="val 36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cost-left-title">
            <a:extLst xmlns:a="http://schemas.openxmlformats.org/drawingml/2006/main">
              <a:ext uri="{FF2B5EF4-FFF2-40B4-BE49-F238E27FC236}">
                <a16:creationId xmlns:a16="http://schemas.microsoft.com/office/drawing/2014/main" id="{771A2862-990F-4B52-91CF-7CA76256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526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Tope de costos directos</a:t>
            </a:r>
          </a:p>
        </p:txBody>
      </p:sp>
      <p:sp>
        <p:nvSpPr>
          <p:cNvPr id="10" name="cost-left-total">
            <a:extLst xmlns:a="http://schemas.openxmlformats.org/drawingml/2006/main">
              <a:ext uri="{FF2B5EF4-FFF2-40B4-BE49-F238E27FC236}">
                <a16:creationId xmlns:a16="http://schemas.microsoft.com/office/drawing/2014/main" id="{7F8CB160-06DC-453F-9F0B-5A2653F3C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145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800" b="1" i="0">
                <a:solidFill>
                  <a:srgbClr val="159A8C"/>
                </a:solidFill>
              </a:defRPr>
            </a:pPr>
            <a:r>
              <a:rPr sz="1800" b="1" i="0">
                <a:solidFill>
                  <a:srgbClr val="159A8C"/>
                </a:solidFill>
              </a:rPr>
              <a:t>$265.000 CLP</a:t>
            </a:r>
          </a:p>
        </p:txBody>
      </p:sp>
      <p:sp>
        <p:nvSpPr>
          <p:cNvPr id="11" name="cost-label-0">
            <a:extLst xmlns:a="http://schemas.openxmlformats.org/drawingml/2006/main">
              <a:ext uri="{FF2B5EF4-FFF2-40B4-BE49-F238E27FC236}">
                <a16:creationId xmlns:a16="http://schemas.microsoft.com/office/drawing/2014/main" id="{8F25EF6B-AAF4-451B-982D-EEC8A328A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241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Tope directo acumulado</a:t>
            </a:r>
          </a:p>
        </p:txBody>
      </p:sp>
      <p:sp>
        <p:nvSpPr>
          <p:cNvPr id="12" name="cost-track-0">
            <a:extLst xmlns:a="http://schemas.openxmlformats.org/drawingml/2006/main">
              <a:ext uri="{FF2B5EF4-FFF2-40B4-BE49-F238E27FC236}">
                <a16:creationId xmlns:a16="http://schemas.microsoft.com/office/drawing/2014/main" id="{D5B61D40-0DED-4BD2-AACD-C0CFC1181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43200"/>
            <a:ext cx="1714500" cy="20955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13" name="cost-bar-0">
            <a:extLst xmlns:a="http://schemas.openxmlformats.org/drawingml/2006/main">
              <a:ext uri="{FF2B5EF4-FFF2-40B4-BE49-F238E27FC236}">
                <a16:creationId xmlns:a16="http://schemas.microsoft.com/office/drawing/2014/main" id="{778B29AA-F390-442C-B16E-1B696D165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43200"/>
            <a:ext cx="1714500" cy="20955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4F86C6"/>
          </a:solidFill>
          <a:ln xmlns:a="http://schemas.openxmlformats.org/drawingml/2006/main" w="9525">
            <a:solidFill>
              <a:srgbClr val="4F86C6"/>
            </a:solidFill>
            <a:prstDash val="solid"/>
          </a:ln>
        </p:spPr>
      </p:sp>
      <p:sp>
        <p:nvSpPr>
          <p:cNvPr id="14" name="cost-value-0">
            <a:extLst xmlns:a="http://schemas.openxmlformats.org/drawingml/2006/main">
              <a:ext uri="{FF2B5EF4-FFF2-40B4-BE49-F238E27FC236}">
                <a16:creationId xmlns:a16="http://schemas.microsoft.com/office/drawing/2014/main" id="{0C6BA811-6EEA-4744-A388-231252B1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7241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4F86C6"/>
                </a:solidFill>
              </a:defRPr>
            </a:pPr>
            <a:r>
              <a:rPr sz="1275" b="1" i="0">
                <a:solidFill>
                  <a:srgbClr val="4F86C6"/>
                </a:solidFill>
              </a:rPr>
              <a:t>$265.000</a:t>
            </a:r>
          </a:p>
        </p:txBody>
      </p:sp>
      <p:sp>
        <p:nvSpPr>
          <p:cNvPr id="15" name="cost-label-1">
            <a:extLst xmlns:a="http://schemas.openxmlformats.org/drawingml/2006/main">
              <a:ext uri="{FF2B5EF4-FFF2-40B4-BE49-F238E27FC236}">
                <a16:creationId xmlns:a16="http://schemas.microsoft.com/office/drawing/2014/main" id="{59BCF8E9-6E12-4F24-A48C-22259B3D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147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Supabase Pro, opcional</a:t>
            </a:r>
          </a:p>
        </p:txBody>
      </p:sp>
      <p:sp>
        <p:nvSpPr>
          <p:cNvPr id="16" name="cost-track-1">
            <a:extLst xmlns:a="http://schemas.openxmlformats.org/drawingml/2006/main">
              <a:ext uri="{FF2B5EF4-FFF2-40B4-BE49-F238E27FC236}">
                <a16:creationId xmlns:a16="http://schemas.microsoft.com/office/drawing/2014/main" id="{0D8F842B-FD10-408F-8F4A-43A9BCE4D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33750"/>
            <a:ext cx="1714500" cy="20955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17" name="cost-bar-1">
            <a:extLst xmlns:a="http://schemas.openxmlformats.org/drawingml/2006/main">
              <a:ext uri="{FF2B5EF4-FFF2-40B4-BE49-F238E27FC236}">
                <a16:creationId xmlns:a16="http://schemas.microsoft.com/office/drawing/2014/main" id="{8D8D49ED-6B55-41C1-BEAD-0880FA247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33750"/>
            <a:ext cx="1402773" cy="20955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7563C9"/>
          </a:solidFill>
          <a:ln xmlns:a="http://schemas.openxmlformats.org/drawingml/2006/main" w="9525">
            <a:solidFill>
              <a:srgbClr val="7563C9"/>
            </a:solidFill>
            <a:prstDash val="solid"/>
          </a:ln>
        </p:spPr>
      </p:sp>
      <p:sp>
        <p:nvSpPr>
          <p:cNvPr id="18" name="cost-value-1">
            <a:extLst xmlns:a="http://schemas.openxmlformats.org/drawingml/2006/main">
              <a:ext uri="{FF2B5EF4-FFF2-40B4-BE49-F238E27FC236}">
                <a16:creationId xmlns:a16="http://schemas.microsoft.com/office/drawing/2014/main" id="{F413052F-EFA8-48A2-8134-9FA0D6C1A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3147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7563C9"/>
                </a:solidFill>
              </a:defRPr>
            </a:pPr>
            <a:r>
              <a:rPr sz="1275" b="1" i="0">
                <a:solidFill>
                  <a:srgbClr val="7563C9"/>
                </a:solidFill>
              </a:rPr>
              <a:t>USD 25/mes</a:t>
            </a:r>
          </a:p>
        </p:txBody>
      </p:sp>
      <p:sp>
        <p:nvSpPr>
          <p:cNvPr id="19" name="cost-label-2">
            <a:extLst xmlns:a="http://schemas.openxmlformats.org/drawingml/2006/main">
              <a:ext uri="{FF2B5EF4-FFF2-40B4-BE49-F238E27FC236}">
                <a16:creationId xmlns:a16="http://schemas.microsoft.com/office/drawing/2014/main" id="{510C245C-7E12-412A-A450-13B72789C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052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Vercel Pro, opcional</a:t>
            </a:r>
          </a:p>
        </p:txBody>
      </p:sp>
      <p:sp>
        <p:nvSpPr>
          <p:cNvPr id="20" name="cost-track-2">
            <a:extLst xmlns:a="http://schemas.openxmlformats.org/drawingml/2006/main">
              <a:ext uri="{FF2B5EF4-FFF2-40B4-BE49-F238E27FC236}">
                <a16:creationId xmlns:a16="http://schemas.microsoft.com/office/drawing/2014/main" id="{4C44FAD9-114D-4E22-B584-E0A47ABA4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24300"/>
            <a:ext cx="1714500" cy="20955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21" name="cost-bar-2">
            <a:extLst xmlns:a="http://schemas.openxmlformats.org/drawingml/2006/main">
              <a:ext uri="{FF2B5EF4-FFF2-40B4-BE49-F238E27FC236}">
                <a16:creationId xmlns:a16="http://schemas.microsoft.com/office/drawing/2014/main" id="{ED6A809F-362B-464D-9BDF-F012F5A0A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24300"/>
            <a:ext cx="467591" cy="20955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F4B63E"/>
          </a:solidFill>
          <a:ln xmlns:a="http://schemas.openxmlformats.org/drawingml/2006/main" w="9525">
            <a:solidFill>
              <a:srgbClr val="F4B63E"/>
            </a:solidFill>
            <a:prstDash val="solid"/>
          </a:ln>
        </p:spPr>
      </p:sp>
      <p:sp>
        <p:nvSpPr>
          <p:cNvPr id="22" name="cost-value-2">
            <a:extLst xmlns:a="http://schemas.openxmlformats.org/drawingml/2006/main">
              <a:ext uri="{FF2B5EF4-FFF2-40B4-BE49-F238E27FC236}">
                <a16:creationId xmlns:a16="http://schemas.microsoft.com/office/drawing/2014/main" id="{A4384C83-2FD4-4AE2-B3FB-37D453754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9052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F4B63E"/>
                </a:solidFill>
              </a:defRPr>
            </a:pPr>
            <a:r>
              <a:rPr sz="1275" b="1" i="0">
                <a:solidFill>
                  <a:srgbClr val="F4B63E"/>
                </a:solidFill>
              </a:rPr>
              <a:t>USD 20/mes</a:t>
            </a:r>
          </a:p>
        </p:txBody>
      </p:sp>
      <p:sp>
        <p:nvSpPr>
          <p:cNvPr id="23" name="cost-label-3">
            <a:extLst xmlns:a="http://schemas.openxmlformats.org/drawingml/2006/main">
              <a:ext uri="{FF2B5EF4-FFF2-40B4-BE49-F238E27FC236}">
                <a16:creationId xmlns:a16="http://schemas.microsoft.com/office/drawing/2014/main" id="{923E38F1-F03F-4530-9B30-48CBDE99B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958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Nube por consumo</a:t>
            </a:r>
          </a:p>
        </p:txBody>
      </p:sp>
      <p:sp>
        <p:nvSpPr>
          <p:cNvPr id="24" name="cost-track-3">
            <a:extLst xmlns:a="http://schemas.openxmlformats.org/drawingml/2006/main">
              <a:ext uri="{FF2B5EF4-FFF2-40B4-BE49-F238E27FC236}">
                <a16:creationId xmlns:a16="http://schemas.microsoft.com/office/drawing/2014/main" id="{4DDE1623-7A64-4E08-AF47-8E6831E6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514850"/>
            <a:ext cx="1714500" cy="20955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3EF"/>
            </a:solidFill>
            <a:prstDash val="solid"/>
          </a:ln>
        </p:spPr>
      </p:sp>
      <p:sp>
        <p:nvSpPr>
          <p:cNvPr id="25" name="cost-bar-3">
            <a:extLst xmlns:a="http://schemas.openxmlformats.org/drawingml/2006/main">
              <a:ext uri="{FF2B5EF4-FFF2-40B4-BE49-F238E27FC236}">
                <a16:creationId xmlns:a16="http://schemas.microsoft.com/office/drawing/2014/main" id="{913BF032-A351-4CD8-AB78-E07256D86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514850"/>
            <a:ext cx="545523" cy="20955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DE5C6B"/>
          </a:solidFill>
          <a:ln xmlns:a="http://schemas.openxmlformats.org/drawingml/2006/main" w="9525">
            <a:solidFill>
              <a:srgbClr val="DE5C6B"/>
            </a:solidFill>
            <a:prstDash val="solid"/>
          </a:ln>
        </p:spPr>
      </p:sp>
      <p:sp>
        <p:nvSpPr>
          <p:cNvPr id="26" name="cost-value-3">
            <a:extLst xmlns:a="http://schemas.openxmlformats.org/drawingml/2006/main">
              <a:ext uri="{FF2B5EF4-FFF2-40B4-BE49-F238E27FC236}">
                <a16:creationId xmlns:a16="http://schemas.microsoft.com/office/drawing/2014/main" id="{F3CD6E2C-9AAC-4DA0-ABF4-3E9BE76D3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4958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DE5C6B"/>
                </a:solidFill>
              </a:defRPr>
            </a:pPr>
            <a:r>
              <a:rPr sz="1275" b="1" i="0">
                <a:solidFill>
                  <a:srgbClr val="DE5C6B"/>
                </a:solidFill>
              </a:rPr>
              <a:t>Saldo del tope</a:t>
            </a:r>
          </a:p>
        </p:txBody>
      </p:sp>
      <p:sp>
        <p:nvSpPr>
          <p:cNvPr id="27" name="cost-range">
            <a:extLst xmlns:a="http://schemas.openxmlformats.org/drawingml/2006/main">
              <a:ext uri="{FF2B5EF4-FFF2-40B4-BE49-F238E27FC236}">
                <a16:creationId xmlns:a16="http://schemas.microsoft.com/office/drawing/2014/main" id="{A841E866-4D07-4BE0-9B20-0A4E6BD2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0065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1">
                <a:solidFill>
                  <a:srgbClr val="64748B"/>
                </a:solidFill>
              </a:defRPr>
            </a:pPr>
            <a:r>
              <a:rPr sz="1050" b="0" i="1">
                <a:solidFill>
                  <a:srgbClr val="64748B"/>
                </a:solidFill>
              </a:rPr>
              <a:t>Azure OpenAI, Container Apps y Sandbox se pagan por consumo. Los USD se convierten al valor real de facturación.</a:t>
            </a:r>
          </a:p>
        </p:txBody>
      </p:sp>
      <p:sp>
        <p:nvSpPr>
          <p:cNvPr id="28" name="cost-effort-bg">
            <a:extLst xmlns:a="http://schemas.openxmlformats.org/drawingml/2006/main">
              <a:ext uri="{FF2B5EF4-FFF2-40B4-BE49-F238E27FC236}">
                <a16:creationId xmlns:a16="http://schemas.microsoft.com/office/drawing/2014/main" id="{5FC8CD33-C108-47DD-9A20-1AAB17B9D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943100"/>
            <a:ext cx="38862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102A43"/>
            </a:solidFill>
            <a:prstDash val="solid"/>
          </a:ln>
        </p:spPr>
      </p:sp>
      <p:sp>
        <p:nvSpPr>
          <p:cNvPr id="29" name="cost-effort-title">
            <a:extLst xmlns:a="http://schemas.openxmlformats.org/drawingml/2006/main">
              <a:ext uri="{FF2B5EF4-FFF2-40B4-BE49-F238E27FC236}">
                <a16:creationId xmlns:a16="http://schemas.microsoft.com/office/drawing/2014/main" id="{67EBED79-5B0A-4B61-8504-44F064E09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331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F4B63E"/>
                </a:solidFill>
              </a:defRPr>
            </a:pPr>
            <a:r>
              <a:rPr sz="1125" b="1" i="0">
                <a:solidFill>
                  <a:srgbClr val="F4B63E"/>
                </a:solidFill>
              </a:rPr>
              <a:t>ESFUERZO VALORIZADO</a:t>
            </a:r>
          </a:p>
        </p:txBody>
      </p:sp>
      <p:sp>
        <p:nvSpPr>
          <p:cNvPr id="30" name="cost-effort-hours">
            <a:extLst xmlns:a="http://schemas.openxmlformats.org/drawingml/2006/main">
              <a:ext uri="{FF2B5EF4-FFF2-40B4-BE49-F238E27FC236}">
                <a16:creationId xmlns:a16="http://schemas.microsoft.com/office/drawing/2014/main" id="{492A0820-4B96-42E3-8807-6F545ADA6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571750"/>
            <a:ext cx="1619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FFFFFF"/>
                </a:solidFill>
              </a:defRPr>
            </a:pPr>
            <a:r>
              <a:rPr sz="3450" b="1" i="0">
                <a:solidFill>
                  <a:srgbClr val="FFFFFF"/>
                </a:solidFill>
              </a:rPr>
              <a:t>540 h</a:t>
            </a:r>
          </a:p>
        </p:txBody>
      </p:sp>
      <p:sp>
        <p:nvSpPr>
          <p:cNvPr id="31" name="cost-effort-formula">
            <a:extLst xmlns:a="http://schemas.openxmlformats.org/drawingml/2006/main">
              <a:ext uri="{FF2B5EF4-FFF2-40B4-BE49-F238E27FC236}">
                <a16:creationId xmlns:a16="http://schemas.microsoft.com/office/drawing/2014/main" id="{060770AE-7041-472D-B27E-D3E76328A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686050"/>
            <a:ext cx="1600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3 integrantes × 180 h</a:t>
            </a:r>
          </a:p>
          <a:p xmlns:a="http://schemas.openxmlformats.org/drawingml/2006/main">
            <a:pPr algn="r">
              <a:buNone/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$8.000 CLP / h</a:t>
            </a:r>
          </a:p>
        </p:txBody>
      </p:sp>
      <p:sp>
        <p:nvSpPr>
          <p:cNvPr id="32" name="cost-effort-line">
            <a:extLst xmlns:a="http://schemas.openxmlformats.org/drawingml/2006/main">
              <a:ext uri="{FF2B5EF4-FFF2-40B4-BE49-F238E27FC236}">
                <a16:creationId xmlns:a16="http://schemas.microsoft.com/office/drawing/2014/main" id="{AFEBFCF4-4218-4FEC-B880-B6BF2619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333750"/>
            <a:ext cx="331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F86C6"/>
            </a:solidFill>
            <a:prstDash val="solid"/>
          </a:ln>
        </p:spPr>
      </p:sp>
      <p:sp>
        <p:nvSpPr>
          <p:cNvPr id="33" name="cost-effort-value">
            <a:extLst xmlns:a="http://schemas.openxmlformats.org/drawingml/2006/main">
              <a:ext uri="{FF2B5EF4-FFF2-40B4-BE49-F238E27FC236}">
                <a16:creationId xmlns:a16="http://schemas.microsoft.com/office/drawing/2014/main" id="{085FADBB-8404-4D69-B6AF-6C4330C61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467100"/>
            <a:ext cx="3314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800" b="1" i="0">
                <a:solidFill>
                  <a:srgbClr val="F4B63E"/>
                </a:solidFill>
              </a:defRPr>
            </a:pPr>
            <a:r>
              <a:rPr sz="1800" b="1" i="0">
                <a:solidFill>
                  <a:srgbClr val="F4B63E"/>
                </a:solidFill>
              </a:rPr>
              <a:t>$4.320.000 CLP</a:t>
            </a:r>
          </a:p>
        </p:txBody>
      </p:sp>
      <p:sp>
        <p:nvSpPr>
          <p:cNvPr id="34" name="cost-total-bg">
            <a:extLst xmlns:a="http://schemas.openxmlformats.org/drawingml/2006/main">
              <a:ext uri="{FF2B5EF4-FFF2-40B4-BE49-F238E27FC236}">
                <a16:creationId xmlns:a16="http://schemas.microsoft.com/office/drawing/2014/main" id="{C40EC191-5804-4B92-9137-039424747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95750"/>
            <a:ext cx="3886200" cy="1485900"/>
          </a:xfrm>
          <a:prstGeom xmlns:a="http://schemas.openxmlformats.org/drawingml/2006/main" prst="roundRect">
            <a:avLst>
              <a:gd name="adj" fmla="val 8974"/>
            </a:avLst>
          </a:prstGeom>
          <a:solidFill xmlns:a="http://schemas.openxmlformats.org/drawingml/2006/main">
            <a:srgbClr val="E6F6F3"/>
          </a:solidFill>
          <a:ln xmlns:a="http://schemas.openxmlformats.org/drawingml/2006/main" w="9525">
            <a:solidFill>
              <a:srgbClr val="159A8C"/>
            </a:solidFill>
            <a:prstDash val="solid"/>
          </a:ln>
        </p:spPr>
      </p:sp>
      <p:sp>
        <p:nvSpPr>
          <p:cNvPr id="35" name="cost-total-label">
            <a:extLst xmlns:a="http://schemas.openxmlformats.org/drawingml/2006/main">
              <a:ext uri="{FF2B5EF4-FFF2-40B4-BE49-F238E27FC236}">
                <a16:creationId xmlns:a16="http://schemas.microsoft.com/office/drawing/2014/main" id="{18D45056-5C0C-4909-98D2-0DA29A57E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305300"/>
            <a:ext cx="3390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Costo económico referencial</a:t>
            </a:r>
          </a:p>
        </p:txBody>
      </p:sp>
      <p:sp>
        <p:nvSpPr>
          <p:cNvPr id="36" name="cost-total">
            <a:extLst xmlns:a="http://schemas.openxmlformats.org/drawingml/2006/main">
              <a:ext uri="{FF2B5EF4-FFF2-40B4-BE49-F238E27FC236}">
                <a16:creationId xmlns:a16="http://schemas.microsoft.com/office/drawing/2014/main" id="{47CC8839-4960-4690-A15C-FB3D69ED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68630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 i="0">
                <a:solidFill>
                  <a:srgbClr val="159A8C"/>
                </a:solidFill>
              </a:defRPr>
            </a:pPr>
            <a:r>
              <a:rPr sz="2325" b="1" i="0">
                <a:solidFill>
                  <a:srgbClr val="159A8C"/>
                </a:solidFill>
              </a:rPr>
              <a:t>≈ $4.585.000 CLP</a:t>
            </a:r>
          </a:p>
        </p:txBody>
      </p:sp>
      <p:sp>
        <p:nvSpPr>
          <p:cNvPr id="37" name="cost-total-note">
            <a:extLst xmlns:a="http://schemas.openxmlformats.org/drawingml/2006/main">
              <a:ext uri="{FF2B5EF4-FFF2-40B4-BE49-F238E27FC236}">
                <a16:creationId xmlns:a16="http://schemas.microsoft.com/office/drawing/2014/main" id="{2085719A-B020-46A0-9DD5-CDC609FA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181600"/>
            <a:ext cx="3314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0" i="0">
                <a:solidFill>
                  <a:srgbClr val="64748B"/>
                </a:solidFill>
              </a:defRPr>
            </a:pPr>
            <a:r>
              <a:rPr sz="975" b="0" i="0">
                <a:solidFill>
                  <a:srgbClr val="64748B"/>
                </a:solidFill>
              </a:rPr>
              <a:t>Directo + esfuerzo. Sin impuestos ni operación posterior al semestre.</a:t>
            </a:r>
          </a:p>
        </p:txBody>
      </p:sp>
      <p:sp>
        <p:nvSpPr>
          <p:cNvPr id="38" name="cost-decision-bg">
            <a:extLst xmlns:a="http://schemas.openxmlformats.org/drawingml/2006/main">
              <a:ext uri="{FF2B5EF4-FFF2-40B4-BE49-F238E27FC236}">
                <a16:creationId xmlns:a16="http://schemas.microsoft.com/office/drawing/2014/main" id="{3C12DF6A-4BBF-4F31-9F40-86951F6C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829300"/>
            <a:ext cx="96202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F6FED"/>
            </a:solidFill>
            <a:prstDash val="solid"/>
          </a:ln>
        </p:spPr>
      </p:sp>
      <p:sp>
        <p:nvSpPr>
          <p:cNvPr id="39" name="cost-decision">
            <a:extLst xmlns:a="http://schemas.openxmlformats.org/drawingml/2006/main">
              <a:ext uri="{FF2B5EF4-FFF2-40B4-BE49-F238E27FC236}">
                <a16:creationId xmlns:a16="http://schemas.microsoft.com/office/drawing/2014/main" id="{FDF8BEFB-1C6A-4A42-B36C-4E9FCFC0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9245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Siguiente validación: capacidad S2, RLS, Sandbox, región, latencia y costo. AD-ARQ-001 permanece vigente.</a:t>
            </a:r>
          </a:p>
        </p:txBody>
      </p:sp>
    </p:spTree>
    <p:extLst>
      <p:ext uri="{BB962C8B-B14F-4D97-AF65-F5344CB8AC3E}">
        <p14:creationId xmlns:p14="http://schemas.microsoft.com/office/powerpoint/2010/main" val="86452232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2026-09-04T18:49:14.3320000Z</dcterms:created>
  <dcterms:modified xsi:type="dcterms:W3CDTF">2026-09-04T18:49:14.3320000Z</dcterms:modified>
</coreProperties>
</file>