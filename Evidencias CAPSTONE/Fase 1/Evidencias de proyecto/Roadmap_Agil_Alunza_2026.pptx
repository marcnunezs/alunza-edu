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2d9e36aa83f41b9" /><Relationship Type="http://schemas.openxmlformats.org/officeDocument/2006/relationships/extended-properties" Target="/docProps/app.xml" Id="R259becb70eb94c4c" /><Relationship Type="http://schemas.openxmlformats.org/officeDocument/2006/relationships/officeDocument" Target="/ppt/presentation.xml" Id="R051564b97b364ec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1b0c5651c65492c"/>
  </p:sldMasterIdLst>
  <p:notesMasterIdLst>
    <p:notesMasterId xmlns:r="http://schemas.openxmlformats.org/officeDocument/2006/relationships" r:id="Rf4856b63e2ce419b"/>
  </p:notesMasterIdLst>
  <p:sldIdLst>
    <p:sldId xmlns:r="http://schemas.openxmlformats.org/officeDocument/2006/relationships" id="256" r:id="Rafe02882dd174381"/>
    <p:sldId xmlns:r="http://schemas.openxmlformats.org/officeDocument/2006/relationships" id="257" r:id="Rdd527b2ff1a94d73"/>
    <p:sldId xmlns:r="http://schemas.openxmlformats.org/officeDocument/2006/relationships" id="258" r:id="R49355218c3d24bbe"/>
    <p:sldId xmlns:r="http://schemas.openxmlformats.org/officeDocument/2006/relationships" id="259" r:id="R9a256f3dbbd44c43"/>
    <p:sldId xmlns:r="http://schemas.openxmlformats.org/officeDocument/2006/relationships" id="260" r:id="R50cc236c439a4472"/>
    <p:sldId xmlns:r="http://schemas.openxmlformats.org/officeDocument/2006/relationships" id="261" r:id="R781be4170b8749d0"/>
    <p:sldId xmlns:r="http://schemas.openxmlformats.org/officeDocument/2006/relationships" id="262" r:id="R60d8929f2bc2446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4d4337404704984" /><Relationship Type="http://schemas.openxmlformats.org/officeDocument/2006/relationships/slideMaster" Target="/ppt/slideMasters/slideMaster1.xml" Id="Rd1b0c5651c65492c" /><Relationship Type="http://schemas.openxmlformats.org/officeDocument/2006/relationships/notesMaster" Target="/ppt/notesMasters/notesMaster1.xml" Id="Rf4856b63e2ce419b" /><Relationship Type="http://schemas.openxmlformats.org/officeDocument/2006/relationships/presProps" Target="/ppt/presProps.xml" Id="R2d304a21bc49475f" /><Relationship Type="http://schemas.openxmlformats.org/officeDocument/2006/relationships/tableStyles" Target="/ppt/tableStyles.xml" Id="R97120972f5544a42" /><Relationship Type="http://schemas.openxmlformats.org/officeDocument/2006/relationships/slide" Target="/ppt/slides/slide1.xml" Id="Rafe02882dd174381" /><Relationship Type="http://schemas.openxmlformats.org/officeDocument/2006/relationships/slide" Target="/ppt/slides/slide2.xml" Id="Rdd527b2ff1a94d73" /><Relationship Type="http://schemas.openxmlformats.org/officeDocument/2006/relationships/slide" Target="/ppt/slides/slide3.xml" Id="R49355218c3d24bbe" /><Relationship Type="http://schemas.openxmlformats.org/officeDocument/2006/relationships/slide" Target="/ppt/slides/slide4.xml" Id="R9a256f3dbbd44c43" /><Relationship Type="http://schemas.openxmlformats.org/officeDocument/2006/relationships/slide" Target="/ppt/slides/slide5.xml" Id="R50cc236c439a4472" /><Relationship Type="http://schemas.openxmlformats.org/officeDocument/2006/relationships/slide" Target="/ppt/slides/slide6.xml" Id="R781be4170b8749d0" /><Relationship Type="http://schemas.openxmlformats.org/officeDocument/2006/relationships/slide" Target="/ppt/slides/slide7.xml" Id="R60d8929f2bc2446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a29fba4473b458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88a2cc824b04f12" /><Relationship Type="http://schemas.openxmlformats.org/officeDocument/2006/relationships/notesMaster" Target="/ppt/notesMasters/notesMaster1.xml" Id="R1bacd9de3f124fe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dc6d7769e0c42ff" /><Relationship Type="http://schemas.openxmlformats.org/officeDocument/2006/relationships/notesMaster" Target="/ppt/notesMasters/notesMaster1.xml" Id="R4031fa313277430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58a3e12dce04783" /><Relationship Type="http://schemas.openxmlformats.org/officeDocument/2006/relationships/notesMaster" Target="/ppt/notesMasters/notesMaster1.xml" Id="R635d3838a63144f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ece800681354c86" /><Relationship Type="http://schemas.openxmlformats.org/officeDocument/2006/relationships/notesMaster" Target="/ppt/notesMasters/notesMaster1.xml" Id="Rda9e55477da947e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d1904cfc666448e" /><Relationship Type="http://schemas.openxmlformats.org/officeDocument/2006/relationships/notesMaster" Target="/ppt/notesMasters/notesMaster1.xml" Id="R69d42fde86f94f1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7c0bacf475944c8" /><Relationship Type="http://schemas.openxmlformats.org/officeDocument/2006/relationships/notesMaster" Target="/ppt/notesMasters/notesMaster1.xml" Id="R44fc9dbe3ae849e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c0895724b884a0c" /><Relationship Type="http://schemas.openxmlformats.org/officeDocument/2006/relationships/notesMaster" Target="/ppt/notesMasters/notesMaster1.xml" Id="R4bdbed9db212453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Acta_de_Constitucion_Alunza.docx — artefacto vigente del proyecto Alunza.</a:t>
            </a:r>
          </a:p>
          <a:p xmlns:a="http://schemas.openxmlformats.org/drawingml/2006/main">
            <a:r>
              <a:t>- Informe_ERS_Alunza.docx — artefacto vigente del proyecto Alunza.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Informe_ERS_Alunza.docx — artefacto vigente del proyecto Alunza.</a:t>
            </a:r>
          </a:p>
          <a:p xmlns:a="http://schemas.openxmlformats.org/drawingml/2006/main">
            <a:r>
              <a:t>- Documento_Casos_de_Uso_Extendidos_Alunza.docx — artefacto vigente del proyecto Alunza.</a:t>
            </a:r>
          </a:p>
          <a:p xmlns:a="http://schemas.openxmlformats.org/drawingml/2006/main">
            <a:r>
              <a:t>- Plantilla_Historias_Usuario_Alunza.xlsx — artefacto vigente del proyecto Alunza.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Acta_de_Constitucion_Alunza.docx — artefacto vigente del proyecto Alunza.</a:t>
            </a:r>
          </a:p>
          <a:p xmlns:a="http://schemas.openxmlformats.org/drawingml/2006/main">
            <a:r>
              <a:t>- Informe_ERS_Alunza.docx — artefacto vigente del proyecto Alunza.</a:t>
            </a:r>
          </a:p>
          <a:p xmlns:a="http://schemas.openxmlformats.org/drawingml/2006/main">
            <a:r>
              <a:t>- Product_Backlog_Alunza.xlsx — artefacto vigente del proyecto Alunza.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Product_Backlog_Alunza.xlsx — artefacto vigente del proyecto Alunza.</a:t>
            </a:r>
          </a:p>
          <a:p xmlns:a="http://schemas.openxmlformats.org/drawingml/2006/main">
            <a:r>
              <a:t>- Sprint_Backlog_Alunza_Sprint_2.xlsx — artefacto vigente del proyecto Alunza.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Informe_ERS_Alunza.docx — artefacto vigente del proyecto Alunza.</a:t>
            </a:r>
          </a:p>
          <a:p xmlns:a="http://schemas.openxmlformats.org/drawingml/2006/main">
            <a:r>
              <a:t>- Product_Backlog_Alunza.xlsx — artefacto vigente del proyecto Alunza.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Acta_de_Constitucion_Alunza.docx — artefacto vigente del proyecto Alunza.</a:t>
            </a:r>
          </a:p>
          <a:p xmlns:a="http://schemas.openxmlformats.org/drawingml/2006/main">
            <a:r>
              <a:t>- Documento_Avance_Sprint_1_Alunza.docx — artefacto vigente del proyecto Alunza.</a:t>
            </a:r>
          </a:p>
          <a:p xmlns:a="http://schemas.openxmlformats.org/drawingml/2006/main">
            <a:r>
              <a:t>- Informe_ERS_Alunza.docx — artefacto vigente del proyecto Alunza.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Acta_de_Constitucion_Alunza.docx — artefacto vigente del proyecto Alunza.</a:t>
            </a:r>
          </a:p>
          <a:p xmlns:a="http://schemas.openxmlformats.org/drawingml/2006/main">
            <a:r>
              <a:t>- Informe_ERS_Alunza.docx — artefacto vigente del proyecto Alunza.</a:t>
            </a:r>
          </a:p>
          <a:p xmlns:a="http://schemas.openxmlformats.org/drawingml/2006/main">
            <a:r>
              <a:t>- Product_Backlog_Alunza.xlsx — artefacto vigente del proyecto Alunza.</a:t>
            </a:r>
          </a:p>
          <a:p xmlns:a="http://schemas.openxmlformats.org/drawingml/2006/main">
            <a:r>
              <a:t>- Sprint_Backlog_Alunza_Sprint_2.xlsx — artefacto vigente del proyecto Alunza.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51953ff8654e3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bca84513de44362" /><Relationship Type="http://schemas.openxmlformats.org/officeDocument/2006/relationships/slideLayout" Target="/ppt/slideLayouts/slideLayout1.xml" Id="R5e50288195f44b1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e50288195f44b1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cf606234e54148" /><Relationship Type="http://schemas.openxmlformats.org/officeDocument/2006/relationships/notesSlide" Target="/ppt/notesSlides/notesSlide1.xml" Id="R3afe043d709b4e3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6774b57d7f4b8a" /><Relationship Type="http://schemas.openxmlformats.org/officeDocument/2006/relationships/notesSlide" Target="/ppt/notesSlides/notesSlide2.xml" Id="R7f413be65c4949d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6792622df44163" /><Relationship Type="http://schemas.openxmlformats.org/officeDocument/2006/relationships/notesSlide" Target="/ppt/notesSlides/notesSlide3.xml" Id="Rd15b8322f075430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04e46eec6742eb" /><Relationship Type="http://schemas.openxmlformats.org/officeDocument/2006/relationships/notesSlide" Target="/ppt/notesSlides/notesSlide4.xml" Id="R670bfa0195b24d1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f038b2c4ad483c" /><Relationship Type="http://schemas.openxmlformats.org/officeDocument/2006/relationships/notesSlide" Target="/ppt/notesSlides/notesSlide5.xml" Id="R36861cc882f9496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6858a0c9ea4373" /><Relationship Type="http://schemas.openxmlformats.org/officeDocument/2006/relationships/notesSlide" Target="/ppt/notesSlides/notesSlide6.xml" Id="R47895985ad354ea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843efbc79148a0" /><Relationship Type="http://schemas.openxmlformats.org/officeDocument/2006/relationships/notesSlide" Target="/ppt/notesSlides/notesSlide7.xml" Id="R46981866432942e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C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cover-rail">
            <a:extLst xmlns:a="http://schemas.openxmlformats.org/drawingml/2006/main">
              <a:ext uri="{FF2B5EF4-FFF2-40B4-BE49-F238E27FC236}">
                <a16:creationId xmlns:a16="http://schemas.microsoft.com/office/drawing/2014/main" id="{290A76CA-A01A-4FCF-985E-A083848D6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90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D63625D8-EE22-456C-BA67-CBE4318F3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2F6BFF"/>
                </a:solidFill>
              </a:defRPr>
            </a:pPr>
            <a:r>
              <a:rPr sz="1200" b="1" i="0">
                <a:solidFill>
                  <a:srgbClr val="2F6BFF"/>
                </a:solidFill>
              </a:rPr>
              <a:t>ALUNZA · CAPSTONE 2026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F8925D8B-E708-4AC7-B20D-89B0B7297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581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4350" b="1" i="0">
                <a:solidFill>
                  <a:srgbClr val="102A43"/>
                </a:solidFill>
              </a:defRPr>
            </a:pPr>
            <a:r>
              <a:rPr sz="4350" b="1" i="0">
                <a:solidFill>
                  <a:srgbClr val="102A43"/>
                </a:solidFill>
              </a:rPr>
              <a:t>Roadmap ágil</a:t>
            </a:r>
          </a:p>
          <a:p xmlns:a="http://schemas.openxmlformats.org/drawingml/2006/main">
            <a:pPr algn="l">
              <a:buNone/>
              <a:defRPr sz="4350" b="1" i="0">
                <a:solidFill>
                  <a:srgbClr val="102A43"/>
                </a:solidFill>
              </a:defRPr>
            </a:pPr>
            <a:r>
              <a:rPr sz="4350" b="1" i="0">
                <a:solidFill>
                  <a:srgbClr val="102A43"/>
                </a:solidFill>
              </a:rPr>
              <a:t>del producto</a:t>
            </a:r>
          </a:p>
        </p:txBody>
      </p:sp>
      <p:sp>
        <p:nvSpPr>
          <p:cNvPr id="4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CFB79E55-14D8-449D-A8E7-657F9E3B8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76550"/>
            <a:ext cx="571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486581"/>
                </a:solidFill>
              </a:defRPr>
            </a:pPr>
            <a:r>
              <a:rPr sz="1950" b="1" i="0">
                <a:solidFill>
                  <a:srgbClr val="486581"/>
                </a:solidFill>
              </a:rPr>
              <a:t>Tutor universitario inteligente para Programación I</a:t>
            </a:r>
          </a:p>
        </p:txBody>
      </p:sp>
      <p:sp>
        <p:nvSpPr>
          <p:cNvPr id="5" name="cover-thesis">
            <a:extLst xmlns:a="http://schemas.openxmlformats.org/drawingml/2006/main">
              <a:ext uri="{FF2B5EF4-FFF2-40B4-BE49-F238E27FC236}">
                <a16:creationId xmlns:a16="http://schemas.microsoft.com/office/drawing/2014/main" id="{CC1455E6-431C-428E-8799-646CEE1D0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62375"/>
            <a:ext cx="5334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486581"/>
                </a:solidFill>
              </a:defRPr>
            </a:pPr>
            <a:r>
              <a:rPr sz="1575" b="0" i="0">
                <a:solidFill>
                  <a:srgbClr val="486581"/>
                </a:solidFill>
              </a:rPr>
              <a:t>Un plan de 18 semanas orientado a resultados verificables, revisable en cada Sprint Review.</a:t>
            </a:r>
          </a:p>
        </p:txBody>
      </p:sp>
      <p:sp>
        <p:nvSpPr>
          <p:cNvPr id="6" name="cover-meta">
            <a:extLst xmlns:a="http://schemas.openxmlformats.org/drawingml/2006/main">
              <a:ext uri="{FF2B5EF4-FFF2-40B4-BE49-F238E27FC236}">
                <a16:creationId xmlns:a16="http://schemas.microsoft.com/office/drawing/2014/main" id="{80B11A7C-2253-48A9-AA0E-D6598BBBF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53125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829AB1"/>
                </a:solidFill>
              </a:defRPr>
            </a:pPr>
            <a:r>
              <a:rPr sz="1125" b="0" i="0">
                <a:solidFill>
                  <a:srgbClr val="829AB1"/>
                </a:solidFill>
              </a:rPr>
              <a:t>Periodo: 11/08/2026–17/12/2026  ·  Corte: </a:t>
            </a:r>
            <a:r>
              <a:rPr sz="1125" b="0" i="0">
                <a:solidFill>
                  <a:srgbClr val="829AB1"/>
                </a:solidFill>
              </a:rPr>
              <a:t>02/09/2026</a:t>
            </a:r>
            <a:r>
              <a:rPr sz="1125" b="0" i="0">
                <a:solidFill>
                  <a:srgbClr val="829AB1"/>
                </a:solidFill>
              </a:rPr>
              <a:t>  ·  </a:t>
            </a:r>
            <a:r>
              <a:rPr sz="1125" b="0" i="0">
                <a:solidFill>
                  <a:srgbClr val="829AB1"/>
                </a:solidFill>
              </a:rPr>
              <a:t>Nombre oficial: Alunza</a:t>
            </a:r>
          </a:p>
        </p:txBody>
      </p:sp>
      <p:sp>
        <p:nvSpPr>
          <p:cNvPr id="7" name="path-1">
            <a:extLst xmlns:a="http://schemas.openxmlformats.org/drawingml/2006/main">
              <a:ext uri="{FF2B5EF4-FFF2-40B4-BE49-F238E27FC236}">
                <a16:creationId xmlns:a16="http://schemas.microsoft.com/office/drawing/2014/main" id="{EDDAAB01-1B01-495E-A8AB-87AE87A6E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304925"/>
            <a:ext cx="76200" cy="382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cover-stage-0">
            <a:extLst xmlns:a="http://schemas.openxmlformats.org/drawingml/2006/main">
              <a:ext uri="{FF2B5EF4-FFF2-40B4-BE49-F238E27FC236}">
                <a16:creationId xmlns:a16="http://schemas.microsoft.com/office/drawing/2014/main" id="{A77C47F1-DFDE-4530-BE0F-2F52C5F2F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11239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9" name="cover-stage-n-0">
            <a:extLst xmlns:a="http://schemas.openxmlformats.org/drawingml/2006/main">
              <a:ext uri="{FF2B5EF4-FFF2-40B4-BE49-F238E27FC236}">
                <a16:creationId xmlns:a16="http://schemas.microsoft.com/office/drawing/2014/main" id="{7E89A36B-3B71-4329-B533-95A499EBB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1162050"/>
            <a:ext cx="742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 i="0">
                <a:solidFill>
                  <a:srgbClr val="FFFFFF"/>
                </a:solidFill>
              </a:defRPr>
            </a:pPr>
            <a:r>
              <a:rPr sz="195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cover-stage-l-0">
            <a:extLst xmlns:a="http://schemas.openxmlformats.org/drawingml/2006/main">
              <a:ext uri="{FF2B5EF4-FFF2-40B4-BE49-F238E27FC236}">
                <a16:creationId xmlns:a16="http://schemas.microsoft.com/office/drawing/2014/main" id="{55582E6A-2A48-4A46-BDC3-3E1B9CCF7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266825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Definir</a:t>
            </a:r>
          </a:p>
        </p:txBody>
      </p:sp>
      <p:sp>
        <p:nvSpPr>
          <p:cNvPr id="11" name="cover-stage-1">
            <a:extLst xmlns:a="http://schemas.openxmlformats.org/drawingml/2006/main">
              <a:ext uri="{FF2B5EF4-FFF2-40B4-BE49-F238E27FC236}">
                <a16:creationId xmlns:a16="http://schemas.microsoft.com/office/drawing/2014/main" id="{D841FACF-DEEC-4D90-A0D1-1DC290CE9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22669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D8A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12" name="cover-stage-n-1">
            <a:extLst xmlns:a="http://schemas.openxmlformats.org/drawingml/2006/main">
              <a:ext uri="{FF2B5EF4-FFF2-40B4-BE49-F238E27FC236}">
                <a16:creationId xmlns:a16="http://schemas.microsoft.com/office/drawing/2014/main" id="{9FEFC3E2-0657-48B5-9F0B-915152309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2305050"/>
            <a:ext cx="742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 i="0">
                <a:solidFill>
                  <a:srgbClr val="FFFFFF"/>
                </a:solidFill>
              </a:defRPr>
            </a:pPr>
            <a:r>
              <a:rPr sz="195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cover-stage-l-1">
            <a:extLst xmlns:a="http://schemas.openxmlformats.org/drawingml/2006/main">
              <a:ext uri="{FF2B5EF4-FFF2-40B4-BE49-F238E27FC236}">
                <a16:creationId xmlns:a16="http://schemas.microsoft.com/office/drawing/2014/main" id="{8E0ED4F3-6CE1-4A54-9E5F-C8D951759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409825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Construir</a:t>
            </a:r>
          </a:p>
        </p:txBody>
      </p:sp>
      <p:sp>
        <p:nvSpPr>
          <p:cNvPr id="14" name="cover-stage-2">
            <a:extLst xmlns:a="http://schemas.openxmlformats.org/drawingml/2006/main">
              <a:ext uri="{FF2B5EF4-FFF2-40B4-BE49-F238E27FC236}">
                <a16:creationId xmlns:a16="http://schemas.microsoft.com/office/drawing/2014/main" id="{D8FE2AA1-7358-4CA9-9903-8136C45AE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34099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A23B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15" name="cover-stage-n-2">
            <a:extLst xmlns:a="http://schemas.openxmlformats.org/drawingml/2006/main">
              <a:ext uri="{FF2B5EF4-FFF2-40B4-BE49-F238E27FC236}">
                <a16:creationId xmlns:a16="http://schemas.microsoft.com/office/drawing/2014/main" id="{66B45625-E41A-423E-862C-4CD0F8F92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3448050"/>
            <a:ext cx="742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 i="0">
                <a:solidFill>
                  <a:srgbClr val="FFFFFF"/>
                </a:solidFill>
              </a:defRPr>
            </a:pPr>
            <a:r>
              <a:rPr sz="195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cover-stage-l-2">
            <a:extLst xmlns:a="http://schemas.openxmlformats.org/drawingml/2006/main">
              <a:ext uri="{FF2B5EF4-FFF2-40B4-BE49-F238E27FC236}">
                <a16:creationId xmlns:a16="http://schemas.microsoft.com/office/drawing/2014/main" id="{229A9DE7-36FB-4E7A-99C8-6EFE357A7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552825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Validar</a:t>
            </a:r>
          </a:p>
        </p:txBody>
      </p:sp>
      <p:sp>
        <p:nvSpPr>
          <p:cNvPr id="17" name="cover-stage-3">
            <a:extLst xmlns:a="http://schemas.openxmlformats.org/drawingml/2006/main">
              <a:ext uri="{FF2B5EF4-FFF2-40B4-BE49-F238E27FC236}">
                <a16:creationId xmlns:a16="http://schemas.microsoft.com/office/drawing/2014/main" id="{D2D24BA3-BC1C-4D57-A08D-C3620664C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45529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5D6A"/>
          </a:solidFill>
          <a:ln xmlns:a="http://schemas.openxmlformats.org/drawingml/2006/main" w="38100">
            <a:solidFill>
              <a:srgbClr val="FFFFFF"/>
            </a:solidFill>
            <a:prstDash val="solid"/>
          </a:ln>
        </p:spPr>
      </p:sp>
      <p:sp>
        <p:nvSpPr>
          <p:cNvPr id="18" name="cover-stage-n-3">
            <a:extLst xmlns:a="http://schemas.openxmlformats.org/drawingml/2006/main">
              <a:ext uri="{FF2B5EF4-FFF2-40B4-BE49-F238E27FC236}">
                <a16:creationId xmlns:a16="http://schemas.microsoft.com/office/drawing/2014/main" id="{6D13AEB8-7B4C-496F-B33B-73A4BD61F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4591050"/>
            <a:ext cx="742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 i="0">
                <a:solidFill>
                  <a:srgbClr val="FFFFFF"/>
                </a:solidFill>
              </a:defRPr>
            </a:pPr>
            <a:r>
              <a:rPr sz="195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cover-stage-l-3">
            <a:extLst xmlns:a="http://schemas.openxmlformats.org/drawingml/2006/main">
              <a:ext uri="{FF2B5EF4-FFF2-40B4-BE49-F238E27FC236}">
                <a16:creationId xmlns:a16="http://schemas.microsoft.com/office/drawing/2014/main" id="{C489E9F1-433C-4C93-B3DB-08FED341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695825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102A43"/>
                </a:solidFill>
              </a:defRPr>
            </a:pPr>
            <a:r>
              <a:rPr sz="1800" b="1" i="0">
                <a:solidFill>
                  <a:srgbClr val="102A43"/>
                </a:solidFill>
              </a:rPr>
              <a:t>Estabilizar</a:t>
            </a:r>
          </a:p>
        </p:txBody>
      </p:sp>
    </p:spTree>
    <p:extLst>
      <p:ext uri="{BB962C8B-B14F-4D97-AF65-F5344CB8AC3E}">
        <p14:creationId xmlns:p14="http://schemas.microsoft.com/office/powerpoint/2010/main" val="93076076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kicker-2">
            <a:extLst xmlns:a="http://schemas.openxmlformats.org/drawingml/2006/main">
              <a:ext uri="{FF2B5EF4-FFF2-40B4-BE49-F238E27FC236}">
                <a16:creationId xmlns:a16="http://schemas.microsoft.com/office/drawing/2014/main" id="{72100A16-0454-4D41-8D80-479A559A2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2F6BFF"/>
                </a:solidFill>
              </a:defRPr>
            </a:pPr>
            <a:r>
              <a:rPr sz="1050" b="1" i="0">
                <a:solidFill>
                  <a:srgbClr val="2F6BFF"/>
                </a:solidFill>
              </a:rPr>
              <a:t>PRODUCT GOAL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862B424F-6DE6-4D01-8F2F-DDF1FAFCD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57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02A43"/>
                </a:solidFill>
              </a:defRPr>
            </a:pPr>
            <a:r>
              <a:rPr sz="2850" b="1" i="0">
                <a:solidFill>
                  <a:srgbClr val="102A43"/>
                </a:solidFill>
              </a:rPr>
              <a:t>La unidad de avance es una vertical completa</a:t>
            </a:r>
          </a:p>
        </p:txBody>
      </p:sp>
      <p:sp>
        <p:nvSpPr>
          <p:cNvPr id="3" name="header-line-2">
            <a:extLst xmlns:a="http://schemas.openxmlformats.org/drawingml/2006/main">
              <a:ext uri="{FF2B5EF4-FFF2-40B4-BE49-F238E27FC236}">
                <a16:creationId xmlns:a16="http://schemas.microsoft.com/office/drawing/2014/main" id="{BB7EA731-0075-4F32-B2C5-964DE0D4B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2">
            <a:extLst xmlns:a="http://schemas.openxmlformats.org/drawingml/2006/main">
              <a:ext uri="{FF2B5EF4-FFF2-40B4-BE49-F238E27FC236}">
                <a16:creationId xmlns:a16="http://schemas.microsoft.com/office/drawing/2014/main" id="{B4587480-0435-4206-8A2A-94C41FB67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389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829AB1"/>
                </a:solidFill>
              </a:defRPr>
            </a:pPr>
            <a:r>
              <a:rPr sz="975" b="0" i="0">
                <a:solidFill>
                  <a:srgbClr val="829AB1"/>
                </a:solidFill>
              </a:rPr>
              <a:t>2</a:t>
            </a:r>
          </a:p>
        </p:txBody>
      </p:sp>
      <p:sp>
        <p:nvSpPr>
          <p:cNvPr id="5" name="flow-lead">
            <a:extLst xmlns:a="http://schemas.openxmlformats.org/drawingml/2006/main">
              <a:ext uri="{FF2B5EF4-FFF2-40B4-BE49-F238E27FC236}">
                <a16:creationId xmlns:a16="http://schemas.microsoft.com/office/drawing/2014/main" id="{F0A35BC1-D49E-40BA-866D-EDB0BC206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75" b="0" i="0">
                <a:solidFill>
                  <a:srgbClr val="486581"/>
                </a:solidFill>
              </a:defRPr>
            </a:pPr>
            <a:r>
              <a:rPr sz="1575" b="0" i="0">
                <a:solidFill>
                  <a:srgbClr val="486581"/>
                </a:solidFill>
              </a:rPr>
              <a:t>El MVP vale cuando el estudiante aprende con evidencia verificable y el docente puede actuar sobre ella.</a:t>
            </a:r>
          </a:p>
        </p:txBody>
      </p:sp>
      <p:sp>
        <p:nvSpPr>
          <p:cNvPr id="6" name="flow-top">
            <a:extLst xmlns:a="http://schemas.openxmlformats.org/drawingml/2006/main">
              <a:ext uri="{FF2B5EF4-FFF2-40B4-BE49-F238E27FC236}">
                <a16:creationId xmlns:a16="http://schemas.microsoft.com/office/drawing/2014/main" id="{41083D23-1A81-41B7-BC61-D88BAD19B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324100"/>
            <a:ext cx="96012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flow-down">
            <a:extLst xmlns:a="http://schemas.openxmlformats.org/drawingml/2006/main">
              <a:ext uri="{FF2B5EF4-FFF2-40B4-BE49-F238E27FC236}">
                <a16:creationId xmlns:a16="http://schemas.microsoft.com/office/drawing/2014/main" id="{9C5BFAF1-F08A-4BC7-A496-92BEBFF0D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06100" y="2324100"/>
            <a:ext cx="114300" cy="2133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flow-bottom">
            <a:extLst xmlns:a="http://schemas.openxmlformats.org/drawingml/2006/main">
              <a:ext uri="{FF2B5EF4-FFF2-40B4-BE49-F238E27FC236}">
                <a16:creationId xmlns:a16="http://schemas.microsoft.com/office/drawing/2014/main" id="{AC5CF1E1-7EF4-453D-8D03-A5F91E29B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343400"/>
            <a:ext cx="8867775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6F7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flow-1-circle">
            <a:extLst xmlns:a="http://schemas.openxmlformats.org/drawingml/2006/main">
              <a:ext uri="{FF2B5EF4-FFF2-40B4-BE49-F238E27FC236}">
                <a16:creationId xmlns:a16="http://schemas.microsoft.com/office/drawing/2014/main" id="{42EBD061-3A24-486B-9226-BAAE2E5F6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09775"/>
            <a:ext cx="62865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0" name="flow-1-number">
            <a:extLst xmlns:a="http://schemas.openxmlformats.org/drawingml/2006/main">
              <a:ext uri="{FF2B5EF4-FFF2-40B4-BE49-F238E27FC236}">
                <a16:creationId xmlns:a16="http://schemas.microsoft.com/office/drawing/2014/main" id="{579AB12F-D4C6-4333-9835-124F74981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28825"/>
            <a:ext cx="6286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FFFFFF"/>
                </a:solidFill>
              </a:defRPr>
            </a:pPr>
            <a:r>
              <a:rPr sz="1875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flow-1-label">
            <a:extLst xmlns:a="http://schemas.openxmlformats.org/drawingml/2006/main">
              <a:ext uri="{FF2B5EF4-FFF2-40B4-BE49-F238E27FC236}">
                <a16:creationId xmlns:a16="http://schemas.microsoft.com/office/drawing/2014/main" id="{DADB4C73-B853-4020-97DE-0608A3F59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714625"/>
            <a:ext cx="1447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Actividad</a:t>
            </a:r>
          </a:p>
          <a:p xmlns:a="http://schemas.openxmlformats.org/drawingml/2006/main">
            <a:pPr algn="ctr"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publicada</a:t>
            </a:r>
          </a:p>
        </p:txBody>
      </p:sp>
      <p:sp>
        <p:nvSpPr>
          <p:cNvPr id="12" name="flow-2-circle">
            <a:extLst xmlns:a="http://schemas.openxmlformats.org/drawingml/2006/main">
              <a:ext uri="{FF2B5EF4-FFF2-40B4-BE49-F238E27FC236}">
                <a16:creationId xmlns:a16="http://schemas.microsoft.com/office/drawing/2014/main" id="{8554C46A-EC6B-4515-89EA-CB923C1B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009775"/>
            <a:ext cx="62865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3" name="flow-2-number">
            <a:extLst xmlns:a="http://schemas.openxmlformats.org/drawingml/2006/main">
              <a:ext uri="{FF2B5EF4-FFF2-40B4-BE49-F238E27FC236}">
                <a16:creationId xmlns:a16="http://schemas.microsoft.com/office/drawing/2014/main" id="{02EFDA96-8E0A-4F78-BACD-EE89FFB21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028825"/>
            <a:ext cx="6286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FFFFFF"/>
                </a:solidFill>
              </a:defRPr>
            </a:pPr>
            <a:r>
              <a:rPr sz="1875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flow-2-label">
            <a:extLst xmlns:a="http://schemas.openxmlformats.org/drawingml/2006/main">
              <a:ext uri="{FF2B5EF4-FFF2-40B4-BE49-F238E27FC236}">
                <a16:creationId xmlns:a16="http://schemas.microsoft.com/office/drawing/2014/main" id="{3AC82A49-BF10-434C-AA6C-10B8183B4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714625"/>
            <a:ext cx="1447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Intento</a:t>
            </a:r>
          </a:p>
          <a:p xmlns:a="http://schemas.openxmlformats.org/drawingml/2006/main">
            <a:pPr algn="ctr"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registrado</a:t>
            </a:r>
          </a:p>
        </p:txBody>
      </p:sp>
      <p:sp>
        <p:nvSpPr>
          <p:cNvPr id="15" name="flow-3-circle">
            <a:extLst xmlns:a="http://schemas.openxmlformats.org/drawingml/2006/main">
              <a:ext uri="{FF2B5EF4-FFF2-40B4-BE49-F238E27FC236}">
                <a16:creationId xmlns:a16="http://schemas.microsoft.com/office/drawing/2014/main" id="{16127D6A-8AA0-4AEB-AA64-75B09AFCA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009775"/>
            <a:ext cx="62865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6" name="flow-3-number">
            <a:extLst xmlns:a="http://schemas.openxmlformats.org/drawingml/2006/main">
              <a:ext uri="{FF2B5EF4-FFF2-40B4-BE49-F238E27FC236}">
                <a16:creationId xmlns:a16="http://schemas.microsoft.com/office/drawing/2014/main" id="{495F564A-44D4-4D01-9321-95C3E6239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028825"/>
            <a:ext cx="6286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FFFFFF"/>
                </a:solidFill>
              </a:defRPr>
            </a:pPr>
            <a:r>
              <a:rPr sz="1875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flow-3-label">
            <a:extLst xmlns:a="http://schemas.openxmlformats.org/drawingml/2006/main">
              <a:ext uri="{FF2B5EF4-FFF2-40B4-BE49-F238E27FC236}">
                <a16:creationId xmlns:a16="http://schemas.microsoft.com/office/drawing/2014/main" id="{71595785-9B26-4911-939C-535B7DE40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2714625"/>
            <a:ext cx="1447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Código</a:t>
            </a:r>
          </a:p>
          <a:p xmlns:a="http://schemas.openxmlformats.org/drawingml/2006/main">
            <a:pPr algn="ctr"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ejecutado</a:t>
            </a:r>
          </a:p>
        </p:txBody>
      </p:sp>
      <p:sp>
        <p:nvSpPr>
          <p:cNvPr id="18" name="flow-4-circle">
            <a:extLst xmlns:a="http://schemas.openxmlformats.org/drawingml/2006/main">
              <a:ext uri="{FF2B5EF4-FFF2-40B4-BE49-F238E27FC236}">
                <a16:creationId xmlns:a16="http://schemas.microsoft.com/office/drawing/2014/main" id="{77BE4056-8B02-48F7-AEAE-514F0FE21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2009775"/>
            <a:ext cx="62865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D8A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9" name="flow-4-number">
            <a:extLst xmlns:a="http://schemas.openxmlformats.org/drawingml/2006/main">
              <a:ext uri="{FF2B5EF4-FFF2-40B4-BE49-F238E27FC236}">
                <a16:creationId xmlns:a16="http://schemas.microsoft.com/office/drawing/2014/main" id="{3F299577-A514-4543-935B-7BEEABC9A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2028825"/>
            <a:ext cx="6286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FFFFFF"/>
                </a:solidFill>
              </a:defRPr>
            </a:pPr>
            <a:r>
              <a:rPr sz="1875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0" name="flow-4-label">
            <a:extLst xmlns:a="http://schemas.openxmlformats.org/drawingml/2006/main">
              <a:ext uri="{FF2B5EF4-FFF2-40B4-BE49-F238E27FC236}">
                <a16:creationId xmlns:a16="http://schemas.microsoft.com/office/drawing/2014/main" id="{50207BE1-68DF-4AD8-B03C-964EFBE91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714625"/>
            <a:ext cx="1447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Test cases</a:t>
            </a:r>
          </a:p>
          <a:p xmlns:a="http://schemas.openxmlformats.org/drawingml/2006/main">
            <a:pPr algn="ctr"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verificables</a:t>
            </a:r>
          </a:p>
        </p:txBody>
      </p:sp>
      <p:sp>
        <p:nvSpPr>
          <p:cNvPr id="21" name="flow-5-circle">
            <a:extLst xmlns:a="http://schemas.openxmlformats.org/drawingml/2006/main">
              <a:ext uri="{FF2B5EF4-FFF2-40B4-BE49-F238E27FC236}">
                <a16:creationId xmlns:a16="http://schemas.microsoft.com/office/drawing/2014/main" id="{979BC5AF-08C5-4901-8D3B-3D03189BF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009775"/>
            <a:ext cx="62865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D8A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2" name="flow-5-number">
            <a:extLst xmlns:a="http://schemas.openxmlformats.org/drawingml/2006/main">
              <a:ext uri="{FF2B5EF4-FFF2-40B4-BE49-F238E27FC236}">
                <a16:creationId xmlns:a16="http://schemas.microsoft.com/office/drawing/2014/main" id="{05C5EB75-070A-453E-9974-935241D45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028825"/>
            <a:ext cx="6286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FFFFFF"/>
                </a:solidFill>
              </a:defRPr>
            </a:pPr>
            <a:r>
              <a:rPr sz="1875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3" name="flow-5-label">
            <a:extLst xmlns:a="http://schemas.openxmlformats.org/drawingml/2006/main">
              <a:ext uri="{FF2B5EF4-FFF2-40B4-BE49-F238E27FC236}">
                <a16:creationId xmlns:a16="http://schemas.microsoft.com/office/drawing/2014/main" id="{619EE678-24E0-4608-AED9-9A9C3DC67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2714625"/>
            <a:ext cx="1447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Diagnóstico</a:t>
            </a:r>
          </a:p>
          <a:p xmlns:a="http://schemas.openxmlformats.org/drawingml/2006/main">
            <a:pPr algn="ctr"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acotado</a:t>
            </a:r>
          </a:p>
        </p:txBody>
      </p:sp>
      <p:sp>
        <p:nvSpPr>
          <p:cNvPr id="24" name="flow-6-circle">
            <a:extLst xmlns:a="http://schemas.openxmlformats.org/drawingml/2006/main">
              <a:ext uri="{FF2B5EF4-FFF2-40B4-BE49-F238E27FC236}">
                <a16:creationId xmlns:a16="http://schemas.microsoft.com/office/drawing/2014/main" id="{5660DC94-048B-49C3-9576-691EFDE67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029075"/>
            <a:ext cx="62865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A23B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5" name="flow-6-number">
            <a:extLst xmlns:a="http://schemas.openxmlformats.org/drawingml/2006/main">
              <a:ext uri="{FF2B5EF4-FFF2-40B4-BE49-F238E27FC236}">
                <a16:creationId xmlns:a16="http://schemas.microsoft.com/office/drawing/2014/main" id="{C0172610-FFDF-4985-883E-D15F90C4B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048125"/>
            <a:ext cx="6286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FFFFFF"/>
                </a:solidFill>
              </a:defRPr>
            </a:pPr>
            <a:r>
              <a:rPr sz="1875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6" name="flow-6-label">
            <a:extLst xmlns:a="http://schemas.openxmlformats.org/drawingml/2006/main">
              <a:ext uri="{FF2B5EF4-FFF2-40B4-BE49-F238E27FC236}">
                <a16:creationId xmlns:a16="http://schemas.microsoft.com/office/drawing/2014/main" id="{88EF2F41-5FB5-4390-AF65-BEE76888D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4733925"/>
            <a:ext cx="1571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Material y</a:t>
            </a:r>
          </a:p>
          <a:p xmlns:a="http://schemas.openxmlformats.org/drawingml/2006/main">
            <a:pPr algn="ctr"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fuente RAG</a:t>
            </a:r>
          </a:p>
        </p:txBody>
      </p:sp>
      <p:sp>
        <p:nvSpPr>
          <p:cNvPr id="27" name="flow-7-circle">
            <a:extLst xmlns:a="http://schemas.openxmlformats.org/drawingml/2006/main">
              <a:ext uri="{FF2B5EF4-FFF2-40B4-BE49-F238E27FC236}">
                <a16:creationId xmlns:a16="http://schemas.microsoft.com/office/drawing/2014/main" id="{9F8E364C-EA3F-4268-8695-C201D5CF2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029075"/>
            <a:ext cx="62865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A23B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8" name="flow-7-number">
            <a:extLst xmlns:a="http://schemas.openxmlformats.org/drawingml/2006/main">
              <a:ext uri="{FF2B5EF4-FFF2-40B4-BE49-F238E27FC236}">
                <a16:creationId xmlns:a16="http://schemas.microsoft.com/office/drawing/2014/main" id="{06AD7E12-1184-42E2-AF43-6A5095055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048125"/>
            <a:ext cx="6286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FFFFFF"/>
                </a:solidFill>
              </a:defRPr>
            </a:pPr>
            <a:r>
              <a:rPr sz="1875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29" name="flow-7-label">
            <a:extLst xmlns:a="http://schemas.openxmlformats.org/drawingml/2006/main">
              <a:ext uri="{FF2B5EF4-FFF2-40B4-BE49-F238E27FC236}">
                <a16:creationId xmlns:a16="http://schemas.microsoft.com/office/drawing/2014/main" id="{E80188BF-5B0B-4FB8-957B-46698F536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4163" y="4733925"/>
            <a:ext cx="1571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Feedback</a:t>
            </a:r>
          </a:p>
          <a:p xmlns:a="http://schemas.openxmlformats.org/drawingml/2006/main">
            <a:pPr algn="ctr"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progresivo</a:t>
            </a:r>
          </a:p>
        </p:txBody>
      </p:sp>
      <p:sp>
        <p:nvSpPr>
          <p:cNvPr id="30" name="flow-8-circle">
            <a:extLst xmlns:a="http://schemas.openxmlformats.org/drawingml/2006/main">
              <a:ext uri="{FF2B5EF4-FFF2-40B4-BE49-F238E27FC236}">
                <a16:creationId xmlns:a16="http://schemas.microsoft.com/office/drawing/2014/main" id="{8AA4D638-5AE1-4E66-AC16-D7D785EF3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029075"/>
            <a:ext cx="62865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5D6A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31" name="flow-8-number">
            <a:extLst xmlns:a="http://schemas.openxmlformats.org/drawingml/2006/main">
              <a:ext uri="{FF2B5EF4-FFF2-40B4-BE49-F238E27FC236}">
                <a16:creationId xmlns:a16="http://schemas.microsoft.com/office/drawing/2014/main" id="{CC6FA29F-B992-452A-A7A5-8477BA7B6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048125"/>
            <a:ext cx="6286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FFFFFF"/>
                </a:solidFill>
              </a:defRPr>
            </a:pPr>
            <a:r>
              <a:rPr sz="1875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32" name="flow-8-label">
            <a:extLst xmlns:a="http://schemas.openxmlformats.org/drawingml/2006/main">
              <a:ext uri="{FF2B5EF4-FFF2-40B4-BE49-F238E27FC236}">
                <a16:creationId xmlns:a16="http://schemas.microsoft.com/office/drawing/2014/main" id="{63F3FF8C-A5A4-4A06-A8D1-17EE0FE2E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7663" y="4733925"/>
            <a:ext cx="1571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Nuevo</a:t>
            </a:r>
          </a:p>
          <a:p xmlns:a="http://schemas.openxmlformats.org/drawingml/2006/main">
            <a:pPr algn="ctr"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intento</a:t>
            </a:r>
          </a:p>
        </p:txBody>
      </p:sp>
      <p:sp>
        <p:nvSpPr>
          <p:cNvPr id="33" name="flow-9-circle">
            <a:extLst xmlns:a="http://schemas.openxmlformats.org/drawingml/2006/main">
              <a:ext uri="{FF2B5EF4-FFF2-40B4-BE49-F238E27FC236}">
                <a16:creationId xmlns:a16="http://schemas.microsoft.com/office/drawing/2014/main" id="{1EE2369B-3C33-41CC-99AB-4AA7DAE50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029075"/>
            <a:ext cx="628650" cy="628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5D6A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34" name="flow-9-number">
            <a:extLst xmlns:a="http://schemas.openxmlformats.org/drawingml/2006/main">
              <a:ext uri="{FF2B5EF4-FFF2-40B4-BE49-F238E27FC236}">
                <a16:creationId xmlns:a16="http://schemas.microsoft.com/office/drawing/2014/main" id="{FF0DA1C5-BC94-4A1D-BB39-D6BF7CF7D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4048125"/>
            <a:ext cx="6286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FFFFFF"/>
                </a:solidFill>
              </a:defRPr>
            </a:pPr>
            <a:r>
              <a:rPr sz="1875" b="1" i="0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35" name="flow-9-label">
            <a:extLst xmlns:a="http://schemas.openxmlformats.org/drawingml/2006/main">
              <a:ext uri="{FF2B5EF4-FFF2-40B4-BE49-F238E27FC236}">
                <a16:creationId xmlns:a16="http://schemas.microsoft.com/office/drawing/2014/main" id="{E7D62E39-CDA4-4117-8DA0-3294EF356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1163" y="4733925"/>
            <a:ext cx="1571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Evidencia</a:t>
            </a:r>
          </a:p>
          <a:p xmlns:a="http://schemas.openxmlformats.org/drawingml/2006/main">
            <a:pPr algn="ctr">
              <a:buNone/>
              <a:defRPr sz="1275" b="1" i="0">
                <a:solidFill>
                  <a:srgbClr val="243B53"/>
                </a:solidFill>
              </a:defRPr>
            </a:pPr>
            <a:r>
              <a:rPr sz="1275" b="1" i="0">
                <a:solidFill>
                  <a:srgbClr val="243B53"/>
                </a:solidFill>
              </a:rPr>
              <a:t>docente</a:t>
            </a:r>
          </a:p>
        </p:txBody>
      </p:sp>
      <p:sp>
        <p:nvSpPr>
          <p:cNvPr id="36" name="truth-callout">
            <a:extLst xmlns:a="http://schemas.openxmlformats.org/drawingml/2006/main">
              <a:ext uri="{FF2B5EF4-FFF2-40B4-BE49-F238E27FC236}">
                <a16:creationId xmlns:a16="http://schemas.microsoft.com/office/drawing/2014/main" id="{35825CAE-FC59-4894-BAB9-27051F961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43550"/>
            <a:ext cx="3143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2F6BFF"/>
                </a:solidFill>
              </a:defRPr>
            </a:pPr>
            <a:r>
              <a:rPr sz="1425" b="1" i="0">
                <a:solidFill>
                  <a:srgbClr val="2F6BFF"/>
                </a:solidFill>
              </a:rPr>
              <a:t>FUENTE DE VERDAD</a:t>
            </a:r>
          </a:p>
          <a:p xmlns:a="http://schemas.openxmlformats.org/drawingml/2006/main">
            <a:pPr algn="ctr">
              <a:buNone/>
              <a:defRPr sz="1425" b="1" i="0">
                <a:solidFill>
                  <a:srgbClr val="2F6BFF"/>
                </a:solidFill>
              </a:defRPr>
            </a:pPr>
            <a:r>
              <a:rPr sz="1425" b="1" i="0">
                <a:solidFill>
                  <a:srgbClr val="2F6BFF"/>
                </a:solidFill>
              </a:rPr>
              <a:t>Test cases + reglas</a:t>
            </a:r>
          </a:p>
        </p:txBody>
      </p:sp>
      <p:sp>
        <p:nvSpPr>
          <p:cNvPr id="37" name="ai-callout">
            <a:extLst xmlns:a="http://schemas.openxmlformats.org/drawingml/2006/main">
              <a:ext uri="{FF2B5EF4-FFF2-40B4-BE49-F238E27FC236}">
                <a16:creationId xmlns:a16="http://schemas.microsoft.com/office/drawing/2014/main" id="{728EB98C-3965-4E0B-8F96-AE0539804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543550"/>
            <a:ext cx="37147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6F7F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0F9D8A"/>
                </a:solidFill>
              </a:defRPr>
            </a:pPr>
            <a:r>
              <a:rPr sz="1425" b="1" i="0">
                <a:solidFill>
                  <a:srgbClr val="0F9D8A"/>
                </a:solidFill>
              </a:rPr>
              <a:t>IA Y RAG</a:t>
            </a:r>
          </a:p>
          <a:p xmlns:a="http://schemas.openxmlformats.org/drawingml/2006/main">
            <a:pPr algn="ctr">
              <a:buNone/>
              <a:defRPr sz="1425" b="1" i="0">
                <a:solidFill>
                  <a:srgbClr val="0F9D8A"/>
                </a:solidFill>
              </a:defRPr>
            </a:pPr>
            <a:r>
              <a:rPr sz="1425" b="1" i="0">
                <a:solidFill>
                  <a:srgbClr val="0F9D8A"/>
                </a:solidFill>
              </a:rPr>
              <a:t>Contextualizan; no bloquean</a:t>
            </a:r>
          </a:p>
        </p:txBody>
      </p:sp>
      <p:sp>
        <p:nvSpPr>
          <p:cNvPr id="38" name="teacher-callout">
            <a:extLst xmlns:a="http://schemas.openxmlformats.org/drawingml/2006/main">
              <a:ext uri="{FF2B5EF4-FFF2-40B4-BE49-F238E27FC236}">
                <a16:creationId xmlns:a16="http://schemas.microsoft.com/office/drawing/2014/main" id="{CAA6D3E8-3525-4E02-B652-5B02A9705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543550"/>
            <a:ext cx="34290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DECE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D95D6A"/>
                </a:solidFill>
              </a:defRPr>
            </a:pPr>
            <a:r>
              <a:rPr sz="1425" b="1" i="0">
                <a:solidFill>
                  <a:srgbClr val="D95D6A"/>
                </a:solidFill>
              </a:rPr>
              <a:t>RESULTADO</a:t>
            </a:r>
          </a:p>
          <a:p xmlns:a="http://schemas.openxmlformats.org/drawingml/2006/main">
            <a:pPr algn="ctr">
              <a:buNone/>
              <a:defRPr sz="1425" b="1" i="0">
                <a:solidFill>
                  <a:srgbClr val="D95D6A"/>
                </a:solidFill>
              </a:defRPr>
            </a:pPr>
            <a:r>
              <a:rPr sz="1425" b="1" i="0">
                <a:solidFill>
                  <a:srgbClr val="D95D6A"/>
                </a:solidFill>
              </a:rPr>
              <a:t>Una intervención explicable</a:t>
            </a:r>
          </a:p>
        </p:txBody>
      </p:sp>
    </p:spTree>
    <p:extLst>
      <p:ext uri="{BB962C8B-B14F-4D97-AF65-F5344CB8AC3E}">
        <p14:creationId xmlns:p14="http://schemas.microsoft.com/office/powerpoint/2010/main" val="158816447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C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kicker-3">
            <a:extLst xmlns:a="http://schemas.openxmlformats.org/drawingml/2006/main">
              <a:ext uri="{FF2B5EF4-FFF2-40B4-BE49-F238E27FC236}">
                <a16:creationId xmlns:a16="http://schemas.microsoft.com/office/drawing/2014/main" id="{920662C0-9C3A-4D85-B08E-53C313D91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2F6BFF"/>
                </a:solidFill>
              </a:defRPr>
            </a:pPr>
            <a:r>
              <a:rPr sz="1050" b="1" i="0">
                <a:solidFill>
                  <a:srgbClr val="2F6BFF"/>
                </a:solidFill>
              </a:rPr>
              <a:t>ROADMAP DE PRODUCTO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32B64043-2A02-4837-B239-7689FF8C1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57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02A43"/>
                </a:solidFill>
              </a:defRPr>
            </a:pPr>
            <a:r>
              <a:rPr sz="2850" b="1" i="0">
                <a:solidFill>
                  <a:srgbClr val="102A43"/>
                </a:solidFill>
              </a:rPr>
              <a:t>Cuatro horizontes convierten 18 semanas en decisiones</a:t>
            </a:r>
          </a:p>
        </p:txBody>
      </p:sp>
      <p:sp>
        <p:nvSpPr>
          <p:cNvPr id="3" name="header-line-3">
            <a:extLst xmlns:a="http://schemas.openxmlformats.org/drawingml/2006/main">
              <a:ext uri="{FF2B5EF4-FFF2-40B4-BE49-F238E27FC236}">
                <a16:creationId xmlns:a16="http://schemas.microsoft.com/office/drawing/2014/main" id="{1D6416ED-59A8-42EE-A558-25928930F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3">
            <a:extLst xmlns:a="http://schemas.openxmlformats.org/drawingml/2006/main">
              <a:ext uri="{FF2B5EF4-FFF2-40B4-BE49-F238E27FC236}">
                <a16:creationId xmlns:a16="http://schemas.microsoft.com/office/drawing/2014/main" id="{E54D0E8F-8EFA-4F5E-B4E2-D62F807FD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389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829AB1"/>
                </a:solidFill>
              </a:defRPr>
            </a:pPr>
            <a:r>
              <a:rPr sz="975" b="0" i="0">
                <a:solidFill>
                  <a:srgbClr val="829AB1"/>
                </a:solidFill>
              </a:rPr>
              <a:t>3</a:t>
            </a:r>
          </a:p>
        </p:txBody>
      </p:sp>
      <p:sp>
        <p:nvSpPr>
          <p:cNvPr id="5" name="roadmap-lead">
            <a:extLst xmlns:a="http://schemas.openxmlformats.org/drawingml/2006/main">
              <a:ext uri="{FF2B5EF4-FFF2-40B4-BE49-F238E27FC236}">
                <a16:creationId xmlns:a16="http://schemas.microsoft.com/office/drawing/2014/main" id="{C0108D7A-6314-4CC5-B43E-DC5AF123B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57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486581"/>
                </a:solidFill>
              </a:defRPr>
            </a:pPr>
            <a:r>
              <a:rPr sz="1500" b="0" i="0">
                <a:solidFill>
                  <a:srgbClr val="486581"/>
                </a:solidFill>
              </a:rPr>
              <a:t>Los horizontes fijan resultados y puertas de decisión; el detalle se reprioriza sprint a sprint.</a:t>
            </a:r>
          </a:p>
        </p:txBody>
      </p:sp>
      <p:sp>
        <p:nvSpPr>
          <p:cNvPr id="6" name="horizon-bg-0">
            <a:extLst xmlns:a="http://schemas.openxmlformats.org/drawingml/2006/main">
              <a:ext uri="{FF2B5EF4-FFF2-40B4-BE49-F238E27FC236}">
                <a16:creationId xmlns:a16="http://schemas.microsoft.com/office/drawing/2014/main" id="{3FF41E19-8B9F-4089-A8AC-16E1C85BF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2628900" cy="40005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7" name="horizon-band-0">
            <a:extLst xmlns:a="http://schemas.openxmlformats.org/drawingml/2006/main">
              <a:ext uri="{FF2B5EF4-FFF2-40B4-BE49-F238E27FC236}">
                <a16:creationId xmlns:a16="http://schemas.microsoft.com/office/drawing/2014/main" id="{A35E7430-C15A-4A4E-9E23-B0F5E262B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26289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2F6BFF"/>
          </a:solidFill>
          <a:ln xmlns:a="http://schemas.openxmlformats.org/drawingml/2006/main" w="9525">
            <a:solidFill>
              <a:srgbClr val="2F6BFF"/>
            </a:solidFill>
            <a:prstDash val="solid"/>
          </a:ln>
        </p:spPr>
      </p:sp>
      <p:sp>
        <p:nvSpPr>
          <p:cNvPr id="8" name="horizon-tag-0">
            <a:extLst xmlns:a="http://schemas.openxmlformats.org/drawingml/2006/main">
              <a:ext uri="{FF2B5EF4-FFF2-40B4-BE49-F238E27FC236}">
                <a16:creationId xmlns:a16="http://schemas.microsoft.com/office/drawing/2014/main" id="{5B38ABEE-A905-4AA4-A2ED-77D23C6C0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95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FFFFFF"/>
                </a:solidFill>
              </a:defRPr>
            </a:pPr>
            <a:r>
              <a:rPr sz="1125" b="1" i="0">
                <a:solidFill>
                  <a:srgbClr val="FFFFFF"/>
                </a:solidFill>
              </a:rPr>
              <a:t>AHORA · S0–S1</a:t>
            </a:r>
          </a:p>
        </p:txBody>
      </p:sp>
      <p:sp>
        <p:nvSpPr>
          <p:cNvPr id="9" name="horizon-weeks-0">
            <a:extLst xmlns:a="http://schemas.openxmlformats.org/drawingml/2006/main">
              <a:ext uri="{FF2B5EF4-FFF2-40B4-BE49-F238E27FC236}">
                <a16:creationId xmlns:a16="http://schemas.microsoft.com/office/drawing/2014/main" id="{67FE7C1A-808F-4803-A8FA-4AD99A090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05050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FFFFFF"/>
                </a:solidFill>
              </a:defRPr>
            </a:pPr>
            <a:r>
              <a:rPr sz="975" b="0" i="0">
                <a:solidFill>
                  <a:srgbClr val="FFFFFF"/>
                </a:solidFill>
              </a:rPr>
              <a:t>Semanas 1–4</a:t>
            </a:r>
          </a:p>
        </p:txBody>
      </p:sp>
      <p:sp>
        <p:nvSpPr>
          <p:cNvPr id="10" name="horizon-title-0">
            <a:extLst xmlns:a="http://schemas.openxmlformats.org/drawingml/2006/main">
              <a:ext uri="{FF2B5EF4-FFF2-40B4-BE49-F238E27FC236}">
                <a16:creationId xmlns:a16="http://schemas.microsoft.com/office/drawing/2014/main" id="{5FB7BFB9-34CC-4E99-92F8-C2454911E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432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02A43"/>
                </a:solidFill>
              </a:defRPr>
            </a:pPr>
            <a:r>
              <a:rPr sz="1725" b="1" i="0">
                <a:solidFill>
                  <a:srgbClr val="102A43"/>
                </a:solidFill>
              </a:rPr>
              <a:t>Alinear y reducir incertidumbre</a:t>
            </a:r>
          </a:p>
        </p:txBody>
      </p:sp>
      <p:sp>
        <p:nvSpPr>
          <p:cNvPr id="11" name="horizon-outcome-l-0">
            <a:extLst xmlns:a="http://schemas.openxmlformats.org/drawingml/2006/main">
              <a:ext uri="{FF2B5EF4-FFF2-40B4-BE49-F238E27FC236}">
                <a16:creationId xmlns:a16="http://schemas.microsoft.com/office/drawing/2014/main" id="{DBD281A2-18D8-45EC-9F06-F229FC89D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52825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2F6BFF"/>
                </a:solidFill>
              </a:defRPr>
            </a:pPr>
            <a:r>
              <a:rPr sz="975" b="1" i="0">
                <a:solidFill>
                  <a:srgbClr val="2F6BFF"/>
                </a:solidFill>
              </a:rPr>
              <a:t>RESULTADO</a:t>
            </a:r>
          </a:p>
        </p:txBody>
      </p:sp>
      <p:sp>
        <p:nvSpPr>
          <p:cNvPr id="12" name="horizon-outcome-0">
            <a:extLst xmlns:a="http://schemas.openxmlformats.org/drawingml/2006/main">
              <a:ext uri="{FF2B5EF4-FFF2-40B4-BE49-F238E27FC236}">
                <a16:creationId xmlns:a16="http://schemas.microsoft.com/office/drawing/2014/main" id="{A4A9AEBC-4547-42BC-B08A-E840C5815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81425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Visión, alcance MVP y arquitectura preliminar aprobados.</a:t>
            </a:r>
          </a:p>
        </p:txBody>
      </p:sp>
      <p:sp>
        <p:nvSpPr>
          <p:cNvPr id="13" name="horizon-evidence-l-0">
            <a:extLst xmlns:a="http://schemas.openxmlformats.org/drawingml/2006/main">
              <a:ext uri="{FF2B5EF4-FFF2-40B4-BE49-F238E27FC236}">
                <a16:creationId xmlns:a16="http://schemas.microsoft.com/office/drawing/2014/main" id="{CAA3D470-AF9B-4940-B3DF-DEF4B417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67250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2F6BFF"/>
                </a:solidFill>
              </a:defRPr>
            </a:pPr>
            <a:r>
              <a:rPr sz="975" b="1" i="0">
                <a:solidFill>
                  <a:srgbClr val="2F6BFF"/>
                </a:solidFill>
              </a:rPr>
              <a:t>EVIDENCIA</a:t>
            </a:r>
          </a:p>
        </p:txBody>
      </p:sp>
      <p:sp>
        <p:nvSpPr>
          <p:cNvPr id="14" name="horizon-evidence-0">
            <a:extLst xmlns:a="http://schemas.openxmlformats.org/drawingml/2006/main">
              <a:ext uri="{FF2B5EF4-FFF2-40B4-BE49-F238E27FC236}">
                <a16:creationId xmlns:a16="http://schemas.microsoft.com/office/drawing/2014/main" id="{FA5D3422-2996-449F-AF0A-C95AFADF9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486581"/>
                </a:solidFill>
              </a:defRPr>
            </a:pPr>
            <a:r>
              <a:rPr sz="1200" b="0" i="0">
                <a:solidFill>
                  <a:srgbClr val="486581"/>
                </a:solidFill>
              </a:rPr>
              <a:t>Backlog priorizado, prototipos, riesgos y spikes del ejecutor/RAG.</a:t>
            </a:r>
          </a:p>
        </p:txBody>
      </p:sp>
      <p:sp>
        <p:nvSpPr>
          <p:cNvPr id="15" name="horizon-gate-0">
            <a:extLst xmlns:a="http://schemas.openxmlformats.org/drawingml/2006/main">
              <a:ext uri="{FF2B5EF4-FFF2-40B4-BE49-F238E27FC236}">
                <a16:creationId xmlns:a16="http://schemas.microsoft.com/office/drawing/2014/main" id="{4D84A12F-ADB6-46EB-87A3-A1C8E9A46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7150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2F6BFF"/>
                </a:solidFill>
              </a:defRPr>
            </a:pPr>
            <a:r>
              <a:rPr sz="1050" b="1" i="0">
                <a:solidFill>
                  <a:srgbClr val="2F6BFF"/>
                </a:solidFill>
              </a:rPr>
              <a:t>Gate: Fase 1 aprobada</a:t>
            </a:r>
          </a:p>
        </p:txBody>
      </p:sp>
      <p:sp>
        <p:nvSpPr>
          <p:cNvPr id="16" name="horizon-bg-1">
            <a:extLst xmlns:a="http://schemas.openxmlformats.org/drawingml/2006/main">
              <a:ext uri="{FF2B5EF4-FFF2-40B4-BE49-F238E27FC236}">
                <a16:creationId xmlns:a16="http://schemas.microsoft.com/office/drawing/2014/main" id="{3D428AAC-0B25-48D9-96DE-6CECDA343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000250"/>
            <a:ext cx="2628900" cy="40005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E6F7F3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7" name="horizon-band-1">
            <a:extLst xmlns:a="http://schemas.openxmlformats.org/drawingml/2006/main">
              <a:ext uri="{FF2B5EF4-FFF2-40B4-BE49-F238E27FC236}">
                <a16:creationId xmlns:a16="http://schemas.microsoft.com/office/drawing/2014/main" id="{3454A3F9-FE3D-4A7B-9B17-F053E82AC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000250"/>
            <a:ext cx="26289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0F9D8A"/>
          </a:solidFill>
          <a:ln xmlns:a="http://schemas.openxmlformats.org/drawingml/2006/main" w="9525">
            <a:solidFill>
              <a:srgbClr val="0F9D8A"/>
            </a:solidFill>
            <a:prstDash val="solid"/>
          </a:ln>
        </p:spPr>
      </p:sp>
      <p:sp>
        <p:nvSpPr>
          <p:cNvPr id="18" name="horizon-tag-1">
            <a:extLst xmlns:a="http://schemas.openxmlformats.org/drawingml/2006/main">
              <a:ext uri="{FF2B5EF4-FFF2-40B4-BE49-F238E27FC236}">
                <a16:creationId xmlns:a16="http://schemas.microsoft.com/office/drawing/2014/main" id="{3F387169-993F-4E27-AD07-AC45968A9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095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FFFFFF"/>
                </a:solidFill>
              </a:defRPr>
            </a:pPr>
            <a:r>
              <a:rPr sz="1125" b="1" i="0">
                <a:solidFill>
                  <a:srgbClr val="FFFFFF"/>
                </a:solidFill>
              </a:rPr>
              <a:t>NÚCLEO · S2–S4</a:t>
            </a:r>
          </a:p>
        </p:txBody>
      </p:sp>
      <p:sp>
        <p:nvSpPr>
          <p:cNvPr id="19" name="horizon-weeks-1">
            <a:extLst xmlns:a="http://schemas.openxmlformats.org/drawingml/2006/main">
              <a:ext uri="{FF2B5EF4-FFF2-40B4-BE49-F238E27FC236}">
                <a16:creationId xmlns:a16="http://schemas.microsoft.com/office/drawing/2014/main" id="{1DE4A3CC-BE1F-4424-93D8-CB72DF6AB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305050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FFFFFF"/>
                </a:solidFill>
              </a:defRPr>
            </a:pPr>
            <a:r>
              <a:rPr sz="975" b="0" i="0">
                <a:solidFill>
                  <a:srgbClr val="FFFFFF"/>
                </a:solidFill>
              </a:rPr>
              <a:t>Semanas 5–10</a:t>
            </a:r>
          </a:p>
        </p:txBody>
      </p:sp>
      <p:sp>
        <p:nvSpPr>
          <p:cNvPr id="20" name="horizon-title-1">
            <a:extLst xmlns:a="http://schemas.openxmlformats.org/drawingml/2006/main">
              <a:ext uri="{FF2B5EF4-FFF2-40B4-BE49-F238E27FC236}">
                <a16:creationId xmlns:a16="http://schemas.microsoft.com/office/drawing/2014/main" id="{C74ABF1A-A45C-4412-8084-43E74B671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7432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02A43"/>
                </a:solidFill>
              </a:defRPr>
            </a:pPr>
            <a:r>
              <a:rPr sz="1725" b="1" i="0">
                <a:solidFill>
                  <a:srgbClr val="102A43"/>
                </a:solidFill>
              </a:rPr>
              <a:t>Probar el flujo determinístico</a:t>
            </a:r>
          </a:p>
        </p:txBody>
      </p:sp>
      <p:sp>
        <p:nvSpPr>
          <p:cNvPr id="21" name="horizon-outcome-l-1">
            <a:extLst xmlns:a="http://schemas.openxmlformats.org/drawingml/2006/main">
              <a:ext uri="{FF2B5EF4-FFF2-40B4-BE49-F238E27FC236}">
                <a16:creationId xmlns:a16="http://schemas.microsoft.com/office/drawing/2014/main" id="{284977F6-4844-4792-8A24-EDEF2EEE3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52825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0F9D8A"/>
                </a:solidFill>
              </a:defRPr>
            </a:pPr>
            <a:r>
              <a:rPr sz="975" b="1" i="0">
                <a:solidFill>
                  <a:srgbClr val="0F9D8A"/>
                </a:solidFill>
              </a:rPr>
              <a:t>RESULTADO</a:t>
            </a:r>
          </a:p>
        </p:txBody>
      </p:sp>
      <p:sp>
        <p:nvSpPr>
          <p:cNvPr id="22" name="horizon-outcome-1">
            <a:extLst xmlns:a="http://schemas.openxmlformats.org/drawingml/2006/main">
              <a:ext uri="{FF2B5EF4-FFF2-40B4-BE49-F238E27FC236}">
                <a16:creationId xmlns:a16="http://schemas.microsoft.com/office/drawing/2014/main" id="{9FF19557-FA0F-4D21-9886-9D0DBAB5D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81425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Un estudiante completa la actividad y recibe resultados verificables sin depender de IA.</a:t>
            </a:r>
          </a:p>
        </p:txBody>
      </p:sp>
      <p:sp>
        <p:nvSpPr>
          <p:cNvPr id="23" name="horizon-evidence-l-1">
            <a:extLst xmlns:a="http://schemas.openxmlformats.org/drawingml/2006/main">
              <a:ext uri="{FF2B5EF4-FFF2-40B4-BE49-F238E27FC236}">
                <a16:creationId xmlns:a16="http://schemas.microsoft.com/office/drawing/2014/main" id="{F6FF700C-22C2-4D7B-9FCC-8E0D9FF6A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667250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0F9D8A"/>
                </a:solidFill>
              </a:defRPr>
            </a:pPr>
            <a:r>
              <a:rPr sz="975" b="1" i="0">
                <a:solidFill>
                  <a:srgbClr val="0F9D8A"/>
                </a:solidFill>
              </a:rPr>
              <a:t>EVIDENCIA</a:t>
            </a:r>
          </a:p>
        </p:txBody>
      </p:sp>
      <p:sp>
        <p:nvSpPr>
          <p:cNvPr id="24" name="horizon-evidence-1">
            <a:extLst xmlns:a="http://schemas.openxmlformats.org/drawingml/2006/main">
              <a:ext uri="{FF2B5EF4-FFF2-40B4-BE49-F238E27FC236}">
                <a16:creationId xmlns:a16="http://schemas.microsoft.com/office/drawing/2014/main" id="{5877FD80-8324-4F49-B3F4-270060A32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8958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486581"/>
                </a:solidFill>
              </a:defRPr>
            </a:pPr>
            <a:r>
              <a:rPr sz="1200" b="0" i="0">
                <a:solidFill>
                  <a:srgbClr val="486581"/>
                </a:solidFill>
              </a:rPr>
              <a:t>Roles, clase, editor, ejecutor seguro, test cases, intentos y telemetría mínima.</a:t>
            </a:r>
          </a:p>
        </p:txBody>
      </p:sp>
      <p:sp>
        <p:nvSpPr>
          <p:cNvPr id="25" name="horizon-gate-1">
            <a:extLst xmlns:a="http://schemas.openxmlformats.org/drawingml/2006/main">
              <a:ext uri="{FF2B5EF4-FFF2-40B4-BE49-F238E27FC236}">
                <a16:creationId xmlns:a16="http://schemas.microsoft.com/office/drawing/2014/main" id="{B4D96B5D-A9F7-4311-88F2-2C23DB8B1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57150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0F9D8A"/>
                </a:solidFill>
              </a:defRPr>
            </a:pPr>
            <a:r>
              <a:rPr sz="1050" b="1" i="0">
                <a:solidFill>
                  <a:srgbClr val="0F9D8A"/>
                </a:solidFill>
              </a:rPr>
              <a:t>Gate: incremento integrado</a:t>
            </a:r>
          </a:p>
        </p:txBody>
      </p:sp>
      <p:sp>
        <p:nvSpPr>
          <p:cNvPr id="26" name="horizon-bg-2">
            <a:extLst xmlns:a="http://schemas.openxmlformats.org/drawingml/2006/main">
              <a:ext uri="{FF2B5EF4-FFF2-40B4-BE49-F238E27FC236}">
                <a16:creationId xmlns:a16="http://schemas.microsoft.com/office/drawing/2014/main" id="{D8BAF16A-346A-4A02-844A-B46BC159E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2628900" cy="40005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FF4D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7" name="horizon-band-2">
            <a:extLst xmlns:a="http://schemas.openxmlformats.org/drawingml/2006/main">
              <a:ext uri="{FF2B5EF4-FFF2-40B4-BE49-F238E27FC236}">
                <a16:creationId xmlns:a16="http://schemas.microsoft.com/office/drawing/2014/main" id="{2C5508C3-4E2C-48EB-9525-0290ED079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26289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9A23B"/>
          </a:solidFill>
          <a:ln xmlns:a="http://schemas.openxmlformats.org/drawingml/2006/main" w="9525">
            <a:solidFill>
              <a:srgbClr val="E9A23B"/>
            </a:solidFill>
            <a:prstDash val="solid"/>
          </a:ln>
        </p:spPr>
      </p:sp>
      <p:sp>
        <p:nvSpPr>
          <p:cNvPr id="28" name="horizon-tag-2">
            <a:extLst xmlns:a="http://schemas.openxmlformats.org/drawingml/2006/main">
              <a:ext uri="{FF2B5EF4-FFF2-40B4-BE49-F238E27FC236}">
                <a16:creationId xmlns:a16="http://schemas.microsoft.com/office/drawing/2014/main" id="{A3196219-6B60-4ECC-96E7-129C40445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95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FFFFFF"/>
                </a:solidFill>
              </a:defRPr>
            </a:pPr>
            <a:r>
              <a:rPr sz="1125" b="1" i="0">
                <a:solidFill>
                  <a:srgbClr val="FFFFFF"/>
                </a:solidFill>
              </a:rPr>
              <a:t>VALOR · S5–S6</a:t>
            </a:r>
          </a:p>
        </p:txBody>
      </p:sp>
      <p:sp>
        <p:nvSpPr>
          <p:cNvPr id="29" name="horizon-weeks-2">
            <a:extLst xmlns:a="http://schemas.openxmlformats.org/drawingml/2006/main">
              <a:ext uri="{FF2B5EF4-FFF2-40B4-BE49-F238E27FC236}">
                <a16:creationId xmlns:a16="http://schemas.microsoft.com/office/drawing/2014/main" id="{B8B3BAD8-8443-4182-BD48-8044EEFDD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05050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FFFFFF"/>
                </a:solidFill>
              </a:defRPr>
            </a:pPr>
            <a:r>
              <a:rPr sz="975" b="0" i="0">
                <a:solidFill>
                  <a:srgbClr val="FFFFFF"/>
                </a:solidFill>
              </a:rPr>
              <a:t>Semanas 11–14</a:t>
            </a:r>
          </a:p>
        </p:txBody>
      </p:sp>
      <p:sp>
        <p:nvSpPr>
          <p:cNvPr id="30" name="horizon-title-2">
            <a:extLst xmlns:a="http://schemas.openxmlformats.org/drawingml/2006/main">
              <a:ext uri="{FF2B5EF4-FFF2-40B4-BE49-F238E27FC236}">
                <a16:creationId xmlns:a16="http://schemas.microsoft.com/office/drawing/2014/main" id="{1861CF52-55C3-4292-A7BB-38EC9F850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7432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02A43"/>
                </a:solidFill>
              </a:defRPr>
            </a:pPr>
            <a:r>
              <a:rPr sz="1725" b="1" i="0">
                <a:solidFill>
                  <a:srgbClr val="102A43"/>
                </a:solidFill>
              </a:rPr>
              <a:t>Contextualizar y hacer visible</a:t>
            </a:r>
          </a:p>
        </p:txBody>
      </p:sp>
      <p:sp>
        <p:nvSpPr>
          <p:cNvPr id="31" name="horizon-outcome-l-2">
            <a:extLst xmlns:a="http://schemas.openxmlformats.org/drawingml/2006/main">
              <a:ext uri="{FF2B5EF4-FFF2-40B4-BE49-F238E27FC236}">
                <a16:creationId xmlns:a16="http://schemas.microsoft.com/office/drawing/2014/main" id="{78893493-D0B9-43A4-B5E2-B0775C460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552825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9A23B"/>
                </a:solidFill>
              </a:defRPr>
            </a:pPr>
            <a:r>
              <a:rPr sz="975" b="1" i="0">
                <a:solidFill>
                  <a:srgbClr val="E9A23B"/>
                </a:solidFill>
              </a:rPr>
              <a:t>RESULTADO</a:t>
            </a:r>
          </a:p>
        </p:txBody>
      </p:sp>
      <p:sp>
        <p:nvSpPr>
          <p:cNvPr id="32" name="horizon-outcome-2">
            <a:extLst xmlns:a="http://schemas.openxmlformats.org/drawingml/2006/main">
              <a:ext uri="{FF2B5EF4-FFF2-40B4-BE49-F238E27FC236}">
                <a16:creationId xmlns:a16="http://schemas.microsoft.com/office/drawing/2014/main" id="{84F86CA0-290D-4A17-8301-58FA4BC20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81425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Feedback con fuente oficial y tres señales docentes explicables.</a:t>
            </a:r>
          </a:p>
        </p:txBody>
      </p:sp>
      <p:sp>
        <p:nvSpPr>
          <p:cNvPr id="33" name="horizon-evidence-l-2">
            <a:extLst xmlns:a="http://schemas.openxmlformats.org/drawingml/2006/main">
              <a:ext uri="{FF2B5EF4-FFF2-40B4-BE49-F238E27FC236}">
                <a16:creationId xmlns:a16="http://schemas.microsoft.com/office/drawing/2014/main" id="{B6515074-0666-4425-900F-3A83F7AB5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667250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E9A23B"/>
                </a:solidFill>
              </a:defRPr>
            </a:pPr>
            <a:r>
              <a:rPr sz="975" b="1" i="0">
                <a:solidFill>
                  <a:srgbClr val="E9A23B"/>
                </a:solidFill>
              </a:rPr>
              <a:t>EVIDENCIA</a:t>
            </a:r>
          </a:p>
        </p:txBody>
      </p:sp>
      <p:sp>
        <p:nvSpPr>
          <p:cNvPr id="34" name="horizon-evidence-2">
            <a:extLst xmlns:a="http://schemas.openxmlformats.org/drawingml/2006/main">
              <a:ext uri="{FF2B5EF4-FFF2-40B4-BE49-F238E27FC236}">
                <a16:creationId xmlns:a16="http://schemas.microsoft.com/office/drawing/2014/main" id="{A4C6636D-8FE8-4967-AC28-4BB330FE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958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486581"/>
                </a:solidFill>
              </a:defRPr>
            </a:pPr>
            <a:r>
              <a:rPr sz="1200" b="0" i="0">
                <a:solidFill>
                  <a:srgbClr val="486581"/>
                </a:solidFill>
              </a:rPr>
              <a:t>Diagnóstico acotado, RAG filtrado, dashboard y pruebas de seguridad/calidad.</a:t>
            </a:r>
          </a:p>
        </p:txBody>
      </p:sp>
      <p:sp>
        <p:nvSpPr>
          <p:cNvPr id="35" name="horizon-gate-2">
            <a:extLst xmlns:a="http://schemas.openxmlformats.org/drawingml/2006/main">
              <a:ext uri="{FF2B5EF4-FFF2-40B4-BE49-F238E27FC236}">
                <a16:creationId xmlns:a16="http://schemas.microsoft.com/office/drawing/2014/main" id="{7B74AE2F-2DF7-4F05-A604-CF5EFE53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7150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E9A23B"/>
                </a:solidFill>
              </a:defRPr>
            </a:pPr>
            <a:r>
              <a:rPr sz="1050" b="1" i="0">
                <a:solidFill>
                  <a:srgbClr val="E9A23B"/>
                </a:solidFill>
              </a:rPr>
              <a:t>Gate: MVP demostrable</a:t>
            </a:r>
          </a:p>
        </p:txBody>
      </p:sp>
      <p:sp>
        <p:nvSpPr>
          <p:cNvPr id="36" name="horizon-bg-3">
            <a:extLst xmlns:a="http://schemas.openxmlformats.org/drawingml/2006/main">
              <a:ext uri="{FF2B5EF4-FFF2-40B4-BE49-F238E27FC236}">
                <a16:creationId xmlns:a16="http://schemas.microsoft.com/office/drawing/2014/main" id="{17F56ADA-B50B-45CC-8E31-25B8DDCC2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000250"/>
            <a:ext cx="2628900" cy="4000500"/>
          </a:xfrm>
          <a:prstGeom xmlns:a="http://schemas.openxmlformats.org/drawingml/2006/main" prst="roundRect">
            <a:avLst>
              <a:gd name="adj" fmla="val 4348"/>
            </a:avLst>
          </a:prstGeom>
          <a:solidFill xmlns:a="http://schemas.openxmlformats.org/drawingml/2006/main">
            <a:srgbClr val="FDECE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37" name="horizon-band-3">
            <a:extLst xmlns:a="http://schemas.openxmlformats.org/drawingml/2006/main">
              <a:ext uri="{FF2B5EF4-FFF2-40B4-BE49-F238E27FC236}">
                <a16:creationId xmlns:a16="http://schemas.microsoft.com/office/drawing/2014/main" id="{152F86F4-46CC-4853-AD0E-51336BA90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000250"/>
            <a:ext cx="26289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D95D6A"/>
          </a:solidFill>
          <a:ln xmlns:a="http://schemas.openxmlformats.org/drawingml/2006/main" w="9525">
            <a:solidFill>
              <a:srgbClr val="D95D6A"/>
            </a:solidFill>
            <a:prstDash val="solid"/>
          </a:ln>
        </p:spPr>
      </p:sp>
      <p:sp>
        <p:nvSpPr>
          <p:cNvPr id="38" name="horizon-tag-3">
            <a:extLst xmlns:a="http://schemas.openxmlformats.org/drawingml/2006/main">
              <a:ext uri="{FF2B5EF4-FFF2-40B4-BE49-F238E27FC236}">
                <a16:creationId xmlns:a16="http://schemas.microsoft.com/office/drawing/2014/main" id="{A7B451B2-C039-4946-94D4-CDFA90D3A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095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FFFFFF"/>
                </a:solidFill>
              </a:defRPr>
            </a:pPr>
            <a:r>
              <a:rPr sz="1125" b="1" i="0">
                <a:solidFill>
                  <a:srgbClr val="FFFFFF"/>
                </a:solidFill>
              </a:rPr>
              <a:t>ENTREGA · S7–S8</a:t>
            </a:r>
          </a:p>
        </p:txBody>
      </p:sp>
      <p:sp>
        <p:nvSpPr>
          <p:cNvPr id="39" name="horizon-weeks-3">
            <a:extLst xmlns:a="http://schemas.openxmlformats.org/drawingml/2006/main">
              <a:ext uri="{FF2B5EF4-FFF2-40B4-BE49-F238E27FC236}">
                <a16:creationId xmlns:a16="http://schemas.microsoft.com/office/drawing/2014/main" id="{0A0891E5-EC2B-4C8C-BADE-1415C9BD3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305050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FFFFFF"/>
                </a:solidFill>
              </a:defRPr>
            </a:pPr>
            <a:r>
              <a:rPr sz="975" b="0" i="0">
                <a:solidFill>
                  <a:srgbClr val="FFFFFF"/>
                </a:solidFill>
              </a:rPr>
              <a:t>Semanas 15–18</a:t>
            </a:r>
          </a:p>
        </p:txBody>
      </p:sp>
      <p:sp>
        <p:nvSpPr>
          <p:cNvPr id="40" name="horizon-title-3">
            <a:extLst xmlns:a="http://schemas.openxmlformats.org/drawingml/2006/main">
              <a:ext uri="{FF2B5EF4-FFF2-40B4-BE49-F238E27FC236}">
                <a16:creationId xmlns:a16="http://schemas.microsoft.com/office/drawing/2014/main" id="{E55A844B-C474-46F6-9EC6-9F4708AD5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43200"/>
            <a:ext cx="228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02A43"/>
                </a:solidFill>
              </a:defRPr>
            </a:pPr>
            <a:r>
              <a:rPr sz="1725" b="1" i="0">
                <a:solidFill>
                  <a:srgbClr val="102A43"/>
                </a:solidFill>
              </a:rPr>
              <a:t>Estabilizar y defender</a:t>
            </a:r>
          </a:p>
        </p:txBody>
      </p:sp>
      <p:sp>
        <p:nvSpPr>
          <p:cNvPr id="41" name="horizon-outcome-l-3">
            <a:extLst xmlns:a="http://schemas.openxmlformats.org/drawingml/2006/main">
              <a:ext uri="{FF2B5EF4-FFF2-40B4-BE49-F238E27FC236}">
                <a16:creationId xmlns:a16="http://schemas.microsoft.com/office/drawing/2014/main" id="{7304EE4D-2D1D-4D93-B759-F7AB7C36B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552825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D95D6A"/>
                </a:solidFill>
              </a:defRPr>
            </a:pPr>
            <a:r>
              <a:rPr sz="975" b="1" i="0">
                <a:solidFill>
                  <a:srgbClr val="D95D6A"/>
                </a:solidFill>
              </a:rPr>
              <a:t>RESULTADO</a:t>
            </a:r>
          </a:p>
        </p:txBody>
      </p:sp>
      <p:sp>
        <p:nvSpPr>
          <p:cNvPr id="42" name="horizon-outcome-3">
            <a:extLst xmlns:a="http://schemas.openxmlformats.org/drawingml/2006/main">
              <a:ext uri="{FF2B5EF4-FFF2-40B4-BE49-F238E27FC236}">
                <a16:creationId xmlns:a16="http://schemas.microsoft.com/office/drawing/2014/main" id="{BFF5C038-1433-466C-8546-531B23FF3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781425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243B53"/>
                </a:solidFill>
              </a:defRPr>
            </a:pPr>
            <a:r>
              <a:rPr sz="1350" b="0" i="0">
                <a:solidFill>
                  <a:srgbClr val="243B53"/>
                </a:solidFill>
              </a:rPr>
              <a:t>Demo reproducible, estable y sustentada con evidencia CAPSTONE.</a:t>
            </a:r>
          </a:p>
        </p:txBody>
      </p:sp>
      <p:sp>
        <p:nvSpPr>
          <p:cNvPr id="43" name="horizon-evidence-l-3">
            <a:extLst xmlns:a="http://schemas.openxmlformats.org/drawingml/2006/main">
              <a:ext uri="{FF2B5EF4-FFF2-40B4-BE49-F238E27FC236}">
                <a16:creationId xmlns:a16="http://schemas.microsoft.com/office/drawing/2014/main" id="{F533F94F-55D2-4E8B-B0EA-64F014C92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667250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 i="0">
                <a:solidFill>
                  <a:srgbClr val="D95D6A"/>
                </a:solidFill>
              </a:defRPr>
            </a:pPr>
            <a:r>
              <a:rPr sz="975" b="1" i="0">
                <a:solidFill>
                  <a:srgbClr val="D95D6A"/>
                </a:solidFill>
              </a:rPr>
              <a:t>EVIDENCIA</a:t>
            </a:r>
          </a:p>
        </p:txBody>
      </p:sp>
      <p:sp>
        <p:nvSpPr>
          <p:cNvPr id="44" name="horizon-evidence-3">
            <a:extLst xmlns:a="http://schemas.openxmlformats.org/drawingml/2006/main">
              <a:ext uri="{FF2B5EF4-FFF2-40B4-BE49-F238E27FC236}">
                <a16:creationId xmlns:a16="http://schemas.microsoft.com/office/drawing/2014/main" id="{0447E08E-723E-4033-BB89-CBCD87371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8958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486581"/>
                </a:solidFill>
              </a:defRPr>
            </a:pPr>
            <a:r>
              <a:rPr sz="1200" b="0" i="0">
                <a:solidFill>
                  <a:srgbClr val="486581"/>
                </a:solidFill>
              </a:rPr>
              <a:t>Feature freeze, documentación, contingencias, ensayos y correcciones críticas.</a:t>
            </a:r>
          </a:p>
        </p:txBody>
      </p:sp>
      <p:sp>
        <p:nvSpPr>
          <p:cNvPr id="45" name="horizon-gate-3">
            <a:extLst xmlns:a="http://schemas.openxmlformats.org/drawingml/2006/main">
              <a:ext uri="{FF2B5EF4-FFF2-40B4-BE49-F238E27FC236}">
                <a16:creationId xmlns:a16="http://schemas.microsoft.com/office/drawing/2014/main" id="{39FF6868-0AB7-4057-A416-19F85ED95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7150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D95D6A"/>
                </a:solidFill>
              </a:defRPr>
            </a:pPr>
            <a:r>
              <a:rPr sz="1050" b="1" i="0">
                <a:solidFill>
                  <a:srgbClr val="D95D6A"/>
                </a:solidFill>
              </a:rPr>
              <a:t>Gate: entrega + defensa</a:t>
            </a:r>
          </a:p>
        </p:txBody>
      </p:sp>
    </p:spTree>
    <p:extLst>
      <p:ext uri="{BB962C8B-B14F-4D97-AF65-F5344CB8AC3E}">
        <p14:creationId xmlns:p14="http://schemas.microsoft.com/office/powerpoint/2010/main" val="139690507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kicker-4">
            <a:extLst xmlns:a="http://schemas.openxmlformats.org/drawingml/2006/main">
              <a:ext uri="{FF2B5EF4-FFF2-40B4-BE49-F238E27FC236}">
                <a16:creationId xmlns:a16="http://schemas.microsoft.com/office/drawing/2014/main" id="{038E7D7B-347A-4BAB-99B5-06C8C2930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2F6BFF"/>
                </a:solidFill>
              </a:defRPr>
            </a:pPr>
            <a:r>
              <a:rPr sz="1050" b="1" i="0">
                <a:solidFill>
                  <a:srgbClr val="2F6BFF"/>
                </a:solidFill>
              </a:rPr>
              <a:t>CADENCIA DE 2 SEMANAS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ED7587C5-303F-4255-A42E-ACBD54085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57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02A43"/>
                </a:solidFill>
              </a:defRPr>
            </a:pPr>
            <a:r>
              <a:rPr sz="2850" b="1" i="0">
                <a:solidFill>
                  <a:srgbClr val="102A43"/>
                </a:solidFill>
              </a:rPr>
              <a:t>Cada sprint cierra con evidencia demostrable</a:t>
            </a:r>
          </a:p>
        </p:txBody>
      </p:sp>
      <p:sp>
        <p:nvSpPr>
          <p:cNvPr id="3" name="header-line-4">
            <a:extLst xmlns:a="http://schemas.openxmlformats.org/drawingml/2006/main">
              <a:ext uri="{FF2B5EF4-FFF2-40B4-BE49-F238E27FC236}">
                <a16:creationId xmlns:a16="http://schemas.microsoft.com/office/drawing/2014/main" id="{FFB61C67-5189-4545-8B8E-81A2A5135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4">
            <a:extLst xmlns:a="http://schemas.openxmlformats.org/drawingml/2006/main">
              <a:ext uri="{FF2B5EF4-FFF2-40B4-BE49-F238E27FC236}">
                <a16:creationId xmlns:a16="http://schemas.microsoft.com/office/drawing/2014/main" id="{5F7D2224-BAB0-4562-9FE2-2B7B16436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389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829AB1"/>
                </a:solidFill>
              </a:defRPr>
            </a:pPr>
            <a:r>
              <a:rPr sz="975" b="0" i="0">
                <a:solidFill>
                  <a:srgbClr val="829AB1"/>
                </a:solidFill>
              </a:rPr>
              <a:t>4</a:t>
            </a:r>
          </a:p>
        </p:txBody>
      </p:sp>
      <p:sp>
        <p:nvSpPr>
          <p:cNvPr id="5" name="sprint-lead">
            <a:extLst xmlns:a="http://schemas.openxmlformats.org/drawingml/2006/main">
              <a:ext uri="{FF2B5EF4-FFF2-40B4-BE49-F238E27FC236}">
                <a16:creationId xmlns:a16="http://schemas.microsoft.com/office/drawing/2014/main" id="{2603CD39-DCF5-461E-821E-1A8F2E1C3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486581"/>
                </a:solidFill>
              </a:defRPr>
            </a:pPr>
            <a:r>
              <a:rPr sz="1500" b="0" i="0">
                <a:solidFill>
                  <a:srgbClr val="486581"/>
                </a:solidFill>
              </a:rPr>
              <a:t>La capacidad no se mide por tareas iniciadas, sino por un incremento revisable y una decisión de backlog.</a:t>
            </a:r>
          </a:p>
        </p:txBody>
      </p:sp>
      <p:sp>
        <p:nvSpPr>
          <p:cNvPr id="6" name="row-label-0">
            <a:extLst xmlns:a="http://schemas.openxmlformats.org/drawingml/2006/main">
              <a:ext uri="{FF2B5EF4-FFF2-40B4-BE49-F238E27FC236}">
                <a16:creationId xmlns:a16="http://schemas.microsoft.com/office/drawing/2014/main" id="{43199384-6248-4019-91D4-3D4BE3C45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120015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2F6BFF"/>
                </a:solidFill>
              </a:defRPr>
            </a:pPr>
            <a:r>
              <a:rPr sz="1200" b="1" i="0">
                <a:solidFill>
                  <a:srgbClr val="2F6BFF"/>
                </a:solidFill>
              </a:rPr>
              <a:t>DEFINIR</a:t>
            </a:r>
          </a:p>
        </p:txBody>
      </p:sp>
      <p:sp>
        <p:nvSpPr>
          <p:cNvPr id="7" name="sprint-0-0">
            <a:extLst xmlns:a="http://schemas.openxmlformats.org/drawingml/2006/main">
              <a:ext uri="{FF2B5EF4-FFF2-40B4-BE49-F238E27FC236}">
                <a16:creationId xmlns:a16="http://schemas.microsoft.com/office/drawing/2014/main" id="{3CEF3292-99AE-4C5B-87BE-F33C5BA45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095500"/>
            <a:ext cx="2962275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8" name="sprint-accent-0-0">
            <a:extLst xmlns:a="http://schemas.openxmlformats.org/drawingml/2006/main">
              <a:ext uri="{FF2B5EF4-FFF2-40B4-BE49-F238E27FC236}">
                <a16:creationId xmlns:a16="http://schemas.microsoft.com/office/drawing/2014/main" id="{D0410AF3-6A04-463E-ABD2-11AECD129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095500"/>
            <a:ext cx="762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print-id-0-0">
            <a:extLst xmlns:a="http://schemas.openxmlformats.org/drawingml/2006/main">
              <a:ext uri="{FF2B5EF4-FFF2-40B4-BE49-F238E27FC236}">
                <a16:creationId xmlns:a16="http://schemas.microsoft.com/office/drawing/2014/main" id="{EB40DB38-29DB-445E-A033-7773BFD42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2098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2F6BFF"/>
                </a:solidFill>
              </a:defRPr>
            </a:pPr>
            <a:r>
              <a:rPr sz="1050" b="1" i="0">
                <a:solidFill>
                  <a:srgbClr val="2F6BFF"/>
                </a:solidFill>
              </a:rPr>
              <a:t>S0 · Sem. 1–2</a:t>
            </a:r>
          </a:p>
        </p:txBody>
      </p:sp>
      <p:sp>
        <p:nvSpPr>
          <p:cNvPr id="10" name="sprint-outcome-0-0">
            <a:extLst xmlns:a="http://schemas.openxmlformats.org/drawingml/2006/main">
              <a:ext uri="{FF2B5EF4-FFF2-40B4-BE49-F238E27FC236}">
                <a16:creationId xmlns:a16="http://schemas.microsoft.com/office/drawing/2014/main" id="{989E416E-FF87-4B9C-9737-D4CED2CAB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45745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102A43"/>
                </a:solidFill>
              </a:defRPr>
            </a:pPr>
            <a:r>
              <a:rPr sz="1275" b="1" i="0">
                <a:solidFill>
                  <a:srgbClr val="102A43"/>
                </a:solidFill>
              </a:rPr>
              <a:t>Visión y riesgos compartidos</a:t>
            </a:r>
          </a:p>
        </p:txBody>
      </p:sp>
      <p:sp>
        <p:nvSpPr>
          <p:cNvPr id="11" name="sprint-evidence-0-0">
            <a:extLst xmlns:a="http://schemas.openxmlformats.org/drawingml/2006/main">
              <a:ext uri="{FF2B5EF4-FFF2-40B4-BE49-F238E27FC236}">
                <a16:creationId xmlns:a16="http://schemas.microsoft.com/office/drawing/2014/main" id="{7AF4D0AB-F219-42D1-8E8D-817114C85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89560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486581"/>
                </a:solidFill>
              </a:defRPr>
            </a:pPr>
            <a:r>
              <a:rPr sz="975" b="0" i="0">
                <a:solidFill>
                  <a:srgbClr val="486581"/>
                </a:solidFill>
              </a:rPr>
              <a:t>Evidencia revisada + spikes definidos</a:t>
            </a:r>
          </a:p>
        </p:txBody>
      </p:sp>
      <p:sp>
        <p:nvSpPr>
          <p:cNvPr id="12" name="sprint-0-1">
            <a:extLst xmlns:a="http://schemas.openxmlformats.org/drawingml/2006/main">
              <a:ext uri="{FF2B5EF4-FFF2-40B4-BE49-F238E27FC236}">
                <a16:creationId xmlns:a16="http://schemas.microsoft.com/office/drawing/2014/main" id="{D099FB88-1BE5-4626-A61C-A4F3BF819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2095500"/>
            <a:ext cx="2962275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3" name="sprint-accent-0-1">
            <a:extLst xmlns:a="http://schemas.openxmlformats.org/drawingml/2006/main">
              <a:ext uri="{FF2B5EF4-FFF2-40B4-BE49-F238E27FC236}">
                <a16:creationId xmlns:a16="http://schemas.microsoft.com/office/drawing/2014/main" id="{76933DB2-F0F9-442A-AF37-905AFED31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2095500"/>
            <a:ext cx="762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sprint-id-0-1">
            <a:extLst xmlns:a="http://schemas.openxmlformats.org/drawingml/2006/main">
              <a:ext uri="{FF2B5EF4-FFF2-40B4-BE49-F238E27FC236}">
                <a16:creationId xmlns:a16="http://schemas.microsoft.com/office/drawing/2014/main" id="{81B2E90C-1E7D-4531-872B-7C28CA83C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2098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2F6BFF"/>
                </a:solidFill>
              </a:defRPr>
            </a:pPr>
            <a:r>
              <a:rPr sz="1050" b="1" i="0">
                <a:solidFill>
                  <a:srgbClr val="2F6BFF"/>
                </a:solidFill>
              </a:rPr>
              <a:t>S1 · Sem. 3–4</a:t>
            </a:r>
          </a:p>
        </p:txBody>
      </p:sp>
      <p:sp>
        <p:nvSpPr>
          <p:cNvPr id="15" name="sprint-outcome-0-1">
            <a:extLst xmlns:a="http://schemas.openxmlformats.org/drawingml/2006/main">
              <a:ext uri="{FF2B5EF4-FFF2-40B4-BE49-F238E27FC236}">
                <a16:creationId xmlns:a16="http://schemas.microsoft.com/office/drawing/2014/main" id="{9D38CE79-3090-43DC-A9BD-4EC403672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45745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102A43"/>
                </a:solidFill>
              </a:defRPr>
            </a:pPr>
            <a:r>
              <a:rPr sz="1275" b="1" i="0">
                <a:solidFill>
                  <a:srgbClr val="102A43"/>
                </a:solidFill>
              </a:rPr>
              <a:t>Alcance y diseño aprobados</a:t>
            </a:r>
          </a:p>
        </p:txBody>
      </p:sp>
      <p:sp>
        <p:nvSpPr>
          <p:cNvPr id="16" name="sprint-evidence-0-1">
            <a:extLst xmlns:a="http://schemas.openxmlformats.org/drawingml/2006/main">
              <a:ext uri="{FF2B5EF4-FFF2-40B4-BE49-F238E27FC236}">
                <a16:creationId xmlns:a16="http://schemas.microsoft.com/office/drawing/2014/main" id="{FCDA2A08-88C3-42C9-ACFE-742596E55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289560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486581"/>
                </a:solidFill>
              </a:defRPr>
            </a:pPr>
            <a:r>
              <a:rPr sz="975" b="0" i="0">
                <a:solidFill>
                  <a:srgbClr val="486581"/>
                </a:solidFill>
              </a:rPr>
              <a:t>Backlog + prototipos + arquitectura</a:t>
            </a:r>
          </a:p>
        </p:txBody>
      </p:sp>
      <p:sp>
        <p:nvSpPr>
          <p:cNvPr id="17" name="sprint-0-2">
            <a:extLst xmlns:a="http://schemas.openxmlformats.org/drawingml/2006/main">
              <a:ext uri="{FF2B5EF4-FFF2-40B4-BE49-F238E27FC236}">
                <a16:creationId xmlns:a16="http://schemas.microsoft.com/office/drawing/2014/main" id="{2827565E-2F71-4694-8A8F-EED3A3CED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095500"/>
            <a:ext cx="2962275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8" name="sprint-accent-0-2">
            <a:extLst xmlns:a="http://schemas.openxmlformats.org/drawingml/2006/main">
              <a:ext uri="{FF2B5EF4-FFF2-40B4-BE49-F238E27FC236}">
                <a16:creationId xmlns:a16="http://schemas.microsoft.com/office/drawing/2014/main" id="{588001CD-B096-4B47-B892-BDF8AA85A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095500"/>
            <a:ext cx="762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sprint-id-0-2">
            <a:extLst xmlns:a="http://schemas.openxmlformats.org/drawingml/2006/main">
              <a:ext uri="{FF2B5EF4-FFF2-40B4-BE49-F238E27FC236}">
                <a16:creationId xmlns:a16="http://schemas.microsoft.com/office/drawing/2014/main" id="{75F183C9-5086-4BFA-8766-FE1310BEF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098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2F6BFF"/>
                </a:solidFill>
              </a:defRPr>
            </a:pPr>
            <a:r>
              <a:rPr sz="1050" b="1" i="0">
                <a:solidFill>
                  <a:srgbClr val="2F6BFF"/>
                </a:solidFill>
              </a:rPr>
              <a:t>S2 · Sem. 5–6</a:t>
            </a:r>
          </a:p>
        </p:txBody>
      </p:sp>
      <p:sp>
        <p:nvSpPr>
          <p:cNvPr id="20" name="sprint-outcome-0-2">
            <a:extLst xmlns:a="http://schemas.openxmlformats.org/drawingml/2006/main">
              <a:ext uri="{FF2B5EF4-FFF2-40B4-BE49-F238E27FC236}">
                <a16:creationId xmlns:a16="http://schemas.microsoft.com/office/drawing/2014/main" id="{286C2719-2AE7-4FB8-8752-3741023E2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45745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102A43"/>
                </a:solidFill>
              </a:defRPr>
            </a:pPr>
            <a:r>
              <a:rPr sz="1275" b="1" i="0">
                <a:solidFill>
                  <a:srgbClr val="102A43"/>
                </a:solidFill>
              </a:rPr>
              <a:t>Base desplegable y autorizada</a:t>
            </a:r>
          </a:p>
        </p:txBody>
      </p:sp>
      <p:sp>
        <p:nvSpPr>
          <p:cNvPr id="21" name="sprint-evidence-0-2">
            <a:extLst xmlns:a="http://schemas.openxmlformats.org/drawingml/2006/main">
              <a:ext uri="{FF2B5EF4-FFF2-40B4-BE49-F238E27FC236}">
                <a16:creationId xmlns:a16="http://schemas.microsoft.com/office/drawing/2014/main" id="{A5447724-BEB9-4736-8D80-0A97515AE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9560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486581"/>
                </a:solidFill>
              </a:defRPr>
            </a:pPr>
            <a:r>
              <a:rPr sz="975" b="0" i="0">
                <a:solidFill>
                  <a:srgbClr val="486581"/>
                </a:solidFill>
              </a:rPr>
              <a:t>Login, roles, clase, datos, CI y Docker</a:t>
            </a:r>
          </a:p>
        </p:txBody>
      </p:sp>
      <p:sp>
        <p:nvSpPr>
          <p:cNvPr id="22" name="row-label-1">
            <a:extLst xmlns:a="http://schemas.openxmlformats.org/drawingml/2006/main">
              <a:ext uri="{FF2B5EF4-FFF2-40B4-BE49-F238E27FC236}">
                <a16:creationId xmlns:a16="http://schemas.microsoft.com/office/drawing/2014/main" id="{A8386C66-69BB-4D53-BF65-267D6C6DD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29025"/>
            <a:ext cx="120015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6F7F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0F9D8A"/>
                </a:solidFill>
              </a:defRPr>
            </a:pPr>
            <a:r>
              <a:rPr sz="1200" b="1" i="0">
                <a:solidFill>
                  <a:srgbClr val="0F9D8A"/>
                </a:solidFill>
              </a:rPr>
              <a:t>CONSTRUIR</a:t>
            </a:r>
          </a:p>
        </p:txBody>
      </p:sp>
      <p:sp>
        <p:nvSpPr>
          <p:cNvPr id="23" name="sprint-1-0">
            <a:extLst xmlns:a="http://schemas.openxmlformats.org/drawingml/2006/main">
              <a:ext uri="{FF2B5EF4-FFF2-40B4-BE49-F238E27FC236}">
                <a16:creationId xmlns:a16="http://schemas.microsoft.com/office/drawing/2014/main" id="{884D6332-B01F-45B0-95C0-D46FCEDF3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390900"/>
            <a:ext cx="2962275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4" name="sprint-accent-1-0">
            <a:extLst xmlns:a="http://schemas.openxmlformats.org/drawingml/2006/main">
              <a:ext uri="{FF2B5EF4-FFF2-40B4-BE49-F238E27FC236}">
                <a16:creationId xmlns:a16="http://schemas.microsoft.com/office/drawing/2014/main" id="{70B8C4B7-4B68-4293-BD66-166124F1E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390900"/>
            <a:ext cx="762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D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sprint-id-1-0">
            <a:extLst xmlns:a="http://schemas.openxmlformats.org/drawingml/2006/main">
              <a:ext uri="{FF2B5EF4-FFF2-40B4-BE49-F238E27FC236}">
                <a16:creationId xmlns:a16="http://schemas.microsoft.com/office/drawing/2014/main" id="{0ABB2D57-2641-4BF2-8098-7AC7BB600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5052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0F9D8A"/>
                </a:solidFill>
              </a:defRPr>
            </a:pPr>
            <a:r>
              <a:rPr sz="1050" b="1" i="0">
                <a:solidFill>
                  <a:srgbClr val="0F9D8A"/>
                </a:solidFill>
              </a:rPr>
              <a:t>S3 · Sem. 7–8</a:t>
            </a:r>
          </a:p>
        </p:txBody>
      </p:sp>
      <p:sp>
        <p:nvSpPr>
          <p:cNvPr id="26" name="sprint-outcome-1-0">
            <a:extLst xmlns:a="http://schemas.openxmlformats.org/drawingml/2006/main">
              <a:ext uri="{FF2B5EF4-FFF2-40B4-BE49-F238E27FC236}">
                <a16:creationId xmlns:a16="http://schemas.microsoft.com/office/drawing/2014/main" id="{A4F0DB0B-A696-4D87-B39A-5ABF2D14C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75285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102A43"/>
                </a:solidFill>
              </a:defRPr>
            </a:pPr>
            <a:r>
              <a:rPr sz="1275" b="1" i="0">
                <a:solidFill>
                  <a:srgbClr val="102A43"/>
                </a:solidFill>
              </a:rPr>
              <a:t>Código evaluado con test cases</a:t>
            </a:r>
          </a:p>
        </p:txBody>
      </p:sp>
      <p:sp>
        <p:nvSpPr>
          <p:cNvPr id="27" name="sprint-evidence-1-0">
            <a:extLst xmlns:a="http://schemas.openxmlformats.org/drawingml/2006/main">
              <a:ext uri="{FF2B5EF4-FFF2-40B4-BE49-F238E27FC236}">
                <a16:creationId xmlns:a16="http://schemas.microsoft.com/office/drawing/2014/main" id="{89BCA0E2-3A5D-40FB-82BB-517049988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19100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486581"/>
                </a:solidFill>
              </a:defRPr>
            </a:pPr>
            <a:r>
              <a:rPr sz="975" b="0" i="0">
                <a:solidFill>
                  <a:srgbClr val="486581"/>
                </a:solidFill>
              </a:rPr>
              <a:t>Actividad, editor, intentos y ejecutor</a:t>
            </a:r>
          </a:p>
        </p:txBody>
      </p:sp>
      <p:sp>
        <p:nvSpPr>
          <p:cNvPr id="28" name="sprint-1-1">
            <a:extLst xmlns:a="http://schemas.openxmlformats.org/drawingml/2006/main">
              <a:ext uri="{FF2B5EF4-FFF2-40B4-BE49-F238E27FC236}">
                <a16:creationId xmlns:a16="http://schemas.microsoft.com/office/drawing/2014/main" id="{93BA263E-4848-4C3A-9A15-8A89A5972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3390900"/>
            <a:ext cx="2962275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9" name="sprint-accent-1-1">
            <a:extLst xmlns:a="http://schemas.openxmlformats.org/drawingml/2006/main">
              <a:ext uri="{FF2B5EF4-FFF2-40B4-BE49-F238E27FC236}">
                <a16:creationId xmlns:a16="http://schemas.microsoft.com/office/drawing/2014/main" id="{405B2171-5D96-4A6F-8548-BACAA46E4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3390900"/>
            <a:ext cx="762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D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sprint-id-1-1">
            <a:extLst xmlns:a="http://schemas.openxmlformats.org/drawingml/2006/main">
              <a:ext uri="{FF2B5EF4-FFF2-40B4-BE49-F238E27FC236}">
                <a16:creationId xmlns:a16="http://schemas.microsoft.com/office/drawing/2014/main" id="{7C40B381-A0F2-47D6-98C4-B9085B99C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35052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0F9D8A"/>
                </a:solidFill>
              </a:defRPr>
            </a:pPr>
            <a:r>
              <a:rPr sz="1050" b="1" i="0">
                <a:solidFill>
                  <a:srgbClr val="0F9D8A"/>
                </a:solidFill>
              </a:rPr>
              <a:t>S4 · Sem. 9–10</a:t>
            </a:r>
          </a:p>
        </p:txBody>
      </p:sp>
      <p:sp>
        <p:nvSpPr>
          <p:cNvPr id="31" name="sprint-outcome-1-1">
            <a:extLst xmlns:a="http://schemas.openxmlformats.org/drawingml/2006/main">
              <a:ext uri="{FF2B5EF4-FFF2-40B4-BE49-F238E27FC236}">
                <a16:creationId xmlns:a16="http://schemas.microsoft.com/office/drawing/2014/main" id="{1CD91901-D34E-469F-B24C-1192CC45B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375285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102A43"/>
                </a:solidFill>
              </a:defRPr>
            </a:pPr>
            <a:r>
              <a:rPr sz="1275" b="1" i="0">
                <a:solidFill>
                  <a:srgbClr val="102A43"/>
                </a:solidFill>
              </a:rPr>
              <a:t>Flujo estudiante integrado</a:t>
            </a:r>
          </a:p>
        </p:txBody>
      </p:sp>
      <p:sp>
        <p:nvSpPr>
          <p:cNvPr id="32" name="sprint-evidence-1-1">
            <a:extLst xmlns:a="http://schemas.openxmlformats.org/drawingml/2006/main">
              <a:ext uri="{FF2B5EF4-FFF2-40B4-BE49-F238E27FC236}">
                <a16:creationId xmlns:a16="http://schemas.microsoft.com/office/drawing/2014/main" id="{E204BDC1-A3E3-493B-954B-011F08B5E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419100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486581"/>
                </a:solidFill>
              </a:defRPr>
            </a:pPr>
            <a:r>
              <a:rPr sz="975" b="0" i="0">
                <a:solidFill>
                  <a:srgbClr val="486581"/>
                </a:solidFill>
              </a:rPr>
              <a:t>E2E sin IA + telemetría + avance</a:t>
            </a:r>
          </a:p>
        </p:txBody>
      </p:sp>
      <p:sp>
        <p:nvSpPr>
          <p:cNvPr id="33" name="sprint-1-2">
            <a:extLst xmlns:a="http://schemas.openxmlformats.org/drawingml/2006/main">
              <a:ext uri="{FF2B5EF4-FFF2-40B4-BE49-F238E27FC236}">
                <a16:creationId xmlns:a16="http://schemas.microsoft.com/office/drawing/2014/main" id="{FE32F730-58D3-45CC-910D-E53960EB8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390900"/>
            <a:ext cx="2962275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34" name="sprint-accent-1-2">
            <a:extLst xmlns:a="http://schemas.openxmlformats.org/drawingml/2006/main">
              <a:ext uri="{FF2B5EF4-FFF2-40B4-BE49-F238E27FC236}">
                <a16:creationId xmlns:a16="http://schemas.microsoft.com/office/drawing/2014/main" id="{09AB0B07-BE37-4D5E-959A-C65A62182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390900"/>
            <a:ext cx="762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9D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sprint-id-1-2">
            <a:extLst xmlns:a="http://schemas.openxmlformats.org/drawingml/2006/main">
              <a:ext uri="{FF2B5EF4-FFF2-40B4-BE49-F238E27FC236}">
                <a16:creationId xmlns:a16="http://schemas.microsoft.com/office/drawing/2014/main" id="{D2A4270C-5315-4399-8496-1CC1DD558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5052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0F9D8A"/>
                </a:solidFill>
              </a:defRPr>
            </a:pPr>
            <a:r>
              <a:rPr sz="1050" b="1" i="0">
                <a:solidFill>
                  <a:srgbClr val="0F9D8A"/>
                </a:solidFill>
              </a:rPr>
              <a:t>S5 · Sem. 11–12</a:t>
            </a:r>
          </a:p>
        </p:txBody>
      </p:sp>
      <p:sp>
        <p:nvSpPr>
          <p:cNvPr id="36" name="sprint-outcome-1-2">
            <a:extLst xmlns:a="http://schemas.openxmlformats.org/drawingml/2006/main">
              <a:ext uri="{FF2B5EF4-FFF2-40B4-BE49-F238E27FC236}">
                <a16:creationId xmlns:a16="http://schemas.microsoft.com/office/drawing/2014/main" id="{4D5977DE-8D1A-42B1-B2CE-DB634335D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75285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102A43"/>
                </a:solidFill>
              </a:defRPr>
            </a:pPr>
            <a:r>
              <a:rPr sz="1275" b="1" i="0">
                <a:solidFill>
                  <a:srgbClr val="102A43"/>
                </a:solidFill>
              </a:rPr>
              <a:t>Feedback citado y resistente a fallos</a:t>
            </a:r>
          </a:p>
        </p:txBody>
      </p:sp>
      <p:sp>
        <p:nvSpPr>
          <p:cNvPr id="37" name="sprint-evidence-1-2">
            <a:extLst xmlns:a="http://schemas.openxmlformats.org/drawingml/2006/main">
              <a:ext uri="{FF2B5EF4-FFF2-40B4-BE49-F238E27FC236}">
                <a16:creationId xmlns:a16="http://schemas.microsoft.com/office/drawing/2014/main" id="{2AD21072-026F-4B82-BCF5-86A31BDDD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19100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486581"/>
                </a:solidFill>
              </a:defRPr>
            </a:pPr>
            <a:r>
              <a:rPr sz="975" b="0" i="0">
                <a:solidFill>
                  <a:srgbClr val="486581"/>
                </a:solidFill>
              </a:rPr>
              <a:t>Taxonomía, pistas y RAG mínimo</a:t>
            </a:r>
          </a:p>
        </p:txBody>
      </p:sp>
      <p:sp>
        <p:nvSpPr>
          <p:cNvPr id="38" name="row-label-2">
            <a:extLst xmlns:a="http://schemas.openxmlformats.org/drawingml/2006/main">
              <a:ext uri="{FF2B5EF4-FFF2-40B4-BE49-F238E27FC236}">
                <a16:creationId xmlns:a16="http://schemas.microsoft.com/office/drawing/2014/main" id="{92B6C6CD-84B1-4CFE-811A-4DBAEC585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24425"/>
            <a:ext cx="120015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DECE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D95D6A"/>
                </a:solidFill>
              </a:defRPr>
            </a:pPr>
            <a:r>
              <a:rPr sz="1200" b="1" i="0">
                <a:solidFill>
                  <a:srgbClr val="D95D6A"/>
                </a:solidFill>
              </a:rPr>
              <a:t>VALIDAR</a:t>
            </a:r>
          </a:p>
        </p:txBody>
      </p:sp>
      <p:sp>
        <p:nvSpPr>
          <p:cNvPr id="39" name="sprint-2-0">
            <a:extLst xmlns:a="http://schemas.openxmlformats.org/drawingml/2006/main">
              <a:ext uri="{FF2B5EF4-FFF2-40B4-BE49-F238E27FC236}">
                <a16:creationId xmlns:a16="http://schemas.microsoft.com/office/drawing/2014/main" id="{ADDAA3FE-14BE-4969-A777-35CF48B29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686300"/>
            <a:ext cx="2962275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40" name="sprint-accent-2-0">
            <a:extLst xmlns:a="http://schemas.openxmlformats.org/drawingml/2006/main">
              <a:ext uri="{FF2B5EF4-FFF2-40B4-BE49-F238E27FC236}">
                <a16:creationId xmlns:a16="http://schemas.microsoft.com/office/drawing/2014/main" id="{015D6895-3E77-4B35-A736-784EF56FF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686300"/>
            <a:ext cx="762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5D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sprint-id-2-0">
            <a:extLst xmlns:a="http://schemas.openxmlformats.org/drawingml/2006/main">
              <a:ext uri="{FF2B5EF4-FFF2-40B4-BE49-F238E27FC236}">
                <a16:creationId xmlns:a16="http://schemas.microsoft.com/office/drawing/2014/main" id="{C0386C84-C017-4884-B9E1-5BCC483E7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8006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D95D6A"/>
                </a:solidFill>
              </a:defRPr>
            </a:pPr>
            <a:r>
              <a:rPr sz="1050" b="1" i="0">
                <a:solidFill>
                  <a:srgbClr val="D95D6A"/>
                </a:solidFill>
              </a:rPr>
              <a:t>S6 · Sem. 13–14</a:t>
            </a:r>
          </a:p>
        </p:txBody>
      </p:sp>
      <p:sp>
        <p:nvSpPr>
          <p:cNvPr id="42" name="sprint-outcome-2-0">
            <a:extLst xmlns:a="http://schemas.openxmlformats.org/drawingml/2006/main">
              <a:ext uri="{FF2B5EF4-FFF2-40B4-BE49-F238E27FC236}">
                <a16:creationId xmlns:a16="http://schemas.microsoft.com/office/drawing/2014/main" id="{A6883114-A90F-476E-86E2-E34E530AD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04825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102A43"/>
                </a:solidFill>
              </a:defRPr>
            </a:pPr>
            <a:r>
              <a:rPr sz="1275" b="1" i="0">
                <a:solidFill>
                  <a:srgbClr val="102A43"/>
                </a:solidFill>
              </a:rPr>
              <a:t>Docente ve patrones accionables</a:t>
            </a:r>
          </a:p>
        </p:txBody>
      </p:sp>
      <p:sp>
        <p:nvSpPr>
          <p:cNvPr id="43" name="sprint-evidence-2-0">
            <a:extLst xmlns:a="http://schemas.openxmlformats.org/drawingml/2006/main">
              <a:ext uri="{FF2B5EF4-FFF2-40B4-BE49-F238E27FC236}">
                <a16:creationId xmlns:a16="http://schemas.microsoft.com/office/drawing/2014/main" id="{8BF94E2A-17D0-4A5F-9F6C-36BD725F1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48640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486581"/>
                </a:solidFill>
              </a:defRPr>
            </a:pPr>
            <a:r>
              <a:rPr sz="975" b="0" i="0">
                <a:solidFill>
                  <a:srgbClr val="486581"/>
                </a:solidFill>
              </a:rPr>
              <a:t>Dashboard + 3 señales + pruebas</a:t>
            </a:r>
          </a:p>
        </p:txBody>
      </p:sp>
      <p:sp>
        <p:nvSpPr>
          <p:cNvPr id="44" name="sprint-2-1">
            <a:extLst xmlns:a="http://schemas.openxmlformats.org/drawingml/2006/main">
              <a:ext uri="{FF2B5EF4-FFF2-40B4-BE49-F238E27FC236}">
                <a16:creationId xmlns:a16="http://schemas.microsoft.com/office/drawing/2014/main" id="{3B011257-57CD-4A4F-92F9-93E4F5347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4686300"/>
            <a:ext cx="2962275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45" name="sprint-accent-2-1">
            <a:extLst xmlns:a="http://schemas.openxmlformats.org/drawingml/2006/main">
              <a:ext uri="{FF2B5EF4-FFF2-40B4-BE49-F238E27FC236}">
                <a16:creationId xmlns:a16="http://schemas.microsoft.com/office/drawing/2014/main" id="{D17DB2E2-18FD-45D1-87CD-D4D1A38B2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4686300"/>
            <a:ext cx="762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5D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sprint-id-2-1">
            <a:extLst xmlns:a="http://schemas.openxmlformats.org/drawingml/2006/main">
              <a:ext uri="{FF2B5EF4-FFF2-40B4-BE49-F238E27FC236}">
                <a16:creationId xmlns:a16="http://schemas.microsoft.com/office/drawing/2014/main" id="{45429751-D8F6-4C79-9329-C3F29DF2A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48006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D95D6A"/>
                </a:solidFill>
              </a:defRPr>
            </a:pPr>
            <a:r>
              <a:rPr sz="1050" b="1" i="0">
                <a:solidFill>
                  <a:srgbClr val="D95D6A"/>
                </a:solidFill>
              </a:rPr>
              <a:t>S7 · Sem. 15–16</a:t>
            </a:r>
          </a:p>
        </p:txBody>
      </p:sp>
      <p:sp>
        <p:nvSpPr>
          <p:cNvPr id="47" name="sprint-outcome-2-1">
            <a:extLst xmlns:a="http://schemas.openxmlformats.org/drawingml/2006/main">
              <a:ext uri="{FF2B5EF4-FFF2-40B4-BE49-F238E27FC236}">
                <a16:creationId xmlns:a16="http://schemas.microsoft.com/office/drawing/2014/main" id="{A72443EE-BE83-4A8C-B55A-E0A44326A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504825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102A43"/>
                </a:solidFill>
              </a:defRPr>
            </a:pPr>
            <a:r>
              <a:rPr sz="1275" b="1" i="0">
                <a:solidFill>
                  <a:srgbClr val="102A43"/>
                </a:solidFill>
              </a:rPr>
              <a:t>Release candidate reproducible</a:t>
            </a:r>
          </a:p>
        </p:txBody>
      </p:sp>
      <p:sp>
        <p:nvSpPr>
          <p:cNvPr id="48" name="sprint-evidence-2-1">
            <a:extLst xmlns:a="http://schemas.openxmlformats.org/drawingml/2006/main">
              <a:ext uri="{FF2B5EF4-FFF2-40B4-BE49-F238E27FC236}">
                <a16:creationId xmlns:a16="http://schemas.microsoft.com/office/drawing/2014/main" id="{9B911EB4-6F27-43BD-8273-678ECA62B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548640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486581"/>
                </a:solidFill>
              </a:defRPr>
            </a:pPr>
            <a:r>
              <a:rPr sz="975" b="0" i="0">
                <a:solidFill>
                  <a:srgbClr val="486581"/>
                </a:solidFill>
              </a:rPr>
              <a:t>Freeze, informe, docs y contingencias</a:t>
            </a:r>
          </a:p>
        </p:txBody>
      </p:sp>
      <p:sp>
        <p:nvSpPr>
          <p:cNvPr id="49" name="sprint-2-2">
            <a:extLst xmlns:a="http://schemas.openxmlformats.org/drawingml/2006/main">
              <a:ext uri="{FF2B5EF4-FFF2-40B4-BE49-F238E27FC236}">
                <a16:creationId xmlns:a16="http://schemas.microsoft.com/office/drawing/2014/main" id="{21AD7BA8-FA17-4549-92C0-0733213A8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686300"/>
            <a:ext cx="2962275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BFCFE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0" name="sprint-accent-2-2">
            <a:extLst xmlns:a="http://schemas.openxmlformats.org/drawingml/2006/main">
              <a:ext uri="{FF2B5EF4-FFF2-40B4-BE49-F238E27FC236}">
                <a16:creationId xmlns:a16="http://schemas.microsoft.com/office/drawing/2014/main" id="{08392FF5-B469-4674-B201-01800D29F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686300"/>
            <a:ext cx="762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5D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sprint-id-2-2">
            <a:extLst xmlns:a="http://schemas.openxmlformats.org/drawingml/2006/main">
              <a:ext uri="{FF2B5EF4-FFF2-40B4-BE49-F238E27FC236}">
                <a16:creationId xmlns:a16="http://schemas.microsoft.com/office/drawing/2014/main" id="{3D3538E0-0DBA-4B1C-8DE9-A197CC267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8006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D95D6A"/>
                </a:solidFill>
              </a:defRPr>
            </a:pPr>
            <a:r>
              <a:rPr sz="1050" b="1" i="0">
                <a:solidFill>
                  <a:srgbClr val="D95D6A"/>
                </a:solidFill>
              </a:rPr>
              <a:t>S8 · Sem. 17–18</a:t>
            </a:r>
          </a:p>
        </p:txBody>
      </p:sp>
      <p:sp>
        <p:nvSpPr>
          <p:cNvPr id="52" name="sprint-outcome-2-2">
            <a:extLst xmlns:a="http://schemas.openxmlformats.org/drawingml/2006/main">
              <a:ext uri="{FF2B5EF4-FFF2-40B4-BE49-F238E27FC236}">
                <a16:creationId xmlns:a16="http://schemas.microsoft.com/office/drawing/2014/main" id="{4E937A62-1201-4745-9F2B-2781D9C11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04825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102A43"/>
                </a:solidFill>
              </a:defRPr>
            </a:pPr>
            <a:r>
              <a:rPr sz="1275" b="1" i="0">
                <a:solidFill>
                  <a:srgbClr val="102A43"/>
                </a:solidFill>
              </a:rPr>
              <a:t>Demo estable y defendible</a:t>
            </a:r>
          </a:p>
        </p:txBody>
      </p:sp>
      <p:sp>
        <p:nvSpPr>
          <p:cNvPr id="53" name="sprint-evidence-2-2">
            <a:extLst xmlns:a="http://schemas.openxmlformats.org/drawingml/2006/main">
              <a:ext uri="{FF2B5EF4-FFF2-40B4-BE49-F238E27FC236}">
                <a16:creationId xmlns:a16="http://schemas.microsoft.com/office/drawing/2014/main" id="{34DEC8F6-9CD9-4109-90D7-CF6AEABE0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48640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486581"/>
                </a:solidFill>
              </a:defRPr>
            </a:pPr>
            <a:r>
              <a:rPr sz="975" b="0" i="0">
                <a:solidFill>
                  <a:srgbClr val="486581"/>
                </a:solidFill>
              </a:rPr>
              <a:t>Ensayos, defensa y cierre de evidencias</a:t>
            </a:r>
          </a:p>
        </p:txBody>
      </p:sp>
    </p:spTree>
    <p:extLst>
      <p:ext uri="{BB962C8B-B14F-4D97-AF65-F5344CB8AC3E}">
        <p14:creationId xmlns:p14="http://schemas.microsoft.com/office/powerpoint/2010/main" val="76189113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C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kicker-5">
            <a:extLst xmlns:a="http://schemas.openxmlformats.org/drawingml/2006/main">
              <a:ext uri="{FF2B5EF4-FFF2-40B4-BE49-F238E27FC236}">
                <a16:creationId xmlns:a16="http://schemas.microsoft.com/office/drawing/2014/main" id="{DED7B337-9D62-4986-8EBB-533CAB7FA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2F6BFF"/>
                </a:solidFill>
              </a:defRPr>
            </a:pPr>
            <a:r>
              <a:rPr sz="1050" b="1" i="0">
                <a:solidFill>
                  <a:srgbClr val="2F6BFF"/>
                </a:solidFill>
              </a:rPr>
              <a:t>GUARDRAILS MOSCOW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CAC53C24-E810-4646-BC6A-6F70ED1C8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57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02A43"/>
                </a:solidFill>
              </a:defRPr>
            </a:pPr>
            <a:r>
              <a:rPr sz="2850" b="1" i="0">
                <a:solidFill>
                  <a:srgbClr val="102A43"/>
                </a:solidFill>
              </a:rPr>
              <a:t>El MVP se protege con un orden estricto de alcance</a:t>
            </a:r>
          </a:p>
        </p:txBody>
      </p:sp>
      <p:sp>
        <p:nvSpPr>
          <p:cNvPr id="3" name="header-line-5">
            <a:extLst xmlns:a="http://schemas.openxmlformats.org/drawingml/2006/main">
              <a:ext uri="{FF2B5EF4-FFF2-40B4-BE49-F238E27FC236}">
                <a16:creationId xmlns:a16="http://schemas.microsoft.com/office/drawing/2014/main" id="{F701F138-B9CB-462E-9077-C5C25A610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5">
            <a:extLst xmlns:a="http://schemas.openxmlformats.org/drawingml/2006/main">
              <a:ext uri="{FF2B5EF4-FFF2-40B4-BE49-F238E27FC236}">
                <a16:creationId xmlns:a16="http://schemas.microsoft.com/office/drawing/2014/main" id="{BA4CA325-A18E-4422-9920-76451196D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389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829AB1"/>
                </a:solidFill>
              </a:defRPr>
            </a:pPr>
            <a:r>
              <a:rPr sz="975" b="0" i="0">
                <a:solidFill>
                  <a:srgbClr val="829AB1"/>
                </a:solidFill>
              </a:rPr>
              <a:t>5</a:t>
            </a:r>
          </a:p>
        </p:txBody>
      </p:sp>
      <p:sp>
        <p:nvSpPr>
          <p:cNvPr id="5" name="scope-lead">
            <a:extLst xmlns:a="http://schemas.openxmlformats.org/drawingml/2006/main">
              <a:ext uri="{FF2B5EF4-FFF2-40B4-BE49-F238E27FC236}">
                <a16:creationId xmlns:a16="http://schemas.microsoft.com/office/drawing/2014/main" id="{7329971C-C240-4730-878B-2250CAF07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486581"/>
                </a:solidFill>
              </a:defRPr>
            </a:pPr>
            <a:r>
              <a:rPr sz="1500" b="0" i="0">
                <a:solidFill>
                  <a:srgbClr val="486581"/>
                </a:solidFill>
              </a:rPr>
              <a:t>Las extensiones solo avanzan cuando la vertical obligatoria está integrada, probada y demostrable.</a:t>
            </a:r>
          </a:p>
        </p:txBody>
      </p:sp>
      <p:sp>
        <p:nvSpPr>
          <p:cNvPr id="6" name="could-ring">
            <a:extLst xmlns:a="http://schemas.openxmlformats.org/drawingml/2006/main">
              <a:ext uri="{FF2B5EF4-FFF2-40B4-BE49-F238E27FC236}">
                <a16:creationId xmlns:a16="http://schemas.microsoft.com/office/drawing/2014/main" id="{C9A89127-DBF5-48DD-B5F1-B5C0C5CD3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09775"/>
            <a:ext cx="4476750" cy="400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BCCCDC"/>
            </a:solidFill>
            <a:prstDash val="solid"/>
          </a:ln>
        </p:spPr>
      </p:sp>
      <p:sp>
        <p:nvSpPr>
          <p:cNvPr id="7" name="should-ring">
            <a:extLst xmlns:a="http://schemas.openxmlformats.org/drawingml/2006/main">
              <a:ext uri="{FF2B5EF4-FFF2-40B4-BE49-F238E27FC236}">
                <a16:creationId xmlns:a16="http://schemas.microsoft.com/office/drawing/2014/main" id="{23DEAFF9-7724-47AC-8F5A-089B731C0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2486025"/>
            <a:ext cx="3352800" cy="3048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6F7F3"/>
          </a:solidFill>
          <a:ln xmlns:a="http://schemas.openxmlformats.org/drawingml/2006/main" w="28575">
            <a:solidFill>
              <a:srgbClr val="0F9D8A"/>
            </a:solidFill>
            <a:prstDash val="solid"/>
          </a:ln>
        </p:spPr>
      </p:sp>
      <p:sp>
        <p:nvSpPr>
          <p:cNvPr id="8" name="must-core">
            <a:extLst xmlns:a="http://schemas.openxmlformats.org/drawingml/2006/main">
              <a:ext uri="{FF2B5EF4-FFF2-40B4-BE49-F238E27FC236}">
                <a16:creationId xmlns:a16="http://schemas.microsoft.com/office/drawing/2014/main" id="{8F61E541-D761-49BF-8E09-1EF366905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009900"/>
            <a:ext cx="2114550" cy="2000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19050">
            <a:solidFill>
              <a:srgbClr val="2F6BFF"/>
            </a:solidFill>
            <a:prstDash val="solid"/>
          </a:ln>
        </p:spPr>
      </p:sp>
      <p:sp>
        <p:nvSpPr>
          <p:cNvPr id="9" name="could-label">
            <a:extLst xmlns:a="http://schemas.openxmlformats.org/drawingml/2006/main">
              <a:ext uri="{FF2B5EF4-FFF2-40B4-BE49-F238E27FC236}">
                <a16:creationId xmlns:a16="http://schemas.microsoft.com/office/drawing/2014/main" id="{A56328E4-97CA-459B-81A1-367BC2C24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0980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829AB1"/>
                </a:solidFill>
              </a:defRPr>
            </a:pPr>
            <a:r>
              <a:rPr sz="1200" b="1" i="0">
                <a:solidFill>
                  <a:srgbClr val="829AB1"/>
                </a:solidFill>
              </a:rPr>
              <a:t>COULD</a:t>
            </a:r>
          </a:p>
        </p:txBody>
      </p:sp>
      <p:sp>
        <p:nvSpPr>
          <p:cNvPr id="10" name="should-label">
            <a:extLst xmlns:a="http://schemas.openxmlformats.org/drawingml/2006/main">
              <a:ext uri="{FF2B5EF4-FFF2-40B4-BE49-F238E27FC236}">
                <a16:creationId xmlns:a16="http://schemas.microsoft.com/office/drawing/2014/main" id="{DE149B7E-E069-4C5B-A080-299E932B8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6479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0F9D8A"/>
                </a:solidFill>
              </a:defRPr>
            </a:pPr>
            <a:r>
              <a:rPr sz="1200" b="1" i="0">
                <a:solidFill>
                  <a:srgbClr val="0F9D8A"/>
                </a:solidFill>
              </a:rPr>
              <a:t>SHOULD</a:t>
            </a:r>
          </a:p>
        </p:txBody>
      </p:sp>
      <p:sp>
        <p:nvSpPr>
          <p:cNvPr id="11" name="must-label">
            <a:extLst xmlns:a="http://schemas.openxmlformats.org/drawingml/2006/main">
              <a:ext uri="{FF2B5EF4-FFF2-40B4-BE49-F238E27FC236}">
                <a16:creationId xmlns:a16="http://schemas.microsoft.com/office/drawing/2014/main" id="{72A2C005-D213-4A7E-9706-95CD5E379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3381375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</a:defRPr>
            </a:pPr>
            <a:r>
              <a:rPr sz="1275" b="1" i="0">
                <a:solidFill>
                  <a:srgbClr val="FFFFFF"/>
                </a:solidFill>
              </a:rPr>
              <a:t>MUST HAVE</a:t>
            </a:r>
          </a:p>
        </p:txBody>
      </p:sp>
      <p:sp>
        <p:nvSpPr>
          <p:cNvPr id="12" name="must-copy">
            <a:extLst xmlns:a="http://schemas.openxmlformats.org/drawingml/2006/main">
              <a:ext uri="{FF2B5EF4-FFF2-40B4-BE49-F238E27FC236}">
                <a16:creationId xmlns:a16="http://schemas.microsoft.com/office/drawing/2014/main" id="{C11BEC2F-2AB2-4D78-9A7F-D4705BE4A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695700"/>
            <a:ext cx="1571625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</a:defRPr>
            </a:pPr>
            <a:r>
              <a:rPr sz="1275" b="1" i="0">
                <a:solidFill>
                  <a:srgbClr val="FFFFFF"/>
                </a:solidFill>
              </a:rPr>
              <a:t>Vertical E2E</a:t>
            </a:r>
          </a:p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</a:defRPr>
            </a:pPr>
            <a:r>
              <a:rPr sz="1275" b="1" i="0">
                <a:solidFill>
                  <a:srgbClr val="FFFFFF"/>
                </a:solidFill>
              </a:rPr>
              <a:t>+ evaluación</a:t>
            </a:r>
          </a:p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</a:defRPr>
            </a:pPr>
            <a:r>
              <a:rPr sz="1275" b="1" i="0">
                <a:solidFill>
                  <a:srgbClr val="FFFFFF"/>
                </a:solidFill>
              </a:rPr>
              <a:t>determinística</a:t>
            </a:r>
          </a:p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</a:defRPr>
            </a:pPr>
            <a:r>
              <a:rPr sz="1275" b="1" i="0">
                <a:solidFill>
                  <a:srgbClr val="FFFFFF"/>
                </a:solidFill>
              </a:rPr>
              <a:t>+ RAG mínimo</a:t>
            </a:r>
          </a:p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</a:defRPr>
            </a:pPr>
            <a:r>
              <a:rPr sz="1275" b="1" i="0">
                <a:solidFill>
                  <a:srgbClr val="FFFFFF"/>
                </a:solidFill>
              </a:rPr>
              <a:t>+ 3 señales</a:t>
            </a:r>
          </a:p>
        </p:txBody>
      </p:sp>
      <p:sp>
        <p:nvSpPr>
          <p:cNvPr id="13" name="should-copy">
            <a:extLst xmlns:a="http://schemas.openxmlformats.org/drawingml/2006/main">
              <a:ext uri="{FF2B5EF4-FFF2-40B4-BE49-F238E27FC236}">
                <a16:creationId xmlns:a16="http://schemas.microsoft.com/office/drawing/2014/main" id="{89DBCF74-4DC4-4AE5-A344-3715D315C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019675"/>
            <a:ext cx="3000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0F9D8A"/>
                </a:solidFill>
              </a:defRPr>
            </a:pPr>
            <a:r>
              <a:rPr sz="1050" b="1" i="0">
                <a:solidFill>
                  <a:srgbClr val="0F9D8A"/>
                </a:solidFill>
              </a:rPr>
              <a:t>Carga UI · progreso visual</a:t>
            </a:r>
          </a:p>
          <a:p xmlns:a="http://schemas.openxmlformats.org/drawingml/2006/main">
            <a:pPr algn="ctr">
              <a:buNone/>
              <a:defRPr sz="1050" b="1" i="0">
                <a:solidFill>
                  <a:srgbClr val="0F9D8A"/>
                </a:solidFill>
              </a:defRPr>
            </a:pPr>
            <a:r>
              <a:rPr sz="1050" b="1" i="0">
                <a:solidFill>
                  <a:srgbClr val="0F9D8A"/>
                </a:solidFill>
              </a:rPr>
              <a:t>filtros · costo/latencia</a:t>
            </a:r>
          </a:p>
        </p:txBody>
      </p:sp>
      <p:sp>
        <p:nvSpPr>
          <p:cNvPr id="14" name="could-copy">
            <a:extLst xmlns:a="http://schemas.openxmlformats.org/drawingml/2006/main">
              <a:ext uri="{FF2B5EF4-FFF2-40B4-BE49-F238E27FC236}">
                <a16:creationId xmlns:a16="http://schemas.microsoft.com/office/drawing/2014/main" id="{15705F40-2F05-46E8-B8E9-8DB014920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581650"/>
            <a:ext cx="4095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75" b="0" i="0">
                <a:solidFill>
                  <a:srgbClr val="486581"/>
                </a:solidFill>
              </a:defRPr>
            </a:pPr>
            <a:r>
              <a:rPr sz="975" b="0" i="0">
                <a:solidFill>
                  <a:srgbClr val="486581"/>
                </a:solidFill>
              </a:rPr>
              <a:t>Chat docente · más ejercicios · RAG avanzado</a:t>
            </a:r>
          </a:p>
          <a:p xmlns:a="http://schemas.openxmlformats.org/drawingml/2006/main">
            <a:pPr algn="ctr">
              <a:buNone/>
              <a:defRPr sz="975" b="0" i="0">
                <a:solidFill>
                  <a:srgbClr val="486581"/>
                </a:solidFill>
              </a:defRPr>
            </a:pPr>
            <a:r>
              <a:rPr sz="975" b="0" i="0">
                <a:solidFill>
                  <a:srgbClr val="486581"/>
                </a:solidFill>
              </a:rPr>
              <a:t>adaptación · multi-organización · gamificación</a:t>
            </a:r>
          </a:p>
        </p:txBody>
      </p:sp>
      <p:sp>
        <p:nvSpPr>
          <p:cNvPr id="15" name="wont-rail">
            <a:extLst xmlns:a="http://schemas.openxmlformats.org/drawingml/2006/main">
              <a:ext uri="{FF2B5EF4-FFF2-40B4-BE49-F238E27FC236}">
                <a16:creationId xmlns:a16="http://schemas.microsoft.com/office/drawing/2014/main" id="{2CCA7A62-0CC4-4281-9D32-3CE60056E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095500"/>
            <a:ext cx="57150" cy="388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5D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wont-title">
            <a:extLst xmlns:a="http://schemas.openxmlformats.org/drawingml/2006/main">
              <a:ext uri="{FF2B5EF4-FFF2-40B4-BE49-F238E27FC236}">
                <a16:creationId xmlns:a16="http://schemas.microsoft.com/office/drawing/2014/main" id="{C2DF620A-4DD7-4AB0-80A1-363D43A0F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095500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D95D6A"/>
                </a:solidFill>
              </a:defRPr>
            </a:pPr>
            <a:r>
              <a:rPr sz="1575" b="1" i="0">
                <a:solidFill>
                  <a:srgbClr val="D95D6A"/>
                </a:solidFill>
              </a:rPr>
              <a:t>WON'T HAVE EN ESTE MVP</a:t>
            </a:r>
          </a:p>
        </p:txBody>
      </p:sp>
      <p:sp>
        <p:nvSpPr>
          <p:cNvPr id="17" name="wont-copy">
            <a:extLst xmlns:a="http://schemas.openxmlformats.org/drawingml/2006/main">
              <a:ext uri="{FF2B5EF4-FFF2-40B4-BE49-F238E27FC236}">
                <a16:creationId xmlns:a16="http://schemas.microsoft.com/office/drawing/2014/main" id="{F7979666-C940-4702-9427-994F8A7AA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19375"/>
            <a:ext cx="476250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LMS completo o app móvil nativa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SSO, pagos, clases en vivo o red social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Proyectos de código completos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Detector de plagio o de uso de IA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Calificación automática de alto impacto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Modelos propios, multiagente o analítica institucional avanzada</a:t>
            </a:r>
          </a:p>
        </p:txBody>
      </p:sp>
      <p:sp>
        <p:nvSpPr>
          <p:cNvPr id="18" name="scope-rule">
            <a:extLst xmlns:a="http://schemas.openxmlformats.org/drawingml/2006/main">
              <a:ext uri="{FF2B5EF4-FFF2-40B4-BE49-F238E27FC236}">
                <a16:creationId xmlns:a16="http://schemas.microsoft.com/office/drawing/2014/main" id="{50763CE7-2720-43E7-870D-393B1F47C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8768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D95D6A"/>
                </a:solidFill>
              </a:defRPr>
            </a:pPr>
            <a:r>
              <a:rPr sz="1125" b="1" i="0">
                <a:solidFill>
                  <a:srgbClr val="D95D6A"/>
                </a:solidFill>
              </a:rPr>
              <a:t>Regla de corte</a:t>
            </a:r>
          </a:p>
        </p:txBody>
      </p:sp>
      <p:sp>
        <p:nvSpPr>
          <p:cNvPr id="19" name="scope-rule-copy">
            <a:extLst xmlns:a="http://schemas.openxmlformats.org/drawingml/2006/main">
              <a:ext uri="{FF2B5EF4-FFF2-40B4-BE49-F238E27FC236}">
                <a16:creationId xmlns:a16="http://schemas.microsoft.com/office/drawing/2014/main" id="{6353756D-656E-4FD8-93F7-D2B6693DE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181600"/>
            <a:ext cx="4762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Si una capacidad opcional amenaza el flujo principal, vuelve al Product Backlog.</a:t>
            </a:r>
          </a:p>
        </p:txBody>
      </p:sp>
    </p:spTree>
    <p:extLst>
      <p:ext uri="{BB962C8B-B14F-4D97-AF65-F5344CB8AC3E}">
        <p14:creationId xmlns:p14="http://schemas.microsoft.com/office/powerpoint/2010/main" val="88985051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kicker-6">
            <a:extLst xmlns:a="http://schemas.openxmlformats.org/drawingml/2006/main">
              <a:ext uri="{FF2B5EF4-FFF2-40B4-BE49-F238E27FC236}">
                <a16:creationId xmlns:a16="http://schemas.microsoft.com/office/drawing/2014/main" id="{41D8B78B-D673-4F92-B8EA-E72B20FB2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2F6BFF"/>
                </a:solidFill>
              </a:defRPr>
            </a:pPr>
            <a:r>
              <a:rPr sz="1050" b="1" i="0">
                <a:solidFill>
                  <a:srgbClr val="2F6BFF"/>
                </a:solidFill>
              </a:rPr>
              <a:t>GOBERNANZA ACADÉMICA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B7EE9EEE-A977-409A-8ADA-49F98BC6C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57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02A43"/>
                </a:solidFill>
              </a:defRPr>
            </a:pPr>
            <a:r>
              <a:rPr sz="2850" b="1" i="0">
                <a:solidFill>
                  <a:srgbClr val="102A43"/>
                </a:solidFill>
              </a:rPr>
              <a:t>Los hitos CAPSTONE son puertas de evidencia</a:t>
            </a:r>
          </a:p>
        </p:txBody>
      </p:sp>
      <p:sp>
        <p:nvSpPr>
          <p:cNvPr id="3" name="header-line-6">
            <a:extLst xmlns:a="http://schemas.openxmlformats.org/drawingml/2006/main">
              <a:ext uri="{FF2B5EF4-FFF2-40B4-BE49-F238E27FC236}">
                <a16:creationId xmlns:a16="http://schemas.microsoft.com/office/drawing/2014/main" id="{AF292BD7-E4A1-40AB-B9E1-8DEB263B2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6">
            <a:extLst xmlns:a="http://schemas.openxmlformats.org/drawingml/2006/main">
              <a:ext uri="{FF2B5EF4-FFF2-40B4-BE49-F238E27FC236}">
                <a16:creationId xmlns:a16="http://schemas.microsoft.com/office/drawing/2014/main" id="{C8859CFA-7B6A-4BCF-827A-1B8C174C3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389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829AB1"/>
                </a:solidFill>
              </a:defRPr>
            </a:pPr>
            <a:r>
              <a:rPr sz="975" b="0" i="0">
                <a:solidFill>
                  <a:srgbClr val="829AB1"/>
                </a:solidFill>
              </a:rPr>
              <a:t>6</a:t>
            </a:r>
          </a:p>
        </p:txBody>
      </p:sp>
      <p:sp>
        <p:nvSpPr>
          <p:cNvPr id="5" name="gates-lead">
            <a:extLst xmlns:a="http://schemas.openxmlformats.org/drawingml/2006/main">
              <a:ext uri="{FF2B5EF4-FFF2-40B4-BE49-F238E27FC236}">
                <a16:creationId xmlns:a16="http://schemas.microsoft.com/office/drawing/2014/main" id="{10FBEF50-316E-4868-8FC5-4A2A5218E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57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486581"/>
                </a:solidFill>
              </a:defRPr>
            </a:pPr>
            <a:r>
              <a:rPr sz="1500" b="0" i="0">
                <a:solidFill>
                  <a:srgbClr val="486581"/>
                </a:solidFill>
              </a:rPr>
              <a:t>Las fechas condicionan la demostración y la documentación; no congelan el detalle de todos los sprints.</a:t>
            </a:r>
          </a:p>
        </p:txBody>
      </p:sp>
      <p:sp>
        <p:nvSpPr>
          <p:cNvPr id="6" name="gate-line">
            <a:extLst xmlns:a="http://schemas.openxmlformats.org/drawingml/2006/main">
              <a:ext uri="{FF2B5EF4-FFF2-40B4-BE49-F238E27FC236}">
                <a16:creationId xmlns:a16="http://schemas.microsoft.com/office/drawing/2014/main" id="{7F9F0316-2509-4C24-A3C1-17D51E48E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495550"/>
            <a:ext cx="9334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gate-diamond-0">
            <a:extLst xmlns:a="http://schemas.openxmlformats.org/drawingml/2006/main">
              <a:ext uri="{FF2B5EF4-FFF2-40B4-BE49-F238E27FC236}">
                <a16:creationId xmlns:a16="http://schemas.microsoft.com/office/drawing/2014/main" id="{6FB5DD83-F6BB-4AC6-BC46-AC8FBC9D1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2209800"/>
            <a:ext cx="666750" cy="6667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8" name="gate-week-0">
            <a:extLst xmlns:a="http://schemas.openxmlformats.org/drawingml/2006/main">
              <a:ext uri="{FF2B5EF4-FFF2-40B4-BE49-F238E27FC236}">
                <a16:creationId xmlns:a16="http://schemas.microsoft.com/office/drawing/2014/main" id="{7D7C42FF-E737-4382-BDE9-42822B4F6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38325"/>
            <a:ext cx="123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2F6BFF"/>
                </a:solidFill>
              </a:defRPr>
            </a:pPr>
            <a:r>
              <a:rPr sz="1125" b="1" i="0">
                <a:solidFill>
                  <a:srgbClr val="2F6BFF"/>
                </a:solidFill>
              </a:rPr>
              <a:t>SEM. 4</a:t>
            </a:r>
          </a:p>
        </p:txBody>
      </p:sp>
      <p:sp>
        <p:nvSpPr>
          <p:cNvPr id="9" name="gate-weight-0">
            <a:extLst xmlns:a="http://schemas.openxmlformats.org/drawingml/2006/main">
              <a:ext uri="{FF2B5EF4-FFF2-40B4-BE49-F238E27FC236}">
                <a16:creationId xmlns:a16="http://schemas.microsoft.com/office/drawing/2014/main" id="{374E4877-806E-4D7D-B647-4444D8ECD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2352675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20%</a:t>
            </a:r>
          </a:p>
        </p:txBody>
      </p:sp>
      <p:sp>
        <p:nvSpPr>
          <p:cNvPr id="10" name="gate-title-0">
            <a:extLst xmlns:a="http://schemas.openxmlformats.org/drawingml/2006/main">
              <a:ext uri="{FF2B5EF4-FFF2-40B4-BE49-F238E27FC236}">
                <a16:creationId xmlns:a16="http://schemas.microsoft.com/office/drawing/2014/main" id="{A97493F8-DFE8-4F7B-85E4-764AF6B23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086100"/>
            <a:ext cx="1857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Fase 1</a:t>
            </a:r>
          </a:p>
        </p:txBody>
      </p:sp>
      <p:sp>
        <p:nvSpPr>
          <p:cNvPr id="11" name="gate-copy-0">
            <a:extLst xmlns:a="http://schemas.openxmlformats.org/drawingml/2006/main">
              <a:ext uri="{FF2B5EF4-FFF2-40B4-BE49-F238E27FC236}">
                <a16:creationId xmlns:a16="http://schemas.microsoft.com/office/drawing/2014/main" id="{8807C51C-BF5C-4F2B-ADD2-9A2BBB992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467100"/>
            <a:ext cx="2095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486581"/>
                </a:solidFill>
              </a:defRPr>
            </a:pPr>
            <a:r>
              <a:rPr sz="1275" b="0" i="0">
                <a:solidFill>
                  <a:srgbClr val="486581"/>
                </a:solidFill>
              </a:rPr>
              <a:t>Alcance y arquitectura</a:t>
            </a:r>
          </a:p>
          <a:p xmlns:a="http://schemas.openxmlformats.org/drawingml/2006/main">
            <a:pPr algn="ctr">
              <a:buNone/>
              <a:defRPr sz="1275" b="0" i="0">
                <a:solidFill>
                  <a:srgbClr val="486581"/>
                </a:solidFill>
              </a:defRPr>
            </a:pPr>
            <a:r>
              <a:rPr sz="1275" b="0" i="0">
                <a:solidFill>
                  <a:srgbClr val="486581"/>
                </a:solidFill>
              </a:rPr>
              <a:t>aprobados</a:t>
            </a:r>
          </a:p>
        </p:txBody>
      </p:sp>
      <p:sp>
        <p:nvSpPr>
          <p:cNvPr id="12" name="gate-diamond-1">
            <a:extLst xmlns:a="http://schemas.openxmlformats.org/drawingml/2006/main">
              <a:ext uri="{FF2B5EF4-FFF2-40B4-BE49-F238E27FC236}">
                <a16:creationId xmlns:a16="http://schemas.microsoft.com/office/drawing/2014/main" id="{AECADD2F-A0DC-4380-AB9E-44EC096F5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209800"/>
            <a:ext cx="666750" cy="6667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0F9D8A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3" name="gate-week-1">
            <a:extLst xmlns:a="http://schemas.openxmlformats.org/drawingml/2006/main">
              <a:ext uri="{FF2B5EF4-FFF2-40B4-BE49-F238E27FC236}">
                <a16:creationId xmlns:a16="http://schemas.microsoft.com/office/drawing/2014/main" id="{DD22E0E9-B866-45DC-917A-66D7169C5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838325"/>
            <a:ext cx="123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0F9D8A"/>
                </a:solidFill>
              </a:defRPr>
            </a:pPr>
            <a:r>
              <a:rPr sz="1125" b="1" i="0">
                <a:solidFill>
                  <a:srgbClr val="0F9D8A"/>
                </a:solidFill>
              </a:rPr>
              <a:t>SEM. 10</a:t>
            </a:r>
          </a:p>
        </p:txBody>
      </p:sp>
      <p:sp>
        <p:nvSpPr>
          <p:cNvPr id="14" name="gate-weight-1">
            <a:extLst xmlns:a="http://schemas.openxmlformats.org/drawingml/2006/main">
              <a:ext uri="{FF2B5EF4-FFF2-40B4-BE49-F238E27FC236}">
                <a16:creationId xmlns:a16="http://schemas.microsoft.com/office/drawing/2014/main" id="{E07DA278-F5E4-4BA2-85C6-DD5037DCA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352675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20%</a:t>
            </a:r>
          </a:p>
        </p:txBody>
      </p:sp>
      <p:sp>
        <p:nvSpPr>
          <p:cNvPr id="15" name="gate-title-1">
            <a:extLst xmlns:a="http://schemas.openxmlformats.org/drawingml/2006/main">
              <a:ext uri="{FF2B5EF4-FFF2-40B4-BE49-F238E27FC236}">
                <a16:creationId xmlns:a16="http://schemas.microsoft.com/office/drawing/2014/main" id="{91593CCB-D67B-4E01-9D48-64F129381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3086100"/>
            <a:ext cx="1857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Avance</a:t>
            </a:r>
          </a:p>
        </p:txBody>
      </p:sp>
      <p:sp>
        <p:nvSpPr>
          <p:cNvPr id="16" name="gate-copy-1">
            <a:extLst xmlns:a="http://schemas.openxmlformats.org/drawingml/2006/main">
              <a:ext uri="{FF2B5EF4-FFF2-40B4-BE49-F238E27FC236}">
                <a16:creationId xmlns:a16="http://schemas.microsoft.com/office/drawing/2014/main" id="{7F38DEDD-061A-4260-8BEE-504638507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467100"/>
            <a:ext cx="2095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486581"/>
                </a:solidFill>
              </a:defRPr>
            </a:pPr>
            <a:r>
              <a:rPr sz="1275" b="0" i="0">
                <a:solidFill>
                  <a:srgbClr val="486581"/>
                </a:solidFill>
              </a:rPr>
              <a:t>Flujo integrado +</a:t>
            </a:r>
          </a:p>
          <a:p xmlns:a="http://schemas.openxmlformats.org/drawingml/2006/main">
            <a:pPr algn="ctr">
              <a:buNone/>
              <a:defRPr sz="1275" b="0" i="0">
                <a:solidFill>
                  <a:srgbClr val="486581"/>
                </a:solidFill>
              </a:defRPr>
            </a:pPr>
            <a:r>
              <a:rPr sz="1275" b="0" i="0">
                <a:solidFill>
                  <a:srgbClr val="486581"/>
                </a:solidFill>
              </a:rPr>
              <a:t>evidencia GitHub</a:t>
            </a:r>
          </a:p>
        </p:txBody>
      </p:sp>
      <p:sp>
        <p:nvSpPr>
          <p:cNvPr id="17" name="gate-diamond-2">
            <a:extLst xmlns:a="http://schemas.openxmlformats.org/drawingml/2006/main">
              <a:ext uri="{FF2B5EF4-FFF2-40B4-BE49-F238E27FC236}">
                <a16:creationId xmlns:a16="http://schemas.microsoft.com/office/drawing/2014/main" id="{076475E0-21CB-4093-A9E6-492996CCE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2209800"/>
            <a:ext cx="666750" cy="6667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E9A23B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8" name="gate-week-2">
            <a:extLst xmlns:a="http://schemas.openxmlformats.org/drawingml/2006/main">
              <a:ext uri="{FF2B5EF4-FFF2-40B4-BE49-F238E27FC236}">
                <a16:creationId xmlns:a16="http://schemas.microsoft.com/office/drawing/2014/main" id="{4AB2B5D3-4BFA-4885-8818-F7CB326C3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838325"/>
            <a:ext cx="123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E9A23B"/>
                </a:solidFill>
              </a:defRPr>
            </a:pPr>
            <a:r>
              <a:rPr sz="1125" b="1" i="0">
                <a:solidFill>
                  <a:srgbClr val="E9A23B"/>
                </a:solidFill>
              </a:rPr>
              <a:t>SEM. 15</a:t>
            </a:r>
          </a:p>
        </p:txBody>
      </p:sp>
      <p:sp>
        <p:nvSpPr>
          <p:cNvPr id="19" name="gate-weight-2">
            <a:extLst xmlns:a="http://schemas.openxmlformats.org/drawingml/2006/main">
              <a:ext uri="{FF2B5EF4-FFF2-40B4-BE49-F238E27FC236}">
                <a16:creationId xmlns:a16="http://schemas.microsoft.com/office/drawing/2014/main" id="{20D03892-6603-4B5E-A81A-D444A8AB6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2352675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30%</a:t>
            </a:r>
          </a:p>
        </p:txBody>
      </p:sp>
      <p:sp>
        <p:nvSpPr>
          <p:cNvPr id="20" name="gate-title-2">
            <a:extLst xmlns:a="http://schemas.openxmlformats.org/drawingml/2006/main">
              <a:ext uri="{FF2B5EF4-FFF2-40B4-BE49-F238E27FC236}">
                <a16:creationId xmlns:a16="http://schemas.microsoft.com/office/drawing/2014/main" id="{5A50EC79-98BF-46E9-8B28-2308E1939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3086100"/>
            <a:ext cx="1857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Entrega final</a:t>
            </a:r>
          </a:p>
        </p:txBody>
      </p:sp>
      <p:sp>
        <p:nvSpPr>
          <p:cNvPr id="21" name="gate-copy-2">
            <a:extLst xmlns:a="http://schemas.openxmlformats.org/drawingml/2006/main">
              <a:ext uri="{FF2B5EF4-FFF2-40B4-BE49-F238E27FC236}">
                <a16:creationId xmlns:a16="http://schemas.microsoft.com/office/drawing/2014/main" id="{20375CCA-49D5-4C85-87DA-EF815AC94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3467100"/>
            <a:ext cx="2095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486581"/>
                </a:solidFill>
              </a:defRPr>
            </a:pPr>
            <a:r>
              <a:rPr sz="1275" b="0" i="0">
                <a:solidFill>
                  <a:srgbClr val="486581"/>
                </a:solidFill>
              </a:rPr>
              <a:t>Feature freeze +</a:t>
            </a:r>
          </a:p>
          <a:p xmlns:a="http://schemas.openxmlformats.org/drawingml/2006/main">
            <a:pPr algn="ctr">
              <a:buNone/>
              <a:defRPr sz="1275" b="0" i="0">
                <a:solidFill>
                  <a:srgbClr val="486581"/>
                </a:solidFill>
              </a:defRPr>
            </a:pPr>
            <a:r>
              <a:rPr sz="1275" b="0" i="0">
                <a:solidFill>
                  <a:srgbClr val="486581"/>
                </a:solidFill>
              </a:rPr>
              <a:t>informe y demo</a:t>
            </a:r>
          </a:p>
        </p:txBody>
      </p:sp>
      <p:sp>
        <p:nvSpPr>
          <p:cNvPr id="22" name="gate-diamond-3">
            <a:extLst xmlns:a="http://schemas.openxmlformats.org/drawingml/2006/main">
              <a:ext uri="{FF2B5EF4-FFF2-40B4-BE49-F238E27FC236}">
                <a16:creationId xmlns:a16="http://schemas.microsoft.com/office/drawing/2014/main" id="{52E8E4ED-9F0A-47ED-A0FF-681000DE4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9275" y="2209800"/>
            <a:ext cx="666750" cy="6667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D95D6A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3" name="gate-week-3">
            <a:extLst xmlns:a="http://schemas.openxmlformats.org/drawingml/2006/main">
              <a:ext uri="{FF2B5EF4-FFF2-40B4-BE49-F238E27FC236}">
                <a16:creationId xmlns:a16="http://schemas.microsoft.com/office/drawing/2014/main" id="{2A4023C3-6582-4C28-B49A-E295A2CFF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38325"/>
            <a:ext cx="1238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D95D6A"/>
                </a:solidFill>
              </a:defRPr>
            </a:pPr>
            <a:r>
              <a:rPr sz="1125" b="1" i="0">
                <a:solidFill>
                  <a:srgbClr val="D95D6A"/>
                </a:solidFill>
              </a:rPr>
              <a:t>SEM. 17–18</a:t>
            </a:r>
          </a:p>
        </p:txBody>
      </p:sp>
      <p:sp>
        <p:nvSpPr>
          <p:cNvPr id="24" name="gate-weight-3">
            <a:extLst xmlns:a="http://schemas.openxmlformats.org/drawingml/2006/main">
              <a:ext uri="{FF2B5EF4-FFF2-40B4-BE49-F238E27FC236}">
                <a16:creationId xmlns:a16="http://schemas.microsoft.com/office/drawing/2014/main" id="{03039615-9C3B-43AF-B319-8C408018A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9275" y="2352675"/>
            <a:ext cx="66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30%</a:t>
            </a:r>
          </a:p>
        </p:txBody>
      </p:sp>
      <p:sp>
        <p:nvSpPr>
          <p:cNvPr id="25" name="gate-title-3">
            <a:extLst xmlns:a="http://schemas.openxmlformats.org/drawingml/2006/main">
              <a:ext uri="{FF2B5EF4-FFF2-40B4-BE49-F238E27FC236}">
                <a16:creationId xmlns:a16="http://schemas.microsoft.com/office/drawing/2014/main" id="{72C4F6E3-0FDC-4641-8A2F-715B26C17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086100"/>
            <a:ext cx="1857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02A43"/>
                </a:solidFill>
              </a:defRPr>
            </a:pPr>
            <a:r>
              <a:rPr sz="1650" b="1" i="0">
                <a:solidFill>
                  <a:srgbClr val="102A43"/>
                </a:solidFill>
              </a:rPr>
              <a:t>Defensa</a:t>
            </a:r>
          </a:p>
        </p:txBody>
      </p:sp>
      <p:sp>
        <p:nvSpPr>
          <p:cNvPr id="26" name="gate-copy-3">
            <a:extLst xmlns:a="http://schemas.openxmlformats.org/drawingml/2006/main">
              <a:ext uri="{FF2B5EF4-FFF2-40B4-BE49-F238E27FC236}">
                <a16:creationId xmlns:a16="http://schemas.microsoft.com/office/drawing/2014/main" id="{22C5C4CA-00D5-4E18-AD22-136AA6B8F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3467100"/>
            <a:ext cx="2095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486581"/>
                </a:solidFill>
              </a:defRPr>
            </a:pPr>
            <a:r>
              <a:rPr sz="1275" b="0" i="0">
                <a:solidFill>
                  <a:srgbClr val="486581"/>
                </a:solidFill>
              </a:rPr>
              <a:t>Demo estable +</a:t>
            </a:r>
          </a:p>
          <a:p xmlns:a="http://schemas.openxmlformats.org/drawingml/2006/main">
            <a:pPr algn="ctr">
              <a:buNone/>
              <a:defRPr sz="1275" b="0" i="0">
                <a:solidFill>
                  <a:srgbClr val="486581"/>
                </a:solidFill>
              </a:defRPr>
            </a:pPr>
            <a:r>
              <a:rPr sz="1275" b="0" i="0">
                <a:solidFill>
                  <a:srgbClr val="486581"/>
                </a:solidFill>
              </a:rPr>
              <a:t>argumentación</a:t>
            </a:r>
          </a:p>
        </p:txBody>
      </p:sp>
      <p:sp>
        <p:nvSpPr>
          <p:cNvPr id="27" name="demo-title">
            <a:extLst xmlns:a="http://schemas.openxmlformats.org/drawingml/2006/main">
              <a:ext uri="{FF2B5EF4-FFF2-40B4-BE49-F238E27FC236}">
                <a16:creationId xmlns:a16="http://schemas.microsoft.com/office/drawing/2014/main" id="{5C58A9AD-DDCD-4890-8C6E-FD6EF5313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9625"/>
            <a:ext cx="266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2F6BFF"/>
                </a:solidFill>
              </a:defRPr>
            </a:pPr>
            <a:r>
              <a:rPr sz="1125" b="1" i="0">
                <a:solidFill>
                  <a:srgbClr val="2F6BFF"/>
                </a:solidFill>
              </a:rPr>
              <a:t>MÍNIMO DE DEMOSTRACIÓN</a:t>
            </a:r>
          </a:p>
        </p:txBody>
      </p:sp>
      <p:sp>
        <p:nvSpPr>
          <p:cNvPr id="28" name="demo-strip">
            <a:extLst xmlns:a="http://schemas.openxmlformats.org/drawingml/2006/main">
              <a:ext uri="{FF2B5EF4-FFF2-40B4-BE49-F238E27FC236}">
                <a16:creationId xmlns:a16="http://schemas.microsoft.com/office/drawing/2014/main" id="{4B6B8038-1BA6-4619-A2C5-08EA44189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728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102A43"/>
          </a:solidFill>
          <a:ln xmlns:a="http://schemas.openxmlformats.org/drawingml/2006/main" w="9525">
            <a:solidFill>
              <a:srgbClr val="102A43"/>
            </a:solidFill>
            <a:prstDash val="solid"/>
          </a:ln>
        </p:spPr>
      </p:sp>
      <p:sp>
        <p:nvSpPr>
          <p:cNvPr id="29" name="metric-v-0">
            <a:extLst xmlns:a="http://schemas.openxmlformats.org/drawingml/2006/main">
              <a:ext uri="{FF2B5EF4-FFF2-40B4-BE49-F238E27FC236}">
                <a16:creationId xmlns:a16="http://schemas.microsoft.com/office/drawing/2014/main" id="{FE0F2BEE-97FC-4656-89DB-43B8F5016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244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</a:defRPr>
            </a:pPr>
            <a:r>
              <a:rPr sz="21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30" name="metric-l-0">
            <a:extLst xmlns:a="http://schemas.openxmlformats.org/drawingml/2006/main">
              <a:ext uri="{FF2B5EF4-FFF2-40B4-BE49-F238E27FC236}">
                <a16:creationId xmlns:a16="http://schemas.microsoft.com/office/drawing/2014/main" id="{EF432494-BBE0-4D19-8740-3AB72A011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1497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D9E2EC"/>
                </a:solidFill>
              </a:defRPr>
            </a:pPr>
            <a:r>
              <a:rPr sz="1125" b="0" i="0">
                <a:solidFill>
                  <a:srgbClr val="D9E2EC"/>
                </a:solidFill>
              </a:rPr>
              <a:t>curso / clase</a:t>
            </a:r>
          </a:p>
        </p:txBody>
      </p:sp>
      <p:sp>
        <p:nvSpPr>
          <p:cNvPr id="31" name="metric-sep-0">
            <a:extLst xmlns:a="http://schemas.openxmlformats.org/drawingml/2006/main">
              <a:ext uri="{FF2B5EF4-FFF2-40B4-BE49-F238E27FC236}">
                <a16:creationId xmlns:a16="http://schemas.microsoft.com/office/drawing/2014/main" id="{0418AE57-1ABC-4415-98CD-C85923AAB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5153025"/>
            <a:ext cx="190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65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metric-v-1">
            <a:extLst xmlns:a="http://schemas.openxmlformats.org/drawingml/2006/main">
              <a:ext uri="{FF2B5EF4-FFF2-40B4-BE49-F238E27FC236}">
                <a16:creationId xmlns:a16="http://schemas.microsoft.com/office/drawing/2014/main" id="{1E1D1D28-0A39-4448-9D84-BFAB081A5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51244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</a:defRPr>
            </a:pPr>
            <a:r>
              <a:rPr sz="2100" b="1" i="0">
                <a:solidFill>
                  <a:srgbClr val="FFFFFF"/>
                </a:solidFill>
              </a:rPr>
              <a:t>8–12</a:t>
            </a:r>
          </a:p>
        </p:txBody>
      </p:sp>
      <p:sp>
        <p:nvSpPr>
          <p:cNvPr id="33" name="metric-l-1">
            <a:extLst xmlns:a="http://schemas.openxmlformats.org/drawingml/2006/main">
              <a:ext uri="{FF2B5EF4-FFF2-40B4-BE49-F238E27FC236}">
                <a16:creationId xmlns:a16="http://schemas.microsoft.com/office/drawing/2014/main" id="{817D9740-6399-44AA-8A07-AB5909D0E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551497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D9E2EC"/>
                </a:solidFill>
              </a:defRPr>
            </a:pPr>
            <a:r>
              <a:rPr sz="1125" b="0" i="0">
                <a:solidFill>
                  <a:srgbClr val="D9E2EC"/>
                </a:solidFill>
              </a:rPr>
              <a:t>ejercicios</a:t>
            </a:r>
          </a:p>
        </p:txBody>
      </p:sp>
      <p:sp>
        <p:nvSpPr>
          <p:cNvPr id="34" name="metric-sep-1">
            <a:extLst xmlns:a="http://schemas.openxmlformats.org/drawingml/2006/main">
              <a:ext uri="{FF2B5EF4-FFF2-40B4-BE49-F238E27FC236}">
                <a16:creationId xmlns:a16="http://schemas.microsoft.com/office/drawing/2014/main" id="{6853CDC8-0E65-4E82-964E-ACBBC6A2E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5153025"/>
            <a:ext cx="190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65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metric-v-2">
            <a:extLst xmlns:a="http://schemas.openxmlformats.org/drawingml/2006/main">
              <a:ext uri="{FF2B5EF4-FFF2-40B4-BE49-F238E27FC236}">
                <a16:creationId xmlns:a16="http://schemas.microsoft.com/office/drawing/2014/main" id="{740C7BCE-F86C-4BBD-A6FD-2625C8258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1244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</a:defRPr>
            </a:pPr>
            <a:r>
              <a:rPr sz="2100" b="1" i="0">
                <a:solidFill>
                  <a:srgbClr val="FFFFFF"/>
                </a:solidFill>
              </a:rPr>
              <a:t>1–3</a:t>
            </a:r>
          </a:p>
        </p:txBody>
      </p:sp>
      <p:sp>
        <p:nvSpPr>
          <p:cNvPr id="36" name="metric-l-2">
            <a:extLst xmlns:a="http://schemas.openxmlformats.org/drawingml/2006/main">
              <a:ext uri="{FF2B5EF4-FFF2-40B4-BE49-F238E27FC236}">
                <a16:creationId xmlns:a16="http://schemas.microsoft.com/office/drawing/2014/main" id="{9069B65A-E1D9-4907-9F6C-73574C0F9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51497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D9E2EC"/>
                </a:solidFill>
              </a:defRPr>
            </a:pPr>
            <a:r>
              <a:rPr sz="1125" b="0" i="0">
                <a:solidFill>
                  <a:srgbClr val="D9E2EC"/>
                </a:solidFill>
              </a:rPr>
              <a:t>documentos RAG</a:t>
            </a:r>
          </a:p>
        </p:txBody>
      </p:sp>
      <p:sp>
        <p:nvSpPr>
          <p:cNvPr id="37" name="metric-sep-2">
            <a:extLst xmlns:a="http://schemas.openxmlformats.org/drawingml/2006/main">
              <a:ext uri="{FF2B5EF4-FFF2-40B4-BE49-F238E27FC236}">
                <a16:creationId xmlns:a16="http://schemas.microsoft.com/office/drawing/2014/main" id="{61023904-26C6-43C9-B213-E9FCD2626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5153025"/>
            <a:ext cx="190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65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metric-v-3">
            <a:extLst xmlns:a="http://schemas.openxmlformats.org/drawingml/2006/main">
              <a:ext uri="{FF2B5EF4-FFF2-40B4-BE49-F238E27FC236}">
                <a16:creationId xmlns:a16="http://schemas.microsoft.com/office/drawing/2014/main" id="{17921D5D-FDC5-42F8-8E58-38F3AF3D3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1244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</a:defRPr>
            </a:pPr>
            <a:r>
              <a:rPr sz="2100" b="1" i="0">
                <a:solidFill>
                  <a:srgbClr val="FFFFFF"/>
                </a:solidFill>
              </a:rPr>
              <a:t>6–12</a:t>
            </a:r>
          </a:p>
        </p:txBody>
      </p:sp>
      <p:sp>
        <p:nvSpPr>
          <p:cNvPr id="39" name="metric-l-3">
            <a:extLst xmlns:a="http://schemas.openxmlformats.org/drawingml/2006/main">
              <a:ext uri="{FF2B5EF4-FFF2-40B4-BE49-F238E27FC236}">
                <a16:creationId xmlns:a16="http://schemas.microsoft.com/office/drawing/2014/main" id="{8926746E-4C5D-4EED-A6E7-B65E2D089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51497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D9E2EC"/>
                </a:solidFill>
              </a:defRPr>
            </a:pPr>
            <a:r>
              <a:rPr sz="1125" b="0" i="0">
                <a:solidFill>
                  <a:srgbClr val="D9E2EC"/>
                </a:solidFill>
              </a:rPr>
              <a:t>perfiles estudiante</a:t>
            </a:r>
          </a:p>
        </p:txBody>
      </p:sp>
      <p:sp>
        <p:nvSpPr>
          <p:cNvPr id="40" name="metric-sep-3">
            <a:extLst xmlns:a="http://schemas.openxmlformats.org/drawingml/2006/main">
              <a:ext uri="{FF2B5EF4-FFF2-40B4-BE49-F238E27FC236}">
                <a16:creationId xmlns:a16="http://schemas.microsoft.com/office/drawing/2014/main" id="{28A0C940-28EE-47DF-B64D-492560153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5153025"/>
            <a:ext cx="190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8658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metric-v-4">
            <a:extLst xmlns:a="http://schemas.openxmlformats.org/drawingml/2006/main">
              <a:ext uri="{FF2B5EF4-FFF2-40B4-BE49-F238E27FC236}">
                <a16:creationId xmlns:a16="http://schemas.microsoft.com/office/drawing/2014/main" id="{A71241DC-60F3-4783-88CA-A0D7FFE1B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51244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</a:defRPr>
            </a:pPr>
            <a:r>
              <a:rPr sz="21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2" name="metric-l-4">
            <a:extLst xmlns:a="http://schemas.openxmlformats.org/drawingml/2006/main">
              <a:ext uri="{FF2B5EF4-FFF2-40B4-BE49-F238E27FC236}">
                <a16:creationId xmlns:a16="http://schemas.microsoft.com/office/drawing/2014/main" id="{63D78CFB-6030-486C-8F5A-FE5586579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551497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D9E2EC"/>
                </a:solidFill>
              </a:defRPr>
            </a:pPr>
            <a:r>
              <a:rPr sz="1125" b="0" i="0">
                <a:solidFill>
                  <a:srgbClr val="D9E2EC"/>
                </a:solidFill>
              </a:rPr>
              <a:t>señales docentes</a:t>
            </a:r>
          </a:p>
        </p:txBody>
      </p:sp>
    </p:spTree>
    <p:extLst>
      <p:ext uri="{BB962C8B-B14F-4D97-AF65-F5344CB8AC3E}">
        <p14:creationId xmlns:p14="http://schemas.microsoft.com/office/powerpoint/2010/main" val="86452232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C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kicker-7">
            <a:extLst xmlns:a="http://schemas.openxmlformats.org/drawingml/2006/main">
              <a:ext uri="{FF2B5EF4-FFF2-40B4-BE49-F238E27FC236}">
                <a16:creationId xmlns:a16="http://schemas.microsoft.com/office/drawing/2014/main" id="{38A99D79-CF7A-4D09-BFCC-6648E0745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 i="0">
                <a:solidFill>
                  <a:srgbClr val="2F6BFF"/>
                </a:solidFill>
              </a:defRPr>
            </a:pPr>
            <a:r>
              <a:rPr sz="1050" b="1" i="0">
                <a:solidFill>
                  <a:srgbClr val="2F6BFF"/>
                </a:solidFill>
              </a:rPr>
              <a:t>MECANISMO DE GESTIÓN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44161B92-5252-474D-A345-BD813E6F9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1057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850" b="1" i="0">
                <a:solidFill>
                  <a:srgbClr val="102A43"/>
                </a:solidFill>
              </a:defRPr>
            </a:pPr>
            <a:r>
              <a:rPr sz="2850" b="1" i="0">
                <a:solidFill>
                  <a:srgbClr val="102A43"/>
                </a:solidFill>
              </a:rPr>
              <a:t>El roadmap se actualiza en cada Sprint Review</a:t>
            </a:r>
          </a:p>
        </p:txBody>
      </p:sp>
      <p:sp>
        <p:nvSpPr>
          <p:cNvPr id="3" name="header-line-7">
            <a:extLst xmlns:a="http://schemas.openxmlformats.org/drawingml/2006/main">
              <a:ext uri="{FF2B5EF4-FFF2-40B4-BE49-F238E27FC236}">
                <a16:creationId xmlns:a16="http://schemas.microsoft.com/office/drawing/2014/main" id="{AA64654A-BE2E-4356-9EFE-4205A1B0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age-7">
            <a:extLst xmlns:a="http://schemas.openxmlformats.org/drawingml/2006/main">
              <a:ext uri="{FF2B5EF4-FFF2-40B4-BE49-F238E27FC236}">
                <a16:creationId xmlns:a16="http://schemas.microsoft.com/office/drawing/2014/main" id="{42465CFB-C7A5-4467-B9D9-669D10A76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389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829AB1"/>
                </a:solidFill>
              </a:defRPr>
            </a:pPr>
            <a:r>
              <a:rPr sz="975" b="0" i="0">
                <a:solidFill>
                  <a:srgbClr val="829AB1"/>
                </a:solidFill>
              </a:rPr>
              <a:t>7</a:t>
            </a:r>
          </a:p>
        </p:txBody>
      </p:sp>
      <p:sp>
        <p:nvSpPr>
          <p:cNvPr id="5" name="ops-lead">
            <a:extLst xmlns:a="http://schemas.openxmlformats.org/drawingml/2006/main">
              <a:ext uri="{FF2B5EF4-FFF2-40B4-BE49-F238E27FC236}">
                <a16:creationId xmlns:a16="http://schemas.microsoft.com/office/drawing/2014/main" id="{40DC7E77-7FC8-4238-AB40-540B8C280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66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486581"/>
                </a:solidFill>
              </a:defRPr>
            </a:pPr>
            <a:r>
              <a:rPr sz="1500" b="0" i="0">
                <a:solidFill>
                  <a:srgbClr val="486581"/>
                </a:solidFill>
              </a:rPr>
              <a:t>Se compromete el sprint próximo; los horizontes posteriores permanecen como hipótesis priorizadas.</a:t>
            </a:r>
          </a:p>
        </p:txBody>
      </p:sp>
      <p:sp>
        <p:nvSpPr>
          <p:cNvPr id="6" name="cycle-ring">
            <a:extLst xmlns:a="http://schemas.openxmlformats.org/drawingml/2006/main">
              <a:ext uri="{FF2B5EF4-FFF2-40B4-BE49-F238E27FC236}">
                <a16:creationId xmlns:a16="http://schemas.microsoft.com/office/drawing/2014/main" id="{ACB0FF5A-130F-4658-BE6B-37EE8CB14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95500"/>
            <a:ext cx="5143500" cy="3429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D9E2EC"/>
            </a:solidFill>
            <a:prstDash val="solid"/>
          </a:ln>
        </p:spPr>
      </p:sp>
      <p:sp>
        <p:nvSpPr>
          <p:cNvPr id="7" name="goal-core">
            <a:extLst xmlns:a="http://schemas.openxmlformats.org/drawingml/2006/main">
              <a:ext uri="{FF2B5EF4-FFF2-40B4-BE49-F238E27FC236}">
                <a16:creationId xmlns:a16="http://schemas.microsoft.com/office/drawing/2014/main" id="{638BE2AD-01E0-4025-9591-889624AF8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3143250"/>
            <a:ext cx="1857375" cy="1381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9525">
            <a:solidFill>
              <a:srgbClr val="102A43"/>
            </a:solidFill>
            <a:prstDash val="solid"/>
          </a:ln>
        </p:spPr>
      </p:sp>
      <p:sp>
        <p:nvSpPr>
          <p:cNvPr id="8" name="goal-core-text">
            <a:extLst xmlns:a="http://schemas.openxmlformats.org/drawingml/2006/main">
              <a:ext uri="{FF2B5EF4-FFF2-40B4-BE49-F238E27FC236}">
                <a16:creationId xmlns:a16="http://schemas.microsoft.com/office/drawing/2014/main" id="{C9F62ADE-8FF5-44D1-AFFB-2370D39CA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3400425"/>
            <a:ext cx="18573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FFFFFF"/>
                </a:solidFill>
              </a:defRPr>
            </a:pPr>
            <a:r>
              <a:rPr sz="2025" b="1" i="0">
                <a:solidFill>
                  <a:srgbClr val="FFFFFF"/>
                </a:solidFill>
              </a:rPr>
              <a:t>PRODUCT</a:t>
            </a:r>
          </a:p>
          <a:p xmlns:a="http://schemas.openxmlformats.org/drawingml/2006/main">
            <a:pPr algn="ctr">
              <a:buNone/>
              <a:defRPr sz="2025" b="1" i="0">
                <a:solidFill>
                  <a:srgbClr val="FFFFFF"/>
                </a:solidFill>
              </a:defRPr>
            </a:pPr>
            <a:r>
              <a:rPr sz="2025" b="1" i="0">
                <a:solidFill>
                  <a:srgbClr val="FFFFFF"/>
                </a:solidFill>
              </a:rPr>
              <a:t>GOAL</a:t>
            </a:r>
          </a:p>
        </p:txBody>
      </p:sp>
      <p:sp>
        <p:nvSpPr>
          <p:cNvPr id="9" name="cycle-node-0">
            <a:extLst xmlns:a="http://schemas.openxmlformats.org/drawingml/2006/main">
              <a:ext uri="{FF2B5EF4-FFF2-40B4-BE49-F238E27FC236}">
                <a16:creationId xmlns:a16="http://schemas.microsoft.com/office/drawing/2014/main" id="{2DDBFAFD-F70F-4F65-BBA1-E38B768FE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838325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0" name="cycle-n-0">
            <a:extLst xmlns:a="http://schemas.openxmlformats.org/drawingml/2006/main">
              <a:ext uri="{FF2B5EF4-FFF2-40B4-BE49-F238E27FC236}">
                <a16:creationId xmlns:a16="http://schemas.microsoft.com/office/drawing/2014/main" id="{60E11CFD-F1D4-413A-8120-4C9104B6A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933575"/>
            <a:ext cx="990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cycle-title-0">
            <a:extLst xmlns:a="http://schemas.openxmlformats.org/drawingml/2006/main">
              <a:ext uri="{FF2B5EF4-FFF2-40B4-BE49-F238E27FC236}">
                <a16:creationId xmlns:a16="http://schemas.microsoft.com/office/drawing/2014/main" id="{52A1F13C-EED4-47A0-AEF8-2FC53056F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2295525"/>
            <a:ext cx="165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</a:defRPr>
            </a:pPr>
            <a:r>
              <a:rPr sz="1275" b="1" i="0">
                <a:solidFill>
                  <a:srgbClr val="FFFFFF"/>
                </a:solidFill>
              </a:rPr>
              <a:t>Demostrar</a:t>
            </a:r>
          </a:p>
        </p:txBody>
      </p:sp>
      <p:sp>
        <p:nvSpPr>
          <p:cNvPr id="12" name="cycle-sub-0">
            <a:extLst xmlns:a="http://schemas.openxmlformats.org/drawingml/2006/main">
              <a:ext uri="{FF2B5EF4-FFF2-40B4-BE49-F238E27FC236}">
                <a16:creationId xmlns:a16="http://schemas.microsoft.com/office/drawing/2014/main" id="{CD39C0DB-BB0D-43D0-9080-FE0BE529D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2886075"/>
            <a:ext cx="2038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0" i="0">
                <a:solidFill>
                  <a:srgbClr val="486581"/>
                </a:solidFill>
              </a:defRPr>
            </a:pPr>
            <a:r>
              <a:rPr sz="1050" b="0" i="0">
                <a:solidFill>
                  <a:srgbClr val="486581"/>
                </a:solidFill>
              </a:rPr>
              <a:t>Incremento funcionando</a:t>
            </a:r>
          </a:p>
        </p:txBody>
      </p:sp>
      <p:sp>
        <p:nvSpPr>
          <p:cNvPr id="13" name="cycle-node-1">
            <a:extLst xmlns:a="http://schemas.openxmlformats.org/drawingml/2006/main">
              <a:ext uri="{FF2B5EF4-FFF2-40B4-BE49-F238E27FC236}">
                <a16:creationId xmlns:a16="http://schemas.microsoft.com/office/drawing/2014/main" id="{882E825A-4606-4CF4-95CC-C7BD824C1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305175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D8A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4" name="cycle-n-1">
            <a:extLst xmlns:a="http://schemas.openxmlformats.org/drawingml/2006/main">
              <a:ext uri="{FF2B5EF4-FFF2-40B4-BE49-F238E27FC236}">
                <a16:creationId xmlns:a16="http://schemas.microsoft.com/office/drawing/2014/main" id="{CD940BA6-280B-4D0C-B06B-AC2441CA3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400425"/>
            <a:ext cx="990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cycle-title-1">
            <a:extLst xmlns:a="http://schemas.openxmlformats.org/drawingml/2006/main">
              <a:ext uri="{FF2B5EF4-FFF2-40B4-BE49-F238E27FC236}">
                <a16:creationId xmlns:a16="http://schemas.microsoft.com/office/drawing/2014/main" id="{B064B409-53D9-458F-ACBC-0AB320B49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762375"/>
            <a:ext cx="165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</a:defRPr>
            </a:pPr>
            <a:r>
              <a:rPr sz="1275" b="1" i="0">
                <a:solidFill>
                  <a:srgbClr val="FFFFFF"/>
                </a:solidFill>
              </a:rPr>
              <a:t>Medir</a:t>
            </a:r>
          </a:p>
        </p:txBody>
      </p:sp>
      <p:sp>
        <p:nvSpPr>
          <p:cNvPr id="16" name="cycle-sub-1">
            <a:extLst xmlns:a="http://schemas.openxmlformats.org/drawingml/2006/main">
              <a:ext uri="{FF2B5EF4-FFF2-40B4-BE49-F238E27FC236}">
                <a16:creationId xmlns:a16="http://schemas.microsoft.com/office/drawing/2014/main" id="{51ADE438-53B1-4F49-918A-08C370531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352925"/>
            <a:ext cx="2038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0" i="0">
                <a:solidFill>
                  <a:srgbClr val="486581"/>
                </a:solidFill>
              </a:defRPr>
            </a:pPr>
            <a:r>
              <a:rPr sz="1050" b="0" i="0">
                <a:solidFill>
                  <a:srgbClr val="486581"/>
                </a:solidFill>
              </a:rPr>
              <a:t>Uso, calidad y riesgos</a:t>
            </a:r>
          </a:p>
        </p:txBody>
      </p:sp>
      <p:sp>
        <p:nvSpPr>
          <p:cNvPr id="17" name="cycle-node-2">
            <a:extLst xmlns:a="http://schemas.openxmlformats.org/drawingml/2006/main">
              <a:ext uri="{FF2B5EF4-FFF2-40B4-BE49-F238E27FC236}">
                <a16:creationId xmlns:a16="http://schemas.microsoft.com/office/drawing/2014/main" id="{1FD70518-C6E8-422E-8C2C-78985D361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A23B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8" name="cycle-n-2">
            <a:extLst xmlns:a="http://schemas.openxmlformats.org/drawingml/2006/main">
              <a:ext uri="{FF2B5EF4-FFF2-40B4-BE49-F238E27FC236}">
                <a16:creationId xmlns:a16="http://schemas.microsoft.com/office/drawing/2014/main" id="{A0867644-2341-48F8-A64F-979C57A51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076825"/>
            <a:ext cx="990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cycle-title-2">
            <a:extLst xmlns:a="http://schemas.openxmlformats.org/drawingml/2006/main">
              <a:ext uri="{FF2B5EF4-FFF2-40B4-BE49-F238E27FC236}">
                <a16:creationId xmlns:a16="http://schemas.microsoft.com/office/drawing/2014/main" id="{B282F183-6322-4B58-B711-B07E9AACC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5438775"/>
            <a:ext cx="165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</a:defRPr>
            </a:pPr>
            <a:r>
              <a:rPr sz="1275" b="1" i="0">
                <a:solidFill>
                  <a:srgbClr val="FFFFFF"/>
                </a:solidFill>
              </a:rPr>
              <a:t>Decidir</a:t>
            </a:r>
          </a:p>
        </p:txBody>
      </p:sp>
      <p:sp>
        <p:nvSpPr>
          <p:cNvPr id="20" name="cycle-sub-2">
            <a:extLst xmlns:a="http://schemas.openxmlformats.org/drawingml/2006/main">
              <a:ext uri="{FF2B5EF4-FFF2-40B4-BE49-F238E27FC236}">
                <a16:creationId xmlns:a16="http://schemas.microsoft.com/office/drawing/2014/main" id="{826898CC-AC22-452C-8936-DFC4665C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6029325"/>
            <a:ext cx="2038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0" i="0">
                <a:solidFill>
                  <a:srgbClr val="486581"/>
                </a:solidFill>
              </a:defRPr>
            </a:pPr>
            <a:r>
              <a:rPr sz="1050" b="0" i="0">
                <a:solidFill>
                  <a:srgbClr val="486581"/>
                </a:solidFill>
              </a:rPr>
              <a:t>Aceptar, ajustar o descartar</a:t>
            </a:r>
          </a:p>
        </p:txBody>
      </p:sp>
      <p:sp>
        <p:nvSpPr>
          <p:cNvPr id="21" name="cycle-node-3">
            <a:extLst xmlns:a="http://schemas.openxmlformats.org/drawingml/2006/main">
              <a:ext uri="{FF2B5EF4-FFF2-40B4-BE49-F238E27FC236}">
                <a16:creationId xmlns:a16="http://schemas.microsoft.com/office/drawing/2014/main" id="{BAAC300D-6618-4C18-8BE6-845BADE8B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305175"/>
            <a:ext cx="990600" cy="990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5D6A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2" name="cycle-n-3">
            <a:extLst xmlns:a="http://schemas.openxmlformats.org/drawingml/2006/main">
              <a:ext uri="{FF2B5EF4-FFF2-40B4-BE49-F238E27FC236}">
                <a16:creationId xmlns:a16="http://schemas.microsoft.com/office/drawing/2014/main" id="{F1BA3E21-7354-4A4C-B5F0-D7CF542CB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400425"/>
            <a:ext cx="990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cycle-title-3">
            <a:extLst xmlns:a="http://schemas.openxmlformats.org/drawingml/2006/main">
              <a:ext uri="{FF2B5EF4-FFF2-40B4-BE49-F238E27FC236}">
                <a16:creationId xmlns:a16="http://schemas.microsoft.com/office/drawing/2014/main" id="{28A0E6AB-6928-416B-AEC0-C8906A3BB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762375"/>
            <a:ext cx="1657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</a:defRPr>
            </a:pPr>
            <a:r>
              <a:rPr sz="1275" b="1" i="0">
                <a:solidFill>
                  <a:srgbClr val="FFFFFF"/>
                </a:solidFill>
              </a:rPr>
              <a:t>Repriorizar</a:t>
            </a:r>
          </a:p>
        </p:txBody>
      </p:sp>
      <p:sp>
        <p:nvSpPr>
          <p:cNvPr id="24" name="cycle-sub-3">
            <a:extLst xmlns:a="http://schemas.openxmlformats.org/drawingml/2006/main">
              <a:ext uri="{FF2B5EF4-FFF2-40B4-BE49-F238E27FC236}">
                <a16:creationId xmlns:a16="http://schemas.microsoft.com/office/drawing/2014/main" id="{34807E54-578D-45EF-BF72-FA0EF7C7B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52925"/>
            <a:ext cx="1790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050" b="0" i="0">
                <a:solidFill>
                  <a:srgbClr val="486581"/>
                </a:solidFill>
              </a:defRPr>
            </a:pPr>
            <a:r>
              <a:rPr sz="1050" b="0" i="0">
                <a:solidFill>
                  <a:srgbClr val="486581"/>
                </a:solidFill>
              </a:rPr>
              <a:t>Backlog y Sprint Goal</a:t>
            </a:r>
          </a:p>
        </p:txBody>
      </p:sp>
      <p:sp>
        <p:nvSpPr>
          <p:cNvPr id="25" name="rules-title">
            <a:extLst xmlns:a="http://schemas.openxmlformats.org/drawingml/2006/main">
              <a:ext uri="{FF2B5EF4-FFF2-40B4-BE49-F238E27FC236}">
                <a16:creationId xmlns:a16="http://schemas.microsoft.com/office/drawing/2014/main" id="{63D75264-970D-4979-BBCD-F2353B859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09550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1" i="0">
                <a:solidFill>
                  <a:srgbClr val="2F6BFF"/>
                </a:solidFill>
              </a:defRPr>
            </a:pPr>
            <a:r>
              <a:rPr sz="1275" b="1" i="0">
                <a:solidFill>
                  <a:srgbClr val="2F6BFF"/>
                </a:solidFill>
              </a:rPr>
              <a:t>REGLAS DE DECISIÓN</a:t>
            </a:r>
          </a:p>
        </p:txBody>
      </p:sp>
      <p:sp>
        <p:nvSpPr>
          <p:cNvPr id="26" name="rule-dot-0">
            <a:extLst xmlns:a="http://schemas.openxmlformats.org/drawingml/2006/main">
              <a:ext uri="{FF2B5EF4-FFF2-40B4-BE49-F238E27FC236}">
                <a16:creationId xmlns:a16="http://schemas.microsoft.com/office/drawing/2014/main" id="{CD733AF3-6167-4A47-BAA5-21463AC0C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670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rule-n-0">
            <a:extLst xmlns:a="http://schemas.openxmlformats.org/drawingml/2006/main">
              <a:ext uri="{FF2B5EF4-FFF2-40B4-BE49-F238E27FC236}">
                <a16:creationId xmlns:a16="http://schemas.microsoft.com/office/drawing/2014/main" id="{79CB2DED-D897-4268-81A9-A921A2184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670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8" name="rule-copy-0">
            <a:extLst xmlns:a="http://schemas.openxmlformats.org/drawingml/2006/main">
              <a:ext uri="{FF2B5EF4-FFF2-40B4-BE49-F238E27FC236}">
                <a16:creationId xmlns:a16="http://schemas.microsoft.com/office/drawing/2014/main" id="{AAA7AF27-1D66-490B-BF29-FEE33F704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590800"/>
            <a:ext cx="4095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La evaluación técnica funciona aunque fallen IA o RAG.</a:t>
            </a:r>
          </a:p>
        </p:txBody>
      </p:sp>
      <p:sp>
        <p:nvSpPr>
          <p:cNvPr id="29" name="rule-dot-1">
            <a:extLst xmlns:a="http://schemas.openxmlformats.org/drawingml/2006/main">
              <a:ext uri="{FF2B5EF4-FFF2-40B4-BE49-F238E27FC236}">
                <a16:creationId xmlns:a16="http://schemas.microsoft.com/office/drawing/2014/main" id="{90BF0976-FEB8-430B-86FC-0B72A436A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4099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9D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rule-n-1">
            <a:extLst xmlns:a="http://schemas.openxmlformats.org/drawingml/2006/main">
              <a:ext uri="{FF2B5EF4-FFF2-40B4-BE49-F238E27FC236}">
                <a16:creationId xmlns:a16="http://schemas.microsoft.com/office/drawing/2014/main" id="{782D1C04-24B6-4F35-9C5F-583481137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40995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1" name="rule-copy-1">
            <a:extLst xmlns:a="http://schemas.openxmlformats.org/drawingml/2006/main">
              <a:ext uri="{FF2B5EF4-FFF2-40B4-BE49-F238E27FC236}">
                <a16:creationId xmlns:a16="http://schemas.microsoft.com/office/drawing/2014/main" id="{8E80993A-A7F3-4455-8BFB-B110DB965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33750"/>
            <a:ext cx="4095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No se inicia alcance opcional antes de integrar el núcleo.</a:t>
            </a:r>
          </a:p>
        </p:txBody>
      </p:sp>
      <p:sp>
        <p:nvSpPr>
          <p:cNvPr id="32" name="rule-dot-2">
            <a:extLst xmlns:a="http://schemas.openxmlformats.org/drawingml/2006/main">
              <a:ext uri="{FF2B5EF4-FFF2-40B4-BE49-F238E27FC236}">
                <a16:creationId xmlns:a16="http://schemas.microsoft.com/office/drawing/2014/main" id="{B4AB915E-B6CE-4661-9C89-F7397D00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529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9A2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rule-n-2">
            <a:extLst xmlns:a="http://schemas.openxmlformats.org/drawingml/2006/main">
              <a:ext uri="{FF2B5EF4-FFF2-40B4-BE49-F238E27FC236}">
                <a16:creationId xmlns:a16="http://schemas.microsoft.com/office/drawing/2014/main" id="{5E2127BC-1C8E-4E4C-8C17-702747088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529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4" name="rule-copy-2">
            <a:extLst xmlns:a="http://schemas.openxmlformats.org/drawingml/2006/main">
              <a:ext uri="{FF2B5EF4-FFF2-40B4-BE49-F238E27FC236}">
                <a16:creationId xmlns:a16="http://schemas.microsoft.com/office/drawing/2014/main" id="{906EF464-7331-4149-94EA-0E1DE1C34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76700"/>
            <a:ext cx="4095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Definition of Done incluye pruebas, documentación y evidencia.</a:t>
            </a:r>
          </a:p>
        </p:txBody>
      </p:sp>
      <p:sp>
        <p:nvSpPr>
          <p:cNvPr id="35" name="rule-dot-3">
            <a:extLst xmlns:a="http://schemas.openxmlformats.org/drawingml/2006/main">
              <a:ext uri="{FF2B5EF4-FFF2-40B4-BE49-F238E27FC236}">
                <a16:creationId xmlns:a16="http://schemas.microsoft.com/office/drawing/2014/main" id="{29F8FD5E-4CF1-4D50-9749-7ECE6F2EB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8958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5D6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rule-n-3">
            <a:extLst xmlns:a="http://schemas.openxmlformats.org/drawingml/2006/main">
              <a:ext uri="{FF2B5EF4-FFF2-40B4-BE49-F238E27FC236}">
                <a16:creationId xmlns:a16="http://schemas.microsoft.com/office/drawing/2014/main" id="{7055B2D5-A8E9-474D-91EE-37EA28746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89585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75" b="1" i="0">
                <a:solidFill>
                  <a:srgbClr val="FFFFFF"/>
                </a:solidFill>
              </a:defRPr>
            </a:pPr>
            <a:r>
              <a:rPr sz="975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7" name="rule-copy-3">
            <a:extLst xmlns:a="http://schemas.openxmlformats.org/drawingml/2006/main">
              <a:ext uri="{FF2B5EF4-FFF2-40B4-BE49-F238E27FC236}">
                <a16:creationId xmlns:a16="http://schemas.microsoft.com/office/drawing/2014/main" id="{5320743C-08F7-437E-9D67-4E445F4AE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819650"/>
            <a:ext cx="4095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243B53"/>
                </a:solidFill>
              </a:defRPr>
            </a:pPr>
            <a:r>
              <a:rPr sz="1425" b="0" i="0">
                <a:solidFill>
                  <a:srgbClr val="243B53"/>
                </a:solidFill>
              </a:rPr>
              <a:t>Semana 15: feature freeze; solo correcciones críticas.</a:t>
            </a:r>
          </a:p>
        </p:txBody>
      </p:sp>
      <p:sp>
        <p:nvSpPr>
          <p:cNvPr id="38" name="close-line">
            <a:extLst xmlns:a="http://schemas.openxmlformats.org/drawingml/2006/main">
              <a:ext uri="{FF2B5EF4-FFF2-40B4-BE49-F238E27FC236}">
                <a16:creationId xmlns:a16="http://schemas.microsoft.com/office/drawing/2014/main" id="{7ACE14C5-81D2-449C-A1B1-2DBE2D559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676900"/>
            <a:ext cx="44767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02A43"/>
                </a:solidFill>
              </a:defRPr>
            </a:pPr>
            <a:r>
              <a:rPr sz="1350" b="1" i="0">
                <a:solidFill>
                  <a:srgbClr val="102A43"/>
                </a:solidFill>
              </a:rPr>
              <a:t>Próxima revisión: validar Sprint Goal, capacidad real del equipo y riesgos técnicos abiertos.</a:t>
            </a:r>
          </a:p>
        </p:txBody>
      </p:sp>
    </p:spTree>
    <p:extLst>
      <p:ext uri="{BB962C8B-B14F-4D97-AF65-F5344CB8AC3E}">
        <p14:creationId xmlns:p14="http://schemas.microsoft.com/office/powerpoint/2010/main" val="84894474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2026-09-03T02:48:31.3840000Z</dcterms:created>
  <dcterms:modified xsi:type="dcterms:W3CDTF">2026-09-03T02:48:31.3840000Z</dcterms:modified>
</coreProperties>
</file>