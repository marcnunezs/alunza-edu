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b670e43bdb4a8d" /><Relationship Type="http://schemas.openxmlformats.org/officeDocument/2006/relationships/extended-properties" Target="/docProps/app.xml" Id="R2b50c163e4e94410" /><Relationship Type="http://schemas.openxmlformats.org/officeDocument/2006/relationships/officeDocument" Target="/ppt/presentation.xml" Id="R51f36661db15447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052a39f9d184ea6"/>
  </p:sldMasterIdLst>
  <p:notesMasterIdLst>
    <p:notesMasterId xmlns:r="http://schemas.openxmlformats.org/officeDocument/2006/relationships" r:id="Ra4ba17f1f3234f4d"/>
  </p:notesMasterIdLst>
  <p:sldIdLst>
    <p:sldId xmlns:r="http://schemas.openxmlformats.org/officeDocument/2006/relationships" id="256" r:id="Rd8f8d7d3ef884d9f"/>
    <p:sldId xmlns:r="http://schemas.openxmlformats.org/officeDocument/2006/relationships" id="257" r:id="Rd3ffbf47cdc84c04"/>
    <p:sldId xmlns:r="http://schemas.openxmlformats.org/officeDocument/2006/relationships" id="258" r:id="Rbf3fabb2e3844778"/>
    <p:sldId xmlns:r="http://schemas.openxmlformats.org/officeDocument/2006/relationships" id="259" r:id="Rada5fd35d1084f74"/>
    <p:sldId xmlns:r="http://schemas.openxmlformats.org/officeDocument/2006/relationships" id="260" r:id="R01443463ac6943e2"/>
    <p:sldId xmlns:r="http://schemas.openxmlformats.org/officeDocument/2006/relationships" id="261" r:id="Rad1a819d0d6e4d08"/>
    <p:sldId xmlns:r="http://schemas.openxmlformats.org/officeDocument/2006/relationships" id="262" r:id="R0a44b2bb8b864a7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b7f1965b00c4f46" /><Relationship Type="http://schemas.openxmlformats.org/officeDocument/2006/relationships/slideMaster" Target="/ppt/slideMasters/slideMaster1.xml" Id="R9052a39f9d184ea6" /><Relationship Type="http://schemas.openxmlformats.org/officeDocument/2006/relationships/notesMaster" Target="/ppt/notesMasters/notesMaster1.xml" Id="Ra4ba17f1f3234f4d" /><Relationship Type="http://schemas.openxmlformats.org/officeDocument/2006/relationships/presProps" Target="/ppt/presProps.xml" Id="Ra1c9f65ee80d4c40" /><Relationship Type="http://schemas.openxmlformats.org/officeDocument/2006/relationships/tableStyles" Target="/ppt/tableStyles.xml" Id="R7ffa7900c2c14cb5" /><Relationship Type="http://schemas.openxmlformats.org/officeDocument/2006/relationships/slide" Target="/ppt/slides/slide1.xml" Id="Rd8f8d7d3ef884d9f" /><Relationship Type="http://schemas.openxmlformats.org/officeDocument/2006/relationships/slide" Target="/ppt/slides/slide2.xml" Id="Rd3ffbf47cdc84c04" /><Relationship Type="http://schemas.openxmlformats.org/officeDocument/2006/relationships/slide" Target="/ppt/slides/slide3.xml" Id="Rbf3fabb2e3844778" /><Relationship Type="http://schemas.openxmlformats.org/officeDocument/2006/relationships/slide" Target="/ppt/slides/slide4.xml" Id="Rada5fd35d1084f74" /><Relationship Type="http://schemas.openxmlformats.org/officeDocument/2006/relationships/slide" Target="/ppt/slides/slide5.xml" Id="R01443463ac6943e2" /><Relationship Type="http://schemas.openxmlformats.org/officeDocument/2006/relationships/slide" Target="/ppt/slides/slide6.xml" Id="Rad1a819d0d6e4d08" /><Relationship Type="http://schemas.openxmlformats.org/officeDocument/2006/relationships/slide" Target="/ppt/slides/slide7.xml" Id="R0a44b2bb8b864a7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afdd2f02d94ce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33d4de2ab46445c" /><Relationship Type="http://schemas.openxmlformats.org/officeDocument/2006/relationships/notesMaster" Target="/ppt/notesMasters/notesMaster1.xml" Id="R239786ae6846461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384da0890cf4bc8" /><Relationship Type="http://schemas.openxmlformats.org/officeDocument/2006/relationships/notesMaster" Target="/ppt/notesMasters/notesMaster1.xml" Id="Rc69f3309fa2340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e7bc1d05492467a" /><Relationship Type="http://schemas.openxmlformats.org/officeDocument/2006/relationships/notesMaster" Target="/ppt/notesMasters/notesMaster1.xml" Id="R4b59d10b969b4b4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e2cc008de54973" /><Relationship Type="http://schemas.openxmlformats.org/officeDocument/2006/relationships/notesMaster" Target="/ppt/notesMasters/notesMaster1.xml" Id="R8606a278cb7a4af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db66a6cd83f4199" /><Relationship Type="http://schemas.openxmlformats.org/officeDocument/2006/relationships/notesMaster" Target="/ppt/notesMasters/notesMaster1.xml" Id="Rcd40cd2f22e344f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1b351fa9234631" /><Relationship Type="http://schemas.openxmlformats.org/officeDocument/2006/relationships/notesMaster" Target="/ppt/notesMasters/notesMaster1.xml" Id="R2e3fdd73d002464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af4d1b2b3974fc3" /><Relationship Type="http://schemas.openxmlformats.org/officeDocument/2006/relationships/notesMaster" Target="/ppt/notesMasters/notesMaster1.xml" Id="Red935e66b80f49a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Acta_de_Constitucion_Alunza.docx, versión 1.3.</a:t>
            </a:r>
          </a:p>
          <a:p xmlns:a="http://schemas.openxmlformats.org/drawingml/2006/main">
            <a:r>
              <a:t>- Informe_ERS_Alunza.docx, versión 1.3.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[Accessibility]</a:t>
            </a:r>
          </a:p>
          <a:p xmlns:a="http://schemas.openxmlformats.org/drawingml/2006/main">
            <a:r>
              <a:t>Portada del roadmap con la revisión técnica del 04/09/2026 y las cuatro etapas del proyecto.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[Status]</a:t>
            </a:r>
          </a:p>
          <a:p xmlns:a="http://schemas.openxmlformats.org/drawingml/2006/main">
            <a:r>
              <a:t>La arquitectura híbrida está definida; la implementación comienza en S2.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Informe_ERS_Alunza.docx — Product Goal y flujo de valor.</a:t>
            </a:r>
          </a:p>
          <a:p xmlns:a="http://schemas.openxmlformats.org/drawingml/2006/main">
            <a:r>
              <a:t>- Documento_Casos_de_Uso_Extendidos_Alunza.docx — actividad principal.</a:t>
            </a:r>
          </a:p>
          <a:p xmlns:a="http://schemas.openxmlformats.org/drawingml/2006/main">
            <a:r>
              <a:t>- Product_Backlog_Alunza.xlsx — Product Backlog!A6:M32.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[Accessibility]</a:t>
            </a:r>
          </a:p>
          <a:p xmlns:a="http://schemas.openxmlformats.org/drawingml/2006/main">
            <a:r>
              <a:t>Flujo serpenteante de nueve pasos desde actividad publicada hasta evidencia docente. Tres recuadros aclaran fuente de verdad, función de IA/RAG y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[Status]</a:t>
            </a:r>
          </a:p>
          <a:p xmlns:a="http://schemas.openxmlformats.org/drawingml/2006/main">
            <a:r>
              <a:t>Product Goal estable; el flujo y su gobierno se implementan por incrementos S2–S7.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Informe_ERS_Alunza.docx, versión 1.3.</a:t>
            </a:r>
          </a:p>
          <a:p xmlns:a="http://schemas.openxmlformats.org/drawingml/2006/main">
            <a:r>
              <a:t>- Vercel Sandbox: https://vercel.com/docs/sandbox</a:t>
            </a:r>
          </a:p>
          <a:p xmlns:a="http://schemas.openxmlformats.org/drawingml/2006/main">
            <a:r>
              <a:t>- Supabase Auth: https://supabase.com/docs/guides/auth/architecture</a:t>
            </a:r>
          </a:p>
          <a:p xmlns:a="http://schemas.openxmlformats.org/drawingml/2006/main">
            <a:r>
              <a:t>- Azure Container Apps: https://learn.microsoft.com/en-us/azure/container-apps/billing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[Accessibility]</a:t>
            </a:r>
          </a:p>
          <a:p xmlns:a="http://schemas.openxmlformats.org/drawingml/2006/main">
            <a:r>
              <a:t>Cuatro horizontes muestran el cierre de Fase 1 con AD-ARQ-001 y la construcción de la base híbrida en S2 a S4.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[Status]</a:t>
            </a:r>
          </a:p>
          <a:p xmlns:a="http://schemas.openxmlformats.org/drawingml/2006/main">
            <a:r>
              <a:t>La selección tecnológica no queda pendiente; se validará su operación.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Product_Backlog_Alunza.xlsx.</a:t>
            </a:r>
          </a:p>
          <a:p xmlns:a="http://schemas.openxmlformats.org/drawingml/2006/main">
            <a:r>
              <a:t>- Sprint_Backlog_Alunza_Sprint_2.xlsx.</a:t>
            </a:r>
          </a:p>
          <a:p xmlns:a="http://schemas.openxmlformats.org/drawingml/2006/main">
            <a:r>
              <a:t>- Informe_ERS_Alunza.docx, versión 1.3.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[Accessibility]</a:t>
            </a:r>
          </a:p>
          <a:p xmlns:a="http://schemas.openxmlformats.org/drawingml/2006/main">
            <a:r>
              <a:t>Nueve sprints se distribuyen en cuatro etapas. S2 establece Vercel, Supabase y Azure; S4 integra Vercel Sandbox como ejecutor productivo.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[Status]</a:t>
            </a:r>
          </a:p>
          <a:p xmlns:a="http://schemas.openxmlformats.org/drawingml/2006/main">
            <a:r>
              <a:t>Se conservan historias y semanas; sólo se actualizan la base técnica y la validación operativa.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Informe_ERS_Alunza.docx — alcance y exclusiones.</a:t>
            </a:r>
          </a:p>
          <a:p xmlns:a="http://schemas.openxmlformats.org/drawingml/2006/main">
            <a:r>
              <a:t>- Product_Backlog_Alunza.xlsx — priorización S2–S7.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[Accessibility]</a:t>
            </a:r>
          </a:p>
          <a:p xmlns:a="http://schemas.openxmlformats.org/drawingml/2006/main">
            <a:r>
              <a:t>Tres columnas muestran Must, Should y Could. Must incorpora administración multi-organización y su gobierno operativo; una franja inferior identifica las exclusiones formales.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[Status]</a:t>
            </a:r>
          </a:p>
          <a:p xmlns:a="http://schemas.openxmlformats.org/drawingml/2006/main">
            <a:r>
              <a:t>Regla de corte: si una capacidad opcional amenaza el flujo principal, vuelve al Product Backlog.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Acta_de_Constitucion_Alunza.docx — hitos CAPSTONE.</a:t>
            </a:r>
          </a:p>
          <a:p xmlns:a="http://schemas.openxmlformats.org/drawingml/2006/main">
            <a:r>
              <a:t>- Documento_Avance_Sprint_1_Alunza.docx — Fase 1.</a:t>
            </a:r>
          </a:p>
          <a:p xmlns:a="http://schemas.openxmlformats.org/drawingml/2006/main">
            <a:r>
              <a:t>- Informe_ERS_Alunza.docx — mínimo de demostración.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[Accessibility]</a:t>
            </a:r>
          </a:p>
          <a:p xmlns:a="http://schemas.openxmlformats.org/drawingml/2006/main">
            <a:r>
              <a:t>Cuatro hitos muestran semana, ponderación académica, nombre y evidencia. Cinco recuadros inferiores muestran el mínimo de demostración.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[Status]</a:t>
            </a:r>
          </a:p>
          <a:p xmlns:a="http://schemas.openxmlformats.org/drawingml/2006/main">
            <a:r>
              <a:t>Se aclaró que 20/20/30/30 son ponderaciones académicas y no proporciones de tiempo.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Informe_ERS_Alunza.docx, versión 1.3.</a:t>
            </a:r>
          </a:p>
          <a:p xmlns:a="http://schemas.openxmlformats.org/drawingml/2006/main">
            <a:r>
              <a:t>- Vercel Sandbox: https://vercel.com/docs/sandbox</a:t>
            </a:r>
          </a:p>
          <a:p xmlns:a="http://schemas.openxmlformats.org/drawingml/2006/main">
            <a:r>
              <a:t>- Vercel Sandbox Pricing: https://vercel.com/docs/sandbox/pricing</a:t>
            </a:r>
          </a:p>
          <a:p xmlns:a="http://schemas.openxmlformats.org/drawingml/2006/main">
            <a:r>
              <a:t>- Supabase RLS: https://supabase.com/docs/guides/database/postgres/row-level-security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[Accessibility]</a:t>
            </a:r>
          </a:p>
          <a:p xmlns:a="http://schemas.openxmlformats.org/drawingml/2006/main">
            <a:r>
              <a:t>El ciclo de Sprint Review conserva cuatro pasos. Las reglas incluyen pruebas RLS y Sandbox; la siguiente actividad valida seguridad, latencia, costo, límites y región sin reabrir AD-ARQ-001.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[Status]</a:t>
            </a:r>
          </a:p>
          <a:p xmlns:a="http://schemas.openxmlformats.org/drawingml/2006/main">
            <a:r>
              <a:t>La arquitectura es definitiva; la evidencia operativa sigue pendiente.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0413a22e5145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2aad6f59f654c62" /><Relationship Type="http://schemas.openxmlformats.org/officeDocument/2006/relationships/slideLayout" Target="/ppt/slideLayouts/slideLayout1.xml" Id="Rdf3055d528af4b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3055d528af4b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d10ff71df74078" /><Relationship Type="http://schemas.openxmlformats.org/officeDocument/2006/relationships/notesSlide" Target="/ppt/notesSlides/notesSlide1.xml" Id="Rc82a89d7b1c24a3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668131164a49b5" /><Relationship Type="http://schemas.openxmlformats.org/officeDocument/2006/relationships/notesSlide" Target="/ppt/notesSlides/notesSlide2.xml" Id="R01dd7d6b665b439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5a4fee55714a01" /><Relationship Type="http://schemas.openxmlformats.org/officeDocument/2006/relationships/notesSlide" Target="/ppt/notesSlides/notesSlide3.xml" Id="R26af664940d9470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9ea5756dc1411e" /><Relationship Type="http://schemas.openxmlformats.org/officeDocument/2006/relationships/notesSlide" Target="/ppt/notesSlides/notesSlide4.xml" Id="Re1a3daf891eb4cc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917e110fa74cf6" /><Relationship Type="http://schemas.openxmlformats.org/officeDocument/2006/relationships/notesSlide" Target="/ppt/notesSlides/notesSlide5.xml" Id="Rb4ea9064550544d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aca35f694e43b9" /><Relationship Type="http://schemas.openxmlformats.org/officeDocument/2006/relationships/notesSlide" Target="/ppt/notesSlides/notesSlide6.xml" Id="R76ade71214224e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58448d100b4aba" /><Relationship Type="http://schemas.openxmlformats.org/officeDocument/2006/relationships/notesSlide" Target="/ppt/notesSlides/notesSlide7.xml" Id="R9564617e268449a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over-rail">
            <a:extLst xmlns:a="http://schemas.openxmlformats.org/drawingml/2006/main">
              <a:ext uri="{FF2B5EF4-FFF2-40B4-BE49-F238E27FC236}">
                <a16:creationId xmlns:a16="http://schemas.microsoft.com/office/drawing/2014/main" id="{EBA2DCA9-5423-4191-9D1B-2164ACAC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43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4E540728-BB23-48E2-BADB-BE8296ACB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F6FED"/>
                </a:solidFill>
              </a:defRPr>
            </a:pPr>
            <a:r>
              <a:rPr sz="1050" b="1" i="0">
                <a:solidFill>
                  <a:srgbClr val="2F6FED"/>
                </a:solidFill>
              </a:rPr>
              <a:t>ALUNZA · CAPSTONE 2026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6B7FD320-E180-450C-8F79-7016AB36CB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125730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102A43"/>
                </a:solidFill>
              </a:defRPr>
            </a:pPr>
            <a:r>
              <a:rPr sz="3600" b="1" i="0">
                <a:solidFill>
                  <a:srgbClr val="102A43"/>
                </a:solidFill>
              </a:rPr>
              <a:t>Roadmap ágil</a:t>
            </a:r>
          </a:p>
          <a:p xmlns:a="http://schemas.openxmlformats.org/drawingml/2006/main">
            <a:pPr algn="l">
              <a:buNone/>
              <a:defRPr sz="3600" b="1" i="0">
                <a:solidFill>
                  <a:srgbClr val="102A43"/>
                </a:solidFill>
              </a:defRPr>
            </a:pPr>
            <a:r>
              <a:rPr sz="3600" b="1" i="0">
                <a:solidFill>
                  <a:srgbClr val="102A43"/>
                </a:solidFill>
              </a:rPr>
              <a:t>del producto</a:t>
            </a:r>
          </a:p>
        </p:txBody>
      </p:sp>
      <p:sp>
        <p:nvSpPr>
          <p:cNvPr id="4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6109034-83BC-4351-9648-6F88B0EF2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76550"/>
            <a:ext cx="5715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 i="0">
                <a:solidFill>
                  <a:srgbClr val="159A8C"/>
                </a:solidFill>
              </a:defRPr>
            </a:pPr>
            <a:r>
              <a:rPr sz="1800" b="1" i="0">
                <a:solidFill>
                  <a:srgbClr val="159A8C"/>
                </a:solidFill>
              </a:rPr>
              <a:t>Tutor inteligente para Programación I</a:t>
            </a:r>
          </a:p>
        </p:txBody>
      </p:sp>
      <p:sp>
        <p:nvSpPr>
          <p:cNvPr id="5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DECC541A-627C-412E-8AD5-EE93CFD6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52850"/>
            <a:ext cx="5334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18 semanas orientadas a resultados verificables, revisables en cada Sprint Review.</a:t>
            </a:r>
          </a:p>
        </p:txBody>
      </p:sp>
      <p:sp>
        <p:nvSpPr>
          <p:cNvPr id="6" name="cover-status">
            <a:extLst xmlns:a="http://schemas.openxmlformats.org/drawingml/2006/main">
              <a:ext uri="{FF2B5EF4-FFF2-40B4-BE49-F238E27FC236}">
                <a16:creationId xmlns:a16="http://schemas.microsoft.com/office/drawing/2014/main" id="{1865EC41-05B2-4CC6-A937-1476E3A7C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24400"/>
            <a:ext cx="5715000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7" name="cover-status-text">
            <a:extLst xmlns:a="http://schemas.openxmlformats.org/drawingml/2006/main">
              <a:ext uri="{FF2B5EF4-FFF2-40B4-BE49-F238E27FC236}">
                <a16:creationId xmlns:a16="http://schemas.microsoft.com/office/drawing/2014/main" id="{870915E5-3D4D-465D-99D3-E7E976A91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76800"/>
            <a:ext cx="5257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Corte 02/09/2026, revisión técnica 04/09/2026</a:t>
            </a:r>
          </a:p>
          <a:p xmlns:a="http://schemas.openxmlformats.org/drawingml/2006/main">
            <a:pPr algn="l">
              <a:buNone/>
              <a:defRPr sz="1275" b="1" i="0">
                <a:solidFill>
                  <a:srgbClr val="102A43"/>
                </a:solidFill>
              </a:defRPr>
            </a:pPr>
            <a:r>
              <a:rPr sz="1275" b="1" i="0">
                <a:solidFill>
                  <a:srgbClr val="102A43"/>
                </a:solidFill>
              </a:rPr>
              <a:t>Arquitectura híbrida definida; implementación desde S2.</a:t>
            </a:r>
          </a:p>
        </p:txBody>
      </p:sp>
      <p:sp>
        <p:nvSpPr>
          <p:cNvPr id="8" name="cover-meta">
            <a:extLst xmlns:a="http://schemas.openxmlformats.org/drawingml/2006/main">
              <a:ext uri="{FF2B5EF4-FFF2-40B4-BE49-F238E27FC236}">
                <a16:creationId xmlns:a16="http://schemas.microsoft.com/office/drawing/2014/main" id="{E20B9DCD-5EE7-4906-8C58-AB7F9CB8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198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Periodo: 11/08/2026–17/12/2026 · 9 sprints de 2 semanas</a:t>
            </a:r>
          </a:p>
        </p:txBody>
      </p:sp>
      <p:sp>
        <p:nvSpPr>
          <p:cNvPr id="9" name="cover-path">
            <a:extLst xmlns:a="http://schemas.openxmlformats.org/drawingml/2006/main">
              <a:ext uri="{FF2B5EF4-FFF2-40B4-BE49-F238E27FC236}">
                <a16:creationId xmlns:a16="http://schemas.microsoft.com/office/drawing/2014/main" id="{7D239EBF-B4B0-4215-9A6A-38C1CA63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428750"/>
            <a:ext cx="0" cy="3657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D8E3EF"/>
            </a:solidFill>
            <a:prstDash val="solid"/>
          </a:ln>
        </p:spPr>
      </p:sp>
      <p:sp>
        <p:nvSpPr>
          <p:cNvPr id="10" name="cover-stage-0">
            <a:extLst xmlns:a="http://schemas.openxmlformats.org/drawingml/2006/main">
              <a:ext uri="{FF2B5EF4-FFF2-40B4-BE49-F238E27FC236}">
                <a16:creationId xmlns:a16="http://schemas.microsoft.com/office/drawing/2014/main" id="{13CFDFFA-DBAC-40A7-9E6C-CE00C6696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0668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cover-stage-n-0">
            <a:extLst xmlns:a="http://schemas.openxmlformats.org/drawingml/2006/main">
              <a:ext uri="{FF2B5EF4-FFF2-40B4-BE49-F238E27FC236}">
                <a16:creationId xmlns:a16="http://schemas.microsoft.com/office/drawing/2014/main" id="{24F41B3A-BC62-4A46-B708-ABA7C987A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2573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over-stage-l-0">
            <a:extLst xmlns:a="http://schemas.openxmlformats.org/drawingml/2006/main">
              <a:ext uri="{FF2B5EF4-FFF2-40B4-BE49-F238E27FC236}">
                <a16:creationId xmlns:a16="http://schemas.microsoft.com/office/drawing/2014/main" id="{7539C454-A5CA-494F-AC89-394C9D1E9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2382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Definir</a:t>
            </a:r>
          </a:p>
        </p:txBody>
      </p:sp>
      <p:sp>
        <p:nvSpPr>
          <p:cNvPr id="13" name="cover-stage-1">
            <a:extLst xmlns:a="http://schemas.openxmlformats.org/drawingml/2006/main">
              <a:ext uri="{FF2B5EF4-FFF2-40B4-BE49-F238E27FC236}">
                <a16:creationId xmlns:a16="http://schemas.microsoft.com/office/drawing/2014/main" id="{5CD80B59-A893-4003-A2B4-3A9F2FBF8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2860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14" name="cover-stage-n-1">
            <a:extLst xmlns:a="http://schemas.openxmlformats.org/drawingml/2006/main">
              <a:ext uri="{FF2B5EF4-FFF2-40B4-BE49-F238E27FC236}">
                <a16:creationId xmlns:a16="http://schemas.microsoft.com/office/drawing/2014/main" id="{143BACD0-46C0-428F-8B80-568AC0A6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765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5" name="cover-stage-l-1">
            <a:extLst xmlns:a="http://schemas.openxmlformats.org/drawingml/2006/main">
              <a:ext uri="{FF2B5EF4-FFF2-40B4-BE49-F238E27FC236}">
                <a16:creationId xmlns:a16="http://schemas.microsoft.com/office/drawing/2014/main" id="{6B2EE8F8-5BAB-4E22-B05C-1660AFAD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574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Construir</a:t>
            </a:r>
          </a:p>
        </p:txBody>
      </p:sp>
      <p:sp>
        <p:nvSpPr>
          <p:cNvPr id="16" name="cover-stage-2">
            <a:extLst xmlns:a="http://schemas.openxmlformats.org/drawingml/2006/main">
              <a:ext uri="{FF2B5EF4-FFF2-40B4-BE49-F238E27FC236}">
                <a16:creationId xmlns:a16="http://schemas.microsoft.com/office/drawing/2014/main" id="{89FEF8F6-7DBC-4291-B6B5-BB0602A2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052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E"/>
          </a:solidFill>
          <a:ln xmlns:a="http://schemas.openxmlformats.org/drawingml/2006/main" w="0">
            <a:solidFill>
              <a:srgbClr val="F4B63E"/>
            </a:solidFill>
            <a:prstDash val="solid"/>
          </a:ln>
        </p:spPr>
      </p:sp>
      <p:sp>
        <p:nvSpPr>
          <p:cNvPr id="17" name="cover-stage-n-2">
            <a:extLst xmlns:a="http://schemas.openxmlformats.org/drawingml/2006/main">
              <a:ext uri="{FF2B5EF4-FFF2-40B4-BE49-F238E27FC236}">
                <a16:creationId xmlns:a16="http://schemas.microsoft.com/office/drawing/2014/main" id="{2DEFDC5C-AD98-428F-8A8E-367D9163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6957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cover-stage-l-2">
            <a:extLst xmlns:a="http://schemas.openxmlformats.org/drawingml/2006/main">
              <a:ext uri="{FF2B5EF4-FFF2-40B4-BE49-F238E27FC236}">
                <a16:creationId xmlns:a16="http://schemas.microsoft.com/office/drawing/2014/main" id="{C56422D5-3097-4480-8FD2-249753BA0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6766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Validar</a:t>
            </a:r>
          </a:p>
        </p:txBody>
      </p:sp>
      <p:sp>
        <p:nvSpPr>
          <p:cNvPr id="19" name="cover-stage-3">
            <a:extLst xmlns:a="http://schemas.openxmlformats.org/drawingml/2006/main">
              <a:ext uri="{FF2B5EF4-FFF2-40B4-BE49-F238E27FC236}">
                <a16:creationId xmlns:a16="http://schemas.microsoft.com/office/drawing/2014/main" id="{4D0497F9-7292-4BB8-B0B3-17241ABE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72440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5C6B"/>
          </a:solidFill>
          <a:ln xmlns:a="http://schemas.openxmlformats.org/drawingml/2006/main" w="0">
            <a:solidFill>
              <a:srgbClr val="DE5C6B"/>
            </a:solidFill>
            <a:prstDash val="solid"/>
          </a:ln>
        </p:spPr>
      </p:sp>
      <p:sp>
        <p:nvSpPr>
          <p:cNvPr id="20" name="cover-stage-n-3">
            <a:extLst xmlns:a="http://schemas.openxmlformats.org/drawingml/2006/main">
              <a:ext uri="{FF2B5EF4-FFF2-40B4-BE49-F238E27FC236}">
                <a16:creationId xmlns:a16="http://schemas.microsoft.com/office/drawing/2014/main" id="{96B874AB-1AAD-4055-B3B3-128577B1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14900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cover-stage-l-3">
            <a:extLst xmlns:a="http://schemas.openxmlformats.org/drawingml/2006/main">
              <a:ext uri="{FF2B5EF4-FFF2-40B4-BE49-F238E27FC236}">
                <a16:creationId xmlns:a16="http://schemas.microsoft.com/office/drawing/2014/main" id="{8A487BDF-5FAC-4DC5-98CB-8E49E7B5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95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Estabilizar</a:t>
            </a:r>
          </a:p>
        </p:txBody>
      </p:sp>
    </p:spTree>
    <p:extLst>
      <p:ext uri="{BB962C8B-B14F-4D97-AF65-F5344CB8AC3E}">
        <p14:creationId xmlns:p14="http://schemas.microsoft.com/office/powerpoint/2010/main" val="9307607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rail-2">
            <a:extLst xmlns:a="http://schemas.openxmlformats.org/drawingml/2006/main">
              <a:ext uri="{FF2B5EF4-FFF2-40B4-BE49-F238E27FC236}">
                <a16:creationId xmlns:a16="http://schemas.microsoft.com/office/drawing/2014/main" id="{E4A9BF66-E11B-4937-B6E4-36034A15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" name="kicker-2">
            <a:extLst xmlns:a="http://schemas.openxmlformats.org/drawingml/2006/main">
              <a:ext uri="{FF2B5EF4-FFF2-40B4-BE49-F238E27FC236}">
                <a16:creationId xmlns:a16="http://schemas.microsoft.com/office/drawing/2014/main" id="{132F8166-E85F-42BF-80BB-4C8954CC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F6FED"/>
                </a:solidFill>
              </a:defRPr>
            </a:pPr>
            <a:r>
              <a:rPr sz="900" b="1" i="0">
                <a:solidFill>
                  <a:srgbClr val="2F6FED"/>
                </a:solidFill>
              </a:rPr>
              <a:t>PRODUCT GOAL</a:t>
            </a:r>
          </a:p>
        </p:txBody>
      </p:sp>
      <p:sp>
        <p:nvSpPr>
          <p:cNvPr id="3" name="title-2">
            <a:extLst xmlns:a="http://schemas.openxmlformats.org/drawingml/2006/main">
              <a:ext uri="{FF2B5EF4-FFF2-40B4-BE49-F238E27FC236}">
                <a16:creationId xmlns:a16="http://schemas.microsoft.com/office/drawing/2014/main" id="{BFDBD8E4-FDAB-4668-BF5C-3799BA904AC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33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La unidad de avance es una vertical completa y verificable</a:t>
            </a:r>
          </a:p>
        </p:txBody>
      </p:sp>
      <p:sp>
        <p:nvSpPr>
          <p:cNvPr id="4" name="header-line-2">
            <a:extLst xmlns:a="http://schemas.openxmlformats.org/drawingml/2006/main">
              <a:ext uri="{FF2B5EF4-FFF2-40B4-BE49-F238E27FC236}">
                <a16:creationId xmlns:a16="http://schemas.microsoft.com/office/drawing/2014/main" id="{06C0DEF3-8D64-4C20-B3DF-36CEF8C52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9136FABA-94D0-4468-B401-2C7387350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ALUNZA · CAPSTONE 2026 · SEDE PUENTE ALTO</a:t>
            </a:r>
          </a:p>
        </p:txBody>
      </p:sp>
      <p:sp>
        <p:nvSpPr>
          <p:cNvPr id="6" name="page-2">
            <a:extLst xmlns:a="http://schemas.openxmlformats.org/drawingml/2006/main">
              <a:ext uri="{FF2B5EF4-FFF2-40B4-BE49-F238E27FC236}">
                <a16:creationId xmlns:a16="http://schemas.microsoft.com/office/drawing/2014/main" id="{0BB8A564-7AF6-4124-BAD9-53F30A871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02</a:t>
            </a:r>
          </a:p>
        </p:txBody>
      </p:sp>
      <p:sp>
        <p:nvSpPr>
          <p:cNvPr id="7" name="goal-lead">
            <a:extLst xmlns:a="http://schemas.openxmlformats.org/drawingml/2006/main">
              <a:ext uri="{FF2B5EF4-FFF2-40B4-BE49-F238E27FC236}">
                <a16:creationId xmlns:a16="http://schemas.microsoft.com/office/drawing/2014/main" id="{1A46F0A4-FB0C-4D3D-8DD1-07309C24D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64748B"/>
                </a:solidFill>
              </a:defRPr>
            </a:pPr>
            <a:r>
              <a:rPr sz="1275" b="0" i="0">
                <a:solidFill>
                  <a:srgbClr val="64748B"/>
                </a:solidFill>
              </a:rPr>
              <a:t>El estudiante aprende con evidencia; el profesor interviene sobre reglas y fuentes verificables.</a:t>
            </a:r>
          </a:p>
        </p:txBody>
      </p:sp>
      <p:sp>
        <p:nvSpPr>
          <p:cNvPr id="8" name="goal-top-line">
            <a:extLst xmlns:a="http://schemas.openxmlformats.org/drawingml/2006/main">
              <a:ext uri="{FF2B5EF4-FFF2-40B4-BE49-F238E27FC236}">
                <a16:creationId xmlns:a16="http://schemas.microsoft.com/office/drawing/2014/main" id="{61273D9B-86DF-4541-BC6C-350AB61C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71750"/>
            <a:ext cx="9886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E3EF"/>
            </a:solidFill>
            <a:prstDash val="solid"/>
          </a:ln>
        </p:spPr>
      </p:sp>
      <p:sp>
        <p:nvSpPr>
          <p:cNvPr id="9" name="goal-turn-line">
            <a:extLst xmlns:a="http://schemas.openxmlformats.org/drawingml/2006/main">
              <a:ext uri="{FF2B5EF4-FFF2-40B4-BE49-F238E27FC236}">
                <a16:creationId xmlns:a16="http://schemas.microsoft.com/office/drawing/2014/main" id="{32B8BB38-1FA4-4D2C-943A-0B070E84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2571750"/>
            <a:ext cx="0" cy="1790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E3EF"/>
            </a:solidFill>
            <a:prstDash val="solid"/>
          </a:ln>
        </p:spPr>
      </p:sp>
      <p:sp>
        <p:nvSpPr>
          <p:cNvPr id="10" name="goal-bottom-line">
            <a:extLst xmlns:a="http://schemas.openxmlformats.org/drawingml/2006/main">
              <a:ext uri="{FF2B5EF4-FFF2-40B4-BE49-F238E27FC236}">
                <a16:creationId xmlns:a16="http://schemas.microsoft.com/office/drawing/2014/main" id="{DA39A8A6-CC9F-485C-BF86-52A51E53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3624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D8E3EF"/>
            </a:solidFill>
            <a:prstDash val="solid"/>
          </a:ln>
        </p:spPr>
      </p:sp>
      <p:sp>
        <p:nvSpPr>
          <p:cNvPr id="11" name="goal-top-0-circle">
            <a:extLst xmlns:a="http://schemas.openxmlformats.org/drawingml/2006/main">
              <a:ext uri="{FF2B5EF4-FFF2-40B4-BE49-F238E27FC236}">
                <a16:creationId xmlns:a16="http://schemas.microsoft.com/office/drawing/2014/main" id="{01456CC9-4155-4BB0-971C-2D3E12FF0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2" name="goal-top-0-number">
            <a:extLst xmlns:a="http://schemas.openxmlformats.org/drawingml/2006/main">
              <a:ext uri="{FF2B5EF4-FFF2-40B4-BE49-F238E27FC236}">
                <a16:creationId xmlns:a16="http://schemas.microsoft.com/office/drawing/2014/main" id="{070D3472-ED9C-42A9-8924-8BD3C4835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0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3" name="goal-top-0-label">
            <a:extLst xmlns:a="http://schemas.openxmlformats.org/drawingml/2006/main">
              <a:ext uri="{FF2B5EF4-FFF2-40B4-BE49-F238E27FC236}">
                <a16:creationId xmlns:a16="http://schemas.microsoft.com/office/drawing/2014/main" id="{271C81D7-194F-43FE-B88A-6573D2018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924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Actividad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publicada</a:t>
            </a:r>
          </a:p>
        </p:txBody>
      </p:sp>
      <p:sp>
        <p:nvSpPr>
          <p:cNvPr id="14" name="goal-top-1-circle">
            <a:extLst xmlns:a="http://schemas.openxmlformats.org/drawingml/2006/main">
              <a:ext uri="{FF2B5EF4-FFF2-40B4-BE49-F238E27FC236}">
                <a16:creationId xmlns:a16="http://schemas.microsoft.com/office/drawing/2014/main" id="{AF0BBA87-68C9-4ED4-AA18-BA377068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5" name="goal-top-1-number">
            <a:extLst xmlns:a="http://schemas.openxmlformats.org/drawingml/2006/main">
              <a:ext uri="{FF2B5EF4-FFF2-40B4-BE49-F238E27FC236}">
                <a16:creationId xmlns:a16="http://schemas.microsoft.com/office/drawing/2014/main" id="{27CC5389-6CFF-4E52-ACC3-1754B5B8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goal-top-1-label">
            <a:extLst xmlns:a="http://schemas.openxmlformats.org/drawingml/2006/main">
              <a:ext uri="{FF2B5EF4-FFF2-40B4-BE49-F238E27FC236}">
                <a16:creationId xmlns:a16="http://schemas.microsoft.com/office/drawing/2014/main" id="{E3EF2554-7DF0-4F19-ADC4-7840D488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24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Intento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registrado</a:t>
            </a:r>
          </a:p>
        </p:txBody>
      </p:sp>
      <p:sp>
        <p:nvSpPr>
          <p:cNvPr id="17" name="goal-top-2-circle">
            <a:extLst xmlns:a="http://schemas.openxmlformats.org/drawingml/2006/main">
              <a:ext uri="{FF2B5EF4-FFF2-40B4-BE49-F238E27FC236}">
                <a16:creationId xmlns:a16="http://schemas.microsoft.com/office/drawing/2014/main" id="{15BABBEE-CBA4-4558-8DD8-E2B4BDF80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8" name="goal-top-2-number">
            <a:extLst xmlns:a="http://schemas.openxmlformats.org/drawingml/2006/main">
              <a:ext uri="{FF2B5EF4-FFF2-40B4-BE49-F238E27FC236}">
                <a16:creationId xmlns:a16="http://schemas.microsoft.com/office/drawing/2014/main" id="{9B4C59BF-288D-4809-9933-848FA9285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2400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goal-top-2-label">
            <a:extLst xmlns:a="http://schemas.openxmlformats.org/drawingml/2006/main">
              <a:ext uri="{FF2B5EF4-FFF2-40B4-BE49-F238E27FC236}">
                <a16:creationId xmlns:a16="http://schemas.microsoft.com/office/drawing/2014/main" id="{FAAEA79B-4EA4-4D83-8886-9AEF93AF3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924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Código JS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ejecutado</a:t>
            </a:r>
          </a:p>
        </p:txBody>
      </p:sp>
      <p:sp>
        <p:nvSpPr>
          <p:cNvPr id="20" name="goal-top-3-circle">
            <a:extLst xmlns:a="http://schemas.openxmlformats.org/drawingml/2006/main">
              <a:ext uri="{FF2B5EF4-FFF2-40B4-BE49-F238E27FC236}">
                <a16:creationId xmlns:a16="http://schemas.microsoft.com/office/drawing/2014/main" id="{DF2904C8-0205-48AC-BE97-1044B44D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1" name="goal-top-3-number">
            <a:extLst xmlns:a="http://schemas.openxmlformats.org/drawingml/2006/main">
              <a:ext uri="{FF2B5EF4-FFF2-40B4-BE49-F238E27FC236}">
                <a16:creationId xmlns:a16="http://schemas.microsoft.com/office/drawing/2014/main" id="{4832C9D3-18BD-4A44-BBF9-3C0DAEA13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400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goal-top-3-label">
            <a:extLst xmlns:a="http://schemas.openxmlformats.org/drawingml/2006/main">
              <a:ext uri="{FF2B5EF4-FFF2-40B4-BE49-F238E27FC236}">
                <a16:creationId xmlns:a16="http://schemas.microsoft.com/office/drawing/2014/main" id="{205D9FA8-2920-4694-9FEF-D5E3D2A0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924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Tests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verificables</a:t>
            </a:r>
          </a:p>
        </p:txBody>
      </p:sp>
      <p:sp>
        <p:nvSpPr>
          <p:cNvPr id="23" name="goal-top-4-circle">
            <a:extLst xmlns:a="http://schemas.openxmlformats.org/drawingml/2006/main">
              <a:ext uri="{FF2B5EF4-FFF2-40B4-BE49-F238E27FC236}">
                <a16:creationId xmlns:a16="http://schemas.microsoft.com/office/drawing/2014/main" id="{FC902F26-DBA4-4AD7-959F-E938AA888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050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24" name="goal-top-4-number">
            <a:extLst xmlns:a="http://schemas.openxmlformats.org/drawingml/2006/main">
              <a:ext uri="{FF2B5EF4-FFF2-40B4-BE49-F238E27FC236}">
                <a16:creationId xmlns:a16="http://schemas.microsoft.com/office/drawing/2014/main" id="{74A7B6BB-B297-4597-BB43-322D478A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003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5" name="goal-top-4-label">
            <a:extLst xmlns:a="http://schemas.openxmlformats.org/drawingml/2006/main">
              <a:ext uri="{FF2B5EF4-FFF2-40B4-BE49-F238E27FC236}">
                <a16:creationId xmlns:a16="http://schemas.microsoft.com/office/drawing/2014/main" id="{FAEC86B7-5D52-46E6-AF09-631C4943A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924175"/>
            <a:ext cx="1447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Diagnóstico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acotado</a:t>
            </a:r>
          </a:p>
        </p:txBody>
      </p:sp>
      <p:sp>
        <p:nvSpPr>
          <p:cNvPr id="26" name="goal-bottom-0-circle">
            <a:extLst xmlns:a="http://schemas.openxmlformats.org/drawingml/2006/main">
              <a:ext uri="{FF2B5EF4-FFF2-40B4-BE49-F238E27FC236}">
                <a16:creationId xmlns:a16="http://schemas.microsoft.com/office/drawing/2014/main" id="{3781FB3A-130F-48EF-9A3B-DF96FE7B6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095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E"/>
          </a:solidFill>
          <a:ln xmlns:a="http://schemas.openxmlformats.org/drawingml/2006/main" w="0">
            <a:solidFill>
              <a:srgbClr val="F4B63E"/>
            </a:solidFill>
            <a:prstDash val="solid"/>
          </a:ln>
        </p:spPr>
      </p:sp>
      <p:sp>
        <p:nvSpPr>
          <p:cNvPr id="27" name="goal-bottom-0-number">
            <a:extLst xmlns:a="http://schemas.openxmlformats.org/drawingml/2006/main">
              <a:ext uri="{FF2B5EF4-FFF2-40B4-BE49-F238E27FC236}">
                <a16:creationId xmlns:a16="http://schemas.microsoft.com/office/drawing/2014/main" id="{496586BB-965C-4749-B8DA-E95CF63D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4191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8" name="goal-bottom-0-label">
            <a:extLst xmlns:a="http://schemas.openxmlformats.org/drawingml/2006/main">
              <a:ext uri="{FF2B5EF4-FFF2-40B4-BE49-F238E27FC236}">
                <a16:creationId xmlns:a16="http://schemas.microsoft.com/office/drawing/2014/main" id="{F7309F08-3D0B-46FD-BD47-2383F92F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148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Fuente RAG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autorizada</a:t>
            </a:r>
          </a:p>
        </p:txBody>
      </p:sp>
      <p:sp>
        <p:nvSpPr>
          <p:cNvPr id="29" name="goal-bottom-1-circle">
            <a:extLst xmlns:a="http://schemas.openxmlformats.org/drawingml/2006/main">
              <a:ext uri="{FF2B5EF4-FFF2-40B4-BE49-F238E27FC236}">
                <a16:creationId xmlns:a16="http://schemas.microsoft.com/office/drawing/2014/main" id="{F313ADE9-6622-4AED-96C5-FA70E2D7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095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E"/>
          </a:solidFill>
          <a:ln xmlns:a="http://schemas.openxmlformats.org/drawingml/2006/main" w="0">
            <a:solidFill>
              <a:srgbClr val="F4B63E"/>
            </a:solidFill>
            <a:prstDash val="solid"/>
          </a:ln>
        </p:spPr>
      </p:sp>
      <p:sp>
        <p:nvSpPr>
          <p:cNvPr id="30" name="goal-bottom-1-number">
            <a:extLst xmlns:a="http://schemas.openxmlformats.org/drawingml/2006/main">
              <a:ext uri="{FF2B5EF4-FFF2-40B4-BE49-F238E27FC236}">
                <a16:creationId xmlns:a16="http://schemas.microsoft.com/office/drawing/2014/main" id="{6F38B8BE-6E75-4018-BAC3-307292CA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4191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7</a:t>
            </a:r>
          </a:p>
        </p:txBody>
      </p:sp>
      <p:sp>
        <p:nvSpPr>
          <p:cNvPr id="31" name="goal-bottom-1-label">
            <a:extLst xmlns:a="http://schemas.openxmlformats.org/drawingml/2006/main">
              <a:ext uri="{FF2B5EF4-FFF2-40B4-BE49-F238E27FC236}">
                <a16:creationId xmlns:a16="http://schemas.microsoft.com/office/drawing/2014/main" id="{CA3EECFE-3376-48CA-9C24-57CC3C4DB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7148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Feedback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progresivo</a:t>
            </a:r>
          </a:p>
        </p:txBody>
      </p:sp>
      <p:sp>
        <p:nvSpPr>
          <p:cNvPr id="32" name="goal-bottom-2-circle">
            <a:extLst xmlns:a="http://schemas.openxmlformats.org/drawingml/2006/main">
              <a:ext uri="{FF2B5EF4-FFF2-40B4-BE49-F238E27FC236}">
                <a16:creationId xmlns:a16="http://schemas.microsoft.com/office/drawing/2014/main" id="{F93B2ED4-8A31-4D33-8A07-511A660C6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95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5C6B"/>
          </a:solidFill>
          <a:ln xmlns:a="http://schemas.openxmlformats.org/drawingml/2006/main" w="0">
            <a:solidFill>
              <a:srgbClr val="DE5C6B"/>
            </a:solidFill>
            <a:prstDash val="solid"/>
          </a:ln>
        </p:spPr>
      </p:sp>
      <p:sp>
        <p:nvSpPr>
          <p:cNvPr id="33" name="goal-bottom-2-number">
            <a:extLst xmlns:a="http://schemas.openxmlformats.org/drawingml/2006/main">
              <a:ext uri="{FF2B5EF4-FFF2-40B4-BE49-F238E27FC236}">
                <a16:creationId xmlns:a16="http://schemas.microsoft.com/office/drawing/2014/main" id="{4DDDAFBF-4D2D-4D1B-9A32-04745E008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191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8</a:t>
            </a:r>
          </a:p>
        </p:txBody>
      </p:sp>
      <p:sp>
        <p:nvSpPr>
          <p:cNvPr id="34" name="goal-bottom-2-label">
            <a:extLst xmlns:a="http://schemas.openxmlformats.org/drawingml/2006/main">
              <a:ext uri="{FF2B5EF4-FFF2-40B4-BE49-F238E27FC236}">
                <a16:creationId xmlns:a16="http://schemas.microsoft.com/office/drawing/2014/main" id="{542E5E47-514D-4672-A244-59AABD46B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7148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Nuevo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intento</a:t>
            </a:r>
          </a:p>
        </p:txBody>
      </p:sp>
      <p:sp>
        <p:nvSpPr>
          <p:cNvPr id="35" name="goal-bottom-3-circle">
            <a:extLst xmlns:a="http://schemas.openxmlformats.org/drawingml/2006/main">
              <a:ext uri="{FF2B5EF4-FFF2-40B4-BE49-F238E27FC236}">
                <a16:creationId xmlns:a16="http://schemas.microsoft.com/office/drawing/2014/main" id="{30593D1A-A283-40B9-A5A9-234CE6CF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0957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5C6B"/>
          </a:solidFill>
          <a:ln xmlns:a="http://schemas.openxmlformats.org/drawingml/2006/main" w="0">
            <a:solidFill>
              <a:srgbClr val="DE5C6B"/>
            </a:solidFill>
            <a:prstDash val="solid"/>
          </a:ln>
        </p:spPr>
      </p:sp>
      <p:sp>
        <p:nvSpPr>
          <p:cNvPr id="36" name="goal-bottom-3-number">
            <a:extLst xmlns:a="http://schemas.openxmlformats.org/drawingml/2006/main">
              <a:ext uri="{FF2B5EF4-FFF2-40B4-BE49-F238E27FC236}">
                <a16:creationId xmlns:a16="http://schemas.microsoft.com/office/drawing/2014/main" id="{E7D85078-E642-4878-A04E-03F5B786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191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9</a:t>
            </a:r>
          </a:p>
        </p:txBody>
      </p:sp>
      <p:sp>
        <p:nvSpPr>
          <p:cNvPr id="37" name="goal-bottom-3-label">
            <a:extLst xmlns:a="http://schemas.openxmlformats.org/drawingml/2006/main">
              <a:ext uri="{FF2B5EF4-FFF2-40B4-BE49-F238E27FC236}">
                <a16:creationId xmlns:a16="http://schemas.microsoft.com/office/drawing/2014/main" id="{40D63B2E-A2AC-4216-911A-8AF57350B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4714875"/>
            <a:ext cx="1581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Evidencia</a:t>
            </a:r>
          </a:p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docente</a:t>
            </a:r>
          </a:p>
        </p:txBody>
      </p:sp>
      <p:sp>
        <p:nvSpPr>
          <p:cNvPr id="38" name="goal-truth-bg">
            <a:extLst xmlns:a="http://schemas.openxmlformats.org/drawingml/2006/main">
              <a:ext uri="{FF2B5EF4-FFF2-40B4-BE49-F238E27FC236}">
                <a16:creationId xmlns:a16="http://schemas.microsoft.com/office/drawing/2014/main" id="{E78858AD-EEA8-4312-8D20-88FB0CC3E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39" name="goal-truth-title">
            <a:extLst xmlns:a="http://schemas.openxmlformats.org/drawingml/2006/main">
              <a:ext uri="{FF2B5EF4-FFF2-40B4-BE49-F238E27FC236}">
                <a16:creationId xmlns:a16="http://schemas.microsoft.com/office/drawing/2014/main" id="{FA7BE0FD-690B-4E33-AB85-6A858E274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F6FED"/>
                </a:solidFill>
              </a:defRPr>
            </a:pPr>
            <a:r>
              <a:rPr sz="1050" b="1" i="0">
                <a:solidFill>
                  <a:srgbClr val="2F6FED"/>
                </a:solidFill>
              </a:rPr>
              <a:t>FUENTE DE VERDAD</a:t>
            </a:r>
          </a:p>
        </p:txBody>
      </p:sp>
      <p:sp>
        <p:nvSpPr>
          <p:cNvPr id="40" name="goal-truth-body">
            <a:extLst xmlns:a="http://schemas.openxmlformats.org/drawingml/2006/main">
              <a:ext uri="{FF2B5EF4-FFF2-40B4-BE49-F238E27FC236}">
                <a16:creationId xmlns:a16="http://schemas.microsoft.com/office/drawing/2014/main" id="{E9B3F836-C5A7-4E52-B36A-BF92120DD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243B53"/>
                </a:solidFill>
              </a:defRPr>
            </a:pPr>
            <a:r>
              <a:rPr sz="1050" b="0" i="0">
                <a:solidFill>
                  <a:srgbClr val="243B53"/>
                </a:solidFill>
              </a:rPr>
              <a:t>Test cases + reglas</a:t>
            </a:r>
          </a:p>
        </p:txBody>
      </p:sp>
      <p:sp>
        <p:nvSpPr>
          <p:cNvPr id="41" name="goal-ai-bg">
            <a:extLst xmlns:a="http://schemas.openxmlformats.org/drawingml/2006/main">
              <a:ext uri="{FF2B5EF4-FFF2-40B4-BE49-F238E27FC236}">
                <a16:creationId xmlns:a16="http://schemas.microsoft.com/office/drawing/2014/main" id="{77281B21-5295-488D-A1F9-C1A16425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37147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0EDFF"/>
          </a:solidFill>
          <a:ln xmlns:a="http://schemas.openxmlformats.org/drawingml/2006/main" w="9525">
            <a:solidFill>
              <a:srgbClr val="7563C9"/>
            </a:solidFill>
            <a:prstDash val="solid"/>
          </a:ln>
        </p:spPr>
      </p:sp>
      <p:sp>
        <p:nvSpPr>
          <p:cNvPr id="42" name="goal-ai-title">
            <a:extLst xmlns:a="http://schemas.openxmlformats.org/drawingml/2006/main">
              <a:ext uri="{FF2B5EF4-FFF2-40B4-BE49-F238E27FC236}">
                <a16:creationId xmlns:a16="http://schemas.microsoft.com/office/drawing/2014/main" id="{DB68B7A7-8482-4FDC-8741-AFBC0C07C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69595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7563C9"/>
                </a:solidFill>
              </a:defRPr>
            </a:pPr>
            <a:r>
              <a:rPr sz="1050" b="1" i="0">
                <a:solidFill>
                  <a:srgbClr val="7563C9"/>
                </a:solidFill>
              </a:rPr>
              <a:t>IA Y RAG</a:t>
            </a:r>
          </a:p>
        </p:txBody>
      </p:sp>
      <p:sp>
        <p:nvSpPr>
          <p:cNvPr id="43" name="goal-ai-body">
            <a:extLst xmlns:a="http://schemas.openxmlformats.org/drawingml/2006/main">
              <a:ext uri="{FF2B5EF4-FFF2-40B4-BE49-F238E27FC236}">
                <a16:creationId xmlns:a16="http://schemas.microsoft.com/office/drawing/2014/main" id="{95D039F6-8FC1-4D0A-9F52-10D6B7104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943600"/>
            <a:ext cx="3409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243B53"/>
                </a:solidFill>
              </a:defRPr>
            </a:pPr>
            <a:r>
              <a:rPr sz="1050" b="0" i="0">
                <a:solidFill>
                  <a:srgbClr val="243B53"/>
                </a:solidFill>
              </a:rPr>
              <a:t>Contextualizan; no bloquean</a:t>
            </a:r>
          </a:p>
        </p:txBody>
      </p:sp>
      <p:sp>
        <p:nvSpPr>
          <p:cNvPr id="44" name="goal-result-bg">
            <a:extLst xmlns:a="http://schemas.openxmlformats.org/drawingml/2006/main">
              <a:ext uri="{FF2B5EF4-FFF2-40B4-BE49-F238E27FC236}">
                <a16:creationId xmlns:a16="http://schemas.microsoft.com/office/drawing/2014/main" id="{1F55BD94-9AEE-4283-934A-D91DE48E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619750"/>
            <a:ext cx="314325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6F6F3"/>
          </a:solidFill>
          <a:ln xmlns:a="http://schemas.openxmlformats.org/drawingml/2006/main" w="9525">
            <a:solidFill>
              <a:srgbClr val="159A8C"/>
            </a:solidFill>
            <a:prstDash val="solid"/>
          </a:ln>
        </p:spPr>
      </p:sp>
      <p:sp>
        <p:nvSpPr>
          <p:cNvPr id="45" name="goal-result-title">
            <a:extLst xmlns:a="http://schemas.openxmlformats.org/drawingml/2006/main">
              <a:ext uri="{FF2B5EF4-FFF2-40B4-BE49-F238E27FC236}">
                <a16:creationId xmlns:a16="http://schemas.microsoft.com/office/drawing/2014/main" id="{19A96B19-1E12-4C81-9C9F-7A5F1F419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69595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59A8C"/>
                </a:solidFill>
              </a:defRPr>
            </a:pPr>
            <a:r>
              <a:rPr sz="1050" b="1" i="0">
                <a:solidFill>
                  <a:srgbClr val="159A8C"/>
                </a:solidFill>
              </a:rPr>
              <a:t>RESULTADO</a:t>
            </a:r>
          </a:p>
        </p:txBody>
      </p:sp>
      <p:sp>
        <p:nvSpPr>
          <p:cNvPr id="46" name="goal-result-body">
            <a:extLst xmlns:a="http://schemas.openxmlformats.org/drawingml/2006/main">
              <a:ext uri="{FF2B5EF4-FFF2-40B4-BE49-F238E27FC236}">
                <a16:creationId xmlns:a16="http://schemas.microsoft.com/office/drawing/2014/main" id="{B35D7FC5-06EC-4AB9-983B-7C433E6B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943600"/>
            <a:ext cx="2838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243B53"/>
                </a:solidFill>
              </a:defRPr>
            </a:pPr>
            <a:r>
              <a:rPr sz="1050" b="0" i="0">
                <a:solidFill>
                  <a:srgbClr val="243B53"/>
                </a:solidFill>
              </a:rPr>
              <a:t>Intervención explicable</a:t>
            </a:r>
          </a:p>
        </p:txBody>
      </p:sp>
    </p:spTree>
    <p:extLst>
      <p:ext uri="{BB962C8B-B14F-4D97-AF65-F5344CB8AC3E}">
        <p14:creationId xmlns:p14="http://schemas.microsoft.com/office/powerpoint/2010/main" val="15881644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rail-3">
            <a:extLst xmlns:a="http://schemas.openxmlformats.org/drawingml/2006/main">
              <a:ext uri="{FF2B5EF4-FFF2-40B4-BE49-F238E27FC236}">
                <a16:creationId xmlns:a16="http://schemas.microsoft.com/office/drawing/2014/main" id="{A76FDD2B-21A8-4D3E-BEFB-13E3FE22A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" name="kicker-3">
            <a:extLst xmlns:a="http://schemas.openxmlformats.org/drawingml/2006/main">
              <a:ext uri="{FF2B5EF4-FFF2-40B4-BE49-F238E27FC236}">
                <a16:creationId xmlns:a16="http://schemas.microsoft.com/office/drawing/2014/main" id="{DC15BB11-A174-4F9E-A2C2-E77A4D0D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F6FED"/>
                </a:solidFill>
              </a:defRPr>
            </a:pPr>
            <a:r>
              <a:rPr sz="900" b="1" i="0">
                <a:solidFill>
                  <a:srgbClr val="2F6FED"/>
                </a:solidFill>
              </a:rPr>
              <a:t>ROADMAP DE PRODUCTO</a:t>
            </a: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D2CBC311-9F8B-402D-A0B8-FD3A4CFE36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33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Cuatro horizontes convierten 18 semanas en decisiones</a:t>
            </a:r>
          </a:p>
        </p:txBody>
      </p:sp>
      <p:sp>
        <p:nvSpPr>
          <p:cNvPr id="4" name="header-line-3">
            <a:extLst xmlns:a="http://schemas.openxmlformats.org/drawingml/2006/main">
              <a:ext uri="{FF2B5EF4-FFF2-40B4-BE49-F238E27FC236}">
                <a16:creationId xmlns:a16="http://schemas.microsoft.com/office/drawing/2014/main" id="{6D531965-6F31-4DB9-B540-3E223EF4F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C4FCB7E0-68C4-4A28-B3B7-19722223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ALUNZA · CAPSTONE 2026 · SEDE PUENTE ALTO</a:t>
            </a:r>
          </a:p>
        </p:txBody>
      </p:sp>
      <p:sp>
        <p:nvSpPr>
          <p:cNvPr id="6" name="page-3">
            <a:extLst xmlns:a="http://schemas.openxmlformats.org/drawingml/2006/main">
              <a:ext uri="{FF2B5EF4-FFF2-40B4-BE49-F238E27FC236}">
                <a16:creationId xmlns:a16="http://schemas.microsoft.com/office/drawing/2014/main" id="{DF9EBCC0-ED79-4FC1-8EC2-8B8A99B6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03</a:t>
            </a:r>
          </a:p>
        </p:txBody>
      </p:sp>
      <p:sp>
        <p:nvSpPr>
          <p:cNvPr id="7" name="horizon-lead">
            <a:extLst xmlns:a="http://schemas.openxmlformats.org/drawingml/2006/main">
              <a:ext uri="{FF2B5EF4-FFF2-40B4-BE49-F238E27FC236}">
                <a16:creationId xmlns:a16="http://schemas.microsoft.com/office/drawing/2014/main" id="{57F1508F-2029-409A-800A-FD8086405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El detalle se reprioriza sprint a sprint; cada horizonte conserva su resultado y criterio de salida.</a:t>
            </a:r>
          </a:p>
        </p:txBody>
      </p:sp>
      <p:sp>
        <p:nvSpPr>
          <p:cNvPr id="8" name="horizon-bg-0">
            <a:extLst xmlns:a="http://schemas.openxmlformats.org/drawingml/2006/main">
              <a:ext uri="{FF2B5EF4-FFF2-40B4-BE49-F238E27FC236}">
                <a16:creationId xmlns:a16="http://schemas.microsoft.com/office/drawing/2014/main" id="{17F745CE-D231-4BE4-945D-615DED993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457450" cy="400050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horizon-band-0">
            <a:extLst xmlns:a="http://schemas.openxmlformats.org/drawingml/2006/main">
              <a:ext uri="{FF2B5EF4-FFF2-40B4-BE49-F238E27FC236}">
                <a16:creationId xmlns:a16="http://schemas.microsoft.com/office/drawing/2014/main" id="{4F44F1F1-72BC-4766-9ACB-D337C2F4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10" name="horizon-tag-0">
            <a:extLst xmlns:a="http://schemas.openxmlformats.org/drawingml/2006/main">
              <a:ext uri="{FF2B5EF4-FFF2-40B4-BE49-F238E27FC236}">
                <a16:creationId xmlns:a16="http://schemas.microsoft.com/office/drawing/2014/main" id="{B0B7A6D0-DACD-40E2-B624-6723B74A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F6FED"/>
                </a:solidFill>
              </a:defRPr>
            </a:pPr>
            <a:r>
              <a:rPr sz="1050" b="1" i="0">
                <a:solidFill>
                  <a:srgbClr val="2F6FED"/>
                </a:solidFill>
              </a:rPr>
              <a:t>DEFINIR · S0–S1</a:t>
            </a:r>
          </a:p>
        </p:txBody>
      </p:sp>
      <p:sp>
        <p:nvSpPr>
          <p:cNvPr id="11" name="horizon-weeks-0">
            <a:extLst xmlns:a="http://schemas.openxmlformats.org/drawingml/2006/main">
              <a:ext uri="{FF2B5EF4-FFF2-40B4-BE49-F238E27FC236}">
                <a16:creationId xmlns:a16="http://schemas.microsoft.com/office/drawing/2014/main" id="{C58BF2FD-D4E8-485F-9CF6-1BFA76CEE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Sem. 1–4</a:t>
            </a:r>
          </a:p>
        </p:txBody>
      </p:sp>
      <p:sp>
        <p:nvSpPr>
          <p:cNvPr id="12" name="horizon-status-0-bg">
            <a:extLst xmlns:a="http://schemas.openxmlformats.org/drawingml/2006/main">
              <a:ext uri="{FF2B5EF4-FFF2-40B4-BE49-F238E27FC236}">
                <a16:creationId xmlns:a16="http://schemas.microsoft.com/office/drawing/2014/main" id="{B6D2B62D-8B7C-403B-B005-86964576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8194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13" name="horizon-status-0-text">
            <a:extLst xmlns:a="http://schemas.openxmlformats.org/drawingml/2006/main">
              <a:ext uri="{FF2B5EF4-FFF2-40B4-BE49-F238E27FC236}">
                <a16:creationId xmlns:a16="http://schemas.microsoft.com/office/drawing/2014/main" id="{034D32F8-C68F-4BA7-B506-142564DD9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28765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2F6FED"/>
                </a:solidFill>
              </a:defRPr>
            </a:pPr>
            <a:r>
              <a:rPr sz="900" b="1" i="0">
                <a:solidFill>
                  <a:srgbClr val="2F6FED"/>
                </a:solidFill>
              </a:rPr>
              <a:t>CERRADO</a:t>
            </a:r>
          </a:p>
        </p:txBody>
      </p:sp>
      <p:sp>
        <p:nvSpPr>
          <p:cNvPr id="14" name="horizon-title-0">
            <a:extLst xmlns:a="http://schemas.openxmlformats.org/drawingml/2006/main">
              <a:ext uri="{FF2B5EF4-FFF2-40B4-BE49-F238E27FC236}">
                <a16:creationId xmlns:a16="http://schemas.microsoft.com/office/drawing/2014/main" id="{9D98C573-A65D-4332-97DF-349338143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7185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Reducir incertidumbre</a:t>
            </a:r>
          </a:p>
        </p:txBody>
      </p:sp>
      <p:sp>
        <p:nvSpPr>
          <p:cNvPr id="15" name="horizon-body-0">
            <a:extLst xmlns:a="http://schemas.openxmlformats.org/drawingml/2006/main">
              <a:ext uri="{FF2B5EF4-FFF2-40B4-BE49-F238E27FC236}">
                <a16:creationId xmlns:a16="http://schemas.microsoft.com/office/drawing/2014/main" id="{D73B1ED5-3A22-44C9-939F-6EE5D3728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00500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Visión, alcance, backlog, prototipos y arquitectura híbrida.</a:t>
            </a:r>
          </a:p>
        </p:txBody>
      </p:sp>
      <p:sp>
        <p:nvSpPr>
          <p:cNvPr id="16" name="horizon-gate-0">
            <a:extLst xmlns:a="http://schemas.openxmlformats.org/drawingml/2006/main">
              <a:ext uri="{FF2B5EF4-FFF2-40B4-BE49-F238E27FC236}">
                <a16:creationId xmlns:a16="http://schemas.microsoft.com/office/drawing/2014/main" id="{7AD5E74C-79E1-47C0-8E28-4CB6BD80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197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F6FED"/>
                </a:solidFill>
              </a:defRPr>
            </a:pPr>
            <a:r>
              <a:rPr sz="1050" b="1" i="0">
                <a:solidFill>
                  <a:srgbClr val="2F6FED"/>
                </a:solidFill>
              </a:rPr>
              <a:t>Salida: Fase 1 + AD-ARQ-001</a:t>
            </a:r>
          </a:p>
        </p:txBody>
      </p:sp>
      <p:sp>
        <p:nvSpPr>
          <p:cNvPr id="17" name="horizon-bg-1">
            <a:extLst xmlns:a="http://schemas.openxmlformats.org/drawingml/2006/main">
              <a:ext uri="{FF2B5EF4-FFF2-40B4-BE49-F238E27FC236}">
                <a16:creationId xmlns:a16="http://schemas.microsoft.com/office/drawing/2014/main" id="{E9B42A1C-D234-400C-A866-066AEEA7A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81200"/>
            <a:ext cx="2457450" cy="400050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horizon-band-1">
            <a:extLst xmlns:a="http://schemas.openxmlformats.org/drawingml/2006/main">
              <a:ext uri="{FF2B5EF4-FFF2-40B4-BE49-F238E27FC236}">
                <a16:creationId xmlns:a16="http://schemas.microsoft.com/office/drawing/2014/main" id="{622D1F57-2560-4622-AB0E-14378B2B8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9812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3"/>
          </a:solidFill>
          <a:ln xmlns:a="http://schemas.openxmlformats.org/drawingml/2006/main" w="0">
            <a:solidFill>
              <a:srgbClr val="E6F6F3"/>
            </a:solidFill>
            <a:prstDash val="solid"/>
          </a:ln>
        </p:spPr>
      </p:sp>
      <p:sp>
        <p:nvSpPr>
          <p:cNvPr id="19" name="horizon-tag-1">
            <a:extLst xmlns:a="http://schemas.openxmlformats.org/drawingml/2006/main">
              <a:ext uri="{FF2B5EF4-FFF2-40B4-BE49-F238E27FC236}">
                <a16:creationId xmlns:a16="http://schemas.microsoft.com/office/drawing/2014/main" id="{902D3698-A683-4E35-9F2B-EAA1EC38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59A8C"/>
                </a:solidFill>
              </a:defRPr>
            </a:pPr>
            <a:r>
              <a:rPr sz="1050" b="1" i="0">
                <a:solidFill>
                  <a:srgbClr val="159A8C"/>
                </a:solidFill>
              </a:rPr>
              <a:t>CONSTRUIR · S2–S4</a:t>
            </a:r>
          </a:p>
        </p:txBody>
      </p:sp>
      <p:sp>
        <p:nvSpPr>
          <p:cNvPr id="20" name="horizon-weeks-1">
            <a:extLst xmlns:a="http://schemas.openxmlformats.org/drawingml/2006/main">
              <a:ext uri="{FF2B5EF4-FFF2-40B4-BE49-F238E27FC236}">
                <a16:creationId xmlns:a16="http://schemas.microsoft.com/office/drawing/2014/main" id="{0CE8BE40-20A5-4887-8A65-AD0495D39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Sem. 5–10</a:t>
            </a:r>
          </a:p>
        </p:txBody>
      </p:sp>
      <p:sp>
        <p:nvSpPr>
          <p:cNvPr id="21" name="horizon-status-1-bg">
            <a:extLst xmlns:a="http://schemas.openxmlformats.org/drawingml/2006/main">
              <a:ext uri="{FF2B5EF4-FFF2-40B4-BE49-F238E27FC236}">
                <a16:creationId xmlns:a16="http://schemas.microsoft.com/office/drawing/2014/main" id="{8B9B11AC-84DB-4AD0-9570-E77103185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28194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F6F3"/>
          </a:solidFill>
          <a:ln xmlns:a="http://schemas.openxmlformats.org/drawingml/2006/main" w="9525">
            <a:solidFill>
              <a:srgbClr val="159A8C"/>
            </a:solidFill>
            <a:prstDash val="solid"/>
          </a:ln>
        </p:spPr>
      </p:sp>
      <p:sp>
        <p:nvSpPr>
          <p:cNvPr id="22" name="horizon-status-1-text">
            <a:extLst xmlns:a="http://schemas.openxmlformats.org/drawingml/2006/main">
              <a:ext uri="{FF2B5EF4-FFF2-40B4-BE49-F238E27FC236}">
                <a16:creationId xmlns:a16="http://schemas.microsoft.com/office/drawing/2014/main" id="{63478D80-F601-49E5-91E5-354E2F1AB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8765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159A8C"/>
                </a:solidFill>
              </a:defRPr>
            </a:pPr>
            <a:r>
              <a:rPr sz="900" b="1" i="0">
                <a:solidFill>
                  <a:srgbClr val="159A8C"/>
                </a:solidFill>
              </a:rPr>
              <a:t>PRÓXIMO</a:t>
            </a:r>
          </a:p>
        </p:txBody>
      </p:sp>
      <p:sp>
        <p:nvSpPr>
          <p:cNvPr id="23" name="horizon-title-1">
            <a:extLst xmlns:a="http://schemas.openxmlformats.org/drawingml/2006/main">
              <a:ext uri="{FF2B5EF4-FFF2-40B4-BE49-F238E27FC236}">
                <a16:creationId xmlns:a16="http://schemas.microsoft.com/office/drawing/2014/main" id="{29B112CB-0F3E-4D36-8AD8-71E4BD35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37185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Probar el núcleo</a:t>
            </a:r>
          </a:p>
        </p:txBody>
      </p:sp>
      <p:sp>
        <p:nvSpPr>
          <p:cNvPr id="24" name="horizon-body-1">
            <a:extLst xmlns:a="http://schemas.openxmlformats.org/drawingml/2006/main">
              <a:ext uri="{FF2B5EF4-FFF2-40B4-BE49-F238E27FC236}">
                <a16:creationId xmlns:a16="http://schemas.microsoft.com/office/drawing/2014/main" id="{879F4EE6-7F1C-466D-A0A2-9F7C273D0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000500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Next/Vercel, Supabase/Auth, Nest/Azure, contenido y Sandbox.</a:t>
            </a:r>
          </a:p>
        </p:txBody>
      </p:sp>
      <p:sp>
        <p:nvSpPr>
          <p:cNvPr id="25" name="horizon-gate-1">
            <a:extLst xmlns:a="http://schemas.openxmlformats.org/drawingml/2006/main">
              <a:ext uri="{FF2B5EF4-FFF2-40B4-BE49-F238E27FC236}">
                <a16:creationId xmlns:a16="http://schemas.microsoft.com/office/drawing/2014/main" id="{2DCC43C3-BC31-4E95-BAEF-305DA40C3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2197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59A8C"/>
                </a:solidFill>
              </a:defRPr>
            </a:pPr>
            <a:r>
              <a:rPr sz="1050" b="1" i="0">
                <a:solidFill>
                  <a:srgbClr val="159A8C"/>
                </a:solidFill>
              </a:rPr>
              <a:t>Salida: incremento integrado</a:t>
            </a:r>
          </a:p>
        </p:txBody>
      </p:sp>
      <p:sp>
        <p:nvSpPr>
          <p:cNvPr id="26" name="horizon-bg-2">
            <a:extLst xmlns:a="http://schemas.openxmlformats.org/drawingml/2006/main">
              <a:ext uri="{FF2B5EF4-FFF2-40B4-BE49-F238E27FC236}">
                <a16:creationId xmlns:a16="http://schemas.microsoft.com/office/drawing/2014/main" id="{7FFA8D71-F7D2-4B93-AAB4-74650249E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2457450" cy="400050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7" name="horizon-band-2">
            <a:extLst xmlns:a="http://schemas.openxmlformats.org/drawingml/2006/main">
              <a:ext uri="{FF2B5EF4-FFF2-40B4-BE49-F238E27FC236}">
                <a16:creationId xmlns:a16="http://schemas.microsoft.com/office/drawing/2014/main" id="{0AE9169C-79F0-457F-9811-2FE8B2C0D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19812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8" name="horizon-tag-2">
            <a:extLst xmlns:a="http://schemas.openxmlformats.org/drawingml/2006/main">
              <a:ext uri="{FF2B5EF4-FFF2-40B4-BE49-F238E27FC236}">
                <a16:creationId xmlns:a16="http://schemas.microsoft.com/office/drawing/2014/main" id="{EA262F48-1647-47F2-9E76-7C6DF94D0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9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4B63E"/>
                </a:solidFill>
              </a:defRPr>
            </a:pPr>
            <a:r>
              <a:rPr sz="1050" b="1" i="0">
                <a:solidFill>
                  <a:srgbClr val="F4B63E"/>
                </a:solidFill>
              </a:rPr>
              <a:t>VALIDAR · S5–S6</a:t>
            </a:r>
          </a:p>
        </p:txBody>
      </p:sp>
      <p:sp>
        <p:nvSpPr>
          <p:cNvPr id="29" name="horizon-weeks-2">
            <a:extLst xmlns:a="http://schemas.openxmlformats.org/drawingml/2006/main">
              <a:ext uri="{FF2B5EF4-FFF2-40B4-BE49-F238E27FC236}">
                <a16:creationId xmlns:a16="http://schemas.microsoft.com/office/drawing/2014/main" id="{E09D7F6E-4341-4B42-BC0F-C208474DC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43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Sem. 11–14</a:t>
            </a:r>
          </a:p>
        </p:txBody>
      </p:sp>
      <p:sp>
        <p:nvSpPr>
          <p:cNvPr id="30" name="horizon-status-2-bg">
            <a:extLst xmlns:a="http://schemas.openxmlformats.org/drawingml/2006/main">
              <a:ext uri="{FF2B5EF4-FFF2-40B4-BE49-F238E27FC236}">
                <a16:creationId xmlns:a16="http://schemas.microsoft.com/office/drawing/2014/main" id="{DC111E2E-0002-4938-BE39-95D6C3A1D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8194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4B63E"/>
            </a:solidFill>
            <a:prstDash val="solid"/>
          </a:ln>
        </p:spPr>
      </p:sp>
      <p:sp>
        <p:nvSpPr>
          <p:cNvPr id="31" name="horizon-status-2-text">
            <a:extLst xmlns:a="http://schemas.openxmlformats.org/drawingml/2006/main">
              <a:ext uri="{FF2B5EF4-FFF2-40B4-BE49-F238E27FC236}">
                <a16:creationId xmlns:a16="http://schemas.microsoft.com/office/drawing/2014/main" id="{A0A81C66-11E7-4E8D-8F16-937742573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8765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4B63E"/>
                </a:solidFill>
              </a:defRPr>
            </a:pPr>
            <a:r>
              <a:rPr sz="900" b="1" i="0">
                <a:solidFill>
                  <a:srgbClr val="F4B63E"/>
                </a:solidFill>
              </a:rPr>
              <a:t>PLAN</a:t>
            </a:r>
          </a:p>
        </p:txBody>
      </p:sp>
      <p:sp>
        <p:nvSpPr>
          <p:cNvPr id="32" name="horizon-title-2">
            <a:extLst xmlns:a="http://schemas.openxmlformats.org/drawingml/2006/main">
              <a:ext uri="{FF2B5EF4-FFF2-40B4-BE49-F238E27FC236}">
                <a16:creationId xmlns:a16="http://schemas.microsoft.com/office/drawing/2014/main" id="{ED6431B7-03E6-4D64-BDDA-AA62562F0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Contextualizar</a:t>
            </a:r>
          </a:p>
        </p:txBody>
      </p:sp>
      <p:sp>
        <p:nvSpPr>
          <p:cNvPr id="33" name="horizon-body-2">
            <a:extLst xmlns:a="http://schemas.openxmlformats.org/drawingml/2006/main">
              <a:ext uri="{FF2B5EF4-FFF2-40B4-BE49-F238E27FC236}">
                <a16:creationId xmlns:a16="http://schemas.microsoft.com/office/drawing/2014/main" id="{CD8FDC06-40EF-4DE9-B2AB-5B62DCCC4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000500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RAG top-k=5, progreso, panel y reglas docentes.</a:t>
            </a:r>
          </a:p>
        </p:txBody>
      </p:sp>
      <p:sp>
        <p:nvSpPr>
          <p:cNvPr id="34" name="horizon-gate-2">
            <a:extLst xmlns:a="http://schemas.openxmlformats.org/drawingml/2006/main">
              <a:ext uri="{FF2B5EF4-FFF2-40B4-BE49-F238E27FC236}">
                <a16:creationId xmlns:a16="http://schemas.microsoft.com/office/drawing/2014/main" id="{5A11CD27-B3A6-4118-BC80-9750A7EEE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197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4B63E"/>
                </a:solidFill>
              </a:defRPr>
            </a:pPr>
            <a:r>
              <a:rPr sz="1050" b="1" i="0">
                <a:solidFill>
                  <a:srgbClr val="F4B63E"/>
                </a:solidFill>
              </a:rPr>
              <a:t>Salida: MVP demostrable</a:t>
            </a:r>
          </a:p>
        </p:txBody>
      </p:sp>
      <p:sp>
        <p:nvSpPr>
          <p:cNvPr id="35" name="horizon-bg-3">
            <a:extLst xmlns:a="http://schemas.openxmlformats.org/drawingml/2006/main">
              <a:ext uri="{FF2B5EF4-FFF2-40B4-BE49-F238E27FC236}">
                <a16:creationId xmlns:a16="http://schemas.microsoft.com/office/drawing/2014/main" id="{E80D00FC-CD39-4D81-BCEB-089D245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457450" cy="4000500"/>
          </a:xfrm>
          <a:prstGeom xmlns:a="http://schemas.openxmlformats.org/drawingml/2006/main" prst="roundRect">
            <a:avLst>
              <a:gd name="adj" fmla="val 54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horizon-band-3">
            <a:extLst xmlns:a="http://schemas.openxmlformats.org/drawingml/2006/main">
              <a:ext uri="{FF2B5EF4-FFF2-40B4-BE49-F238E27FC236}">
                <a16:creationId xmlns:a16="http://schemas.microsoft.com/office/drawing/2014/main" id="{20E5EFD5-CB26-4781-8ABF-623C0CD6F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4574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ECEE"/>
          </a:solidFill>
          <a:ln xmlns:a="http://schemas.openxmlformats.org/drawingml/2006/main" w="0">
            <a:solidFill>
              <a:srgbClr val="FDECEE"/>
            </a:solidFill>
            <a:prstDash val="solid"/>
          </a:ln>
        </p:spPr>
      </p:sp>
      <p:sp>
        <p:nvSpPr>
          <p:cNvPr id="37" name="horizon-tag-3">
            <a:extLst xmlns:a="http://schemas.openxmlformats.org/drawingml/2006/main">
              <a:ext uri="{FF2B5EF4-FFF2-40B4-BE49-F238E27FC236}">
                <a16:creationId xmlns:a16="http://schemas.microsoft.com/office/drawing/2014/main" id="{A2EFA820-B286-40AA-A992-C004A0AAE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095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DE5C6B"/>
                </a:solidFill>
              </a:defRPr>
            </a:pPr>
            <a:r>
              <a:rPr sz="1050" b="1" i="0">
                <a:solidFill>
                  <a:srgbClr val="DE5C6B"/>
                </a:solidFill>
              </a:rPr>
              <a:t>ESTABILIZAR · S7–S8</a:t>
            </a:r>
          </a:p>
        </p:txBody>
      </p:sp>
      <p:sp>
        <p:nvSpPr>
          <p:cNvPr id="38" name="horizon-weeks-3">
            <a:extLst xmlns:a="http://schemas.openxmlformats.org/drawingml/2006/main">
              <a:ext uri="{FF2B5EF4-FFF2-40B4-BE49-F238E27FC236}">
                <a16:creationId xmlns:a16="http://schemas.microsoft.com/office/drawing/2014/main" id="{439A614B-67B5-4679-8119-3564F4BD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43150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Sem. 15–18</a:t>
            </a:r>
          </a:p>
        </p:txBody>
      </p:sp>
      <p:sp>
        <p:nvSpPr>
          <p:cNvPr id="39" name="horizon-status-3-bg">
            <a:extLst xmlns:a="http://schemas.openxmlformats.org/drawingml/2006/main">
              <a:ext uri="{FF2B5EF4-FFF2-40B4-BE49-F238E27FC236}">
                <a16:creationId xmlns:a16="http://schemas.microsoft.com/office/drawing/2014/main" id="{887F5036-A5A0-4E70-9BD5-4950D250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1940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9525">
            <a:solidFill>
              <a:srgbClr val="DE5C6B"/>
            </a:solidFill>
            <a:prstDash val="solid"/>
          </a:ln>
        </p:spPr>
      </p:sp>
      <p:sp>
        <p:nvSpPr>
          <p:cNvPr id="40" name="horizon-status-3-text">
            <a:extLst xmlns:a="http://schemas.openxmlformats.org/drawingml/2006/main">
              <a:ext uri="{FF2B5EF4-FFF2-40B4-BE49-F238E27FC236}">
                <a16:creationId xmlns:a16="http://schemas.microsoft.com/office/drawing/2014/main" id="{1B086BA4-5F5F-4B61-8D21-45C5BA9E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2876550"/>
            <a:ext cx="990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DE5C6B"/>
                </a:solidFill>
              </a:defRPr>
            </a:pPr>
            <a:r>
              <a:rPr sz="900" b="1" i="0">
                <a:solidFill>
                  <a:srgbClr val="DE5C6B"/>
                </a:solidFill>
              </a:rPr>
              <a:t>PLAN</a:t>
            </a:r>
          </a:p>
        </p:txBody>
      </p:sp>
      <p:sp>
        <p:nvSpPr>
          <p:cNvPr id="41" name="horizon-title-3">
            <a:extLst xmlns:a="http://schemas.openxmlformats.org/drawingml/2006/main">
              <a:ext uri="{FF2B5EF4-FFF2-40B4-BE49-F238E27FC236}">
                <a16:creationId xmlns:a16="http://schemas.microsoft.com/office/drawing/2014/main" id="{3412F311-78DC-4D8B-B96F-327C1B072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37185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102A43"/>
                </a:solidFill>
              </a:defRPr>
            </a:pPr>
            <a:r>
              <a:rPr sz="1500" b="1" i="0">
                <a:solidFill>
                  <a:srgbClr val="102A43"/>
                </a:solidFill>
              </a:rPr>
              <a:t>Defender con evidencia</a:t>
            </a:r>
          </a:p>
        </p:txBody>
      </p:sp>
      <p:sp>
        <p:nvSpPr>
          <p:cNvPr id="42" name="horizon-body-3">
            <a:extLst xmlns:a="http://schemas.openxmlformats.org/drawingml/2006/main">
              <a:ext uri="{FF2B5EF4-FFF2-40B4-BE49-F238E27FC236}">
                <a16:creationId xmlns:a16="http://schemas.microsoft.com/office/drawing/2014/main" id="{3926DA8B-F997-47D1-A7AB-9230CE887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00500"/>
            <a:ext cx="20764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Detalle, banco, auditoría, freeze y ensayos.</a:t>
            </a:r>
          </a:p>
        </p:txBody>
      </p:sp>
      <p:sp>
        <p:nvSpPr>
          <p:cNvPr id="43" name="horizon-gate-3">
            <a:extLst xmlns:a="http://schemas.openxmlformats.org/drawingml/2006/main">
              <a:ext uri="{FF2B5EF4-FFF2-40B4-BE49-F238E27FC236}">
                <a16:creationId xmlns:a16="http://schemas.microsoft.com/office/drawing/2014/main" id="{F8E0A12C-44CB-425A-B3E9-C94B322A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197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DE5C6B"/>
                </a:solidFill>
              </a:defRPr>
            </a:pPr>
            <a:r>
              <a:rPr sz="1050" b="1" i="0">
                <a:solidFill>
                  <a:srgbClr val="DE5C6B"/>
                </a:solidFill>
              </a:rPr>
              <a:t>Salida: entrega + defensa</a:t>
            </a:r>
          </a:p>
        </p:txBody>
      </p:sp>
    </p:spTree>
    <p:extLst>
      <p:ext uri="{BB962C8B-B14F-4D97-AF65-F5344CB8AC3E}">
        <p14:creationId xmlns:p14="http://schemas.microsoft.com/office/powerpoint/2010/main" val="13969050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rail-4">
            <a:extLst xmlns:a="http://schemas.openxmlformats.org/drawingml/2006/main">
              <a:ext uri="{FF2B5EF4-FFF2-40B4-BE49-F238E27FC236}">
                <a16:creationId xmlns:a16="http://schemas.microsoft.com/office/drawing/2014/main" id="{2A7C6127-2810-4F8D-B1C5-910788F0A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" name="kicker-4">
            <a:extLst xmlns:a="http://schemas.openxmlformats.org/drawingml/2006/main">
              <a:ext uri="{FF2B5EF4-FFF2-40B4-BE49-F238E27FC236}">
                <a16:creationId xmlns:a16="http://schemas.microsoft.com/office/drawing/2014/main" id="{EA81780B-5E6A-4E4E-A1F0-F45AD6D11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F6FED"/>
                </a:solidFill>
              </a:defRPr>
            </a:pPr>
            <a:r>
              <a:rPr sz="900" b="1" i="0">
                <a:solidFill>
                  <a:srgbClr val="2F6FED"/>
                </a:solidFill>
              </a:rPr>
              <a:t>CADENCIA DE 2 SEMANAS</a:t>
            </a:r>
          </a:p>
        </p:txBody>
      </p:sp>
      <p:sp>
        <p:nvSpPr>
          <p:cNvPr id="3" name="title-4">
            <a:extLst xmlns:a="http://schemas.openxmlformats.org/drawingml/2006/main">
              <a:ext uri="{FF2B5EF4-FFF2-40B4-BE49-F238E27FC236}">
                <a16:creationId xmlns:a16="http://schemas.microsoft.com/office/drawing/2014/main" id="{843F147F-DD04-44E9-A956-7699A612680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33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Cada sprint cierra con evidencia demostrable</a:t>
            </a:r>
          </a:p>
        </p:txBody>
      </p:sp>
      <p:sp>
        <p:nvSpPr>
          <p:cNvPr id="4" name="header-line-4">
            <a:extLst xmlns:a="http://schemas.openxmlformats.org/drawingml/2006/main">
              <a:ext uri="{FF2B5EF4-FFF2-40B4-BE49-F238E27FC236}">
                <a16:creationId xmlns:a16="http://schemas.microsoft.com/office/drawing/2014/main" id="{8B0BE915-C5FC-4C58-9E35-640CBE3C9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13D1036E-DEFD-4B15-8704-2D720C556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ALUNZA · CAPSTONE 2026 · SEDE PUENTE ALTO</a:t>
            </a:r>
          </a:p>
        </p:txBody>
      </p:sp>
      <p:sp>
        <p:nvSpPr>
          <p:cNvPr id="6" name="page-4">
            <a:extLst xmlns:a="http://schemas.openxmlformats.org/drawingml/2006/main">
              <a:ext uri="{FF2B5EF4-FFF2-40B4-BE49-F238E27FC236}">
                <a16:creationId xmlns:a16="http://schemas.microsoft.com/office/drawing/2014/main" id="{EF87800C-3469-4ACF-956A-389E7BF34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04</a:t>
            </a:r>
          </a:p>
        </p:txBody>
      </p:sp>
      <p:sp>
        <p:nvSpPr>
          <p:cNvPr id="7" name="cadence-lead">
            <a:extLst xmlns:a="http://schemas.openxmlformats.org/drawingml/2006/main">
              <a:ext uri="{FF2B5EF4-FFF2-40B4-BE49-F238E27FC236}">
                <a16:creationId xmlns:a16="http://schemas.microsoft.com/office/drawing/2014/main" id="{A2991DF0-89DB-4802-953F-EF7A6335E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La capacidad se mide por un incremento revisable, no por tareas iniciadas.</a:t>
            </a:r>
          </a:p>
        </p:txBody>
      </p:sp>
      <p:sp>
        <p:nvSpPr>
          <p:cNvPr id="8" name="cadence-label-0">
            <a:extLst xmlns:a="http://schemas.openxmlformats.org/drawingml/2006/main">
              <a:ext uri="{FF2B5EF4-FFF2-40B4-BE49-F238E27FC236}">
                <a16:creationId xmlns:a16="http://schemas.microsoft.com/office/drawing/2014/main" id="{F7BD4ECD-090B-4FBF-9148-13550670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9" name="cadence-label-t-0">
            <a:extLst xmlns:a="http://schemas.openxmlformats.org/drawingml/2006/main">
              <a:ext uri="{FF2B5EF4-FFF2-40B4-BE49-F238E27FC236}">
                <a16:creationId xmlns:a16="http://schemas.microsoft.com/office/drawing/2014/main" id="{97952EBD-29D0-485E-8A20-ECD12E3D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193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2F6FED"/>
                </a:solidFill>
              </a:defRPr>
            </a:pPr>
            <a:r>
              <a:rPr sz="1275" b="1" i="0">
                <a:solidFill>
                  <a:srgbClr val="2F6FED"/>
                </a:solidFill>
              </a:rPr>
              <a:t>DEFINIR</a:t>
            </a:r>
          </a:p>
        </p:txBody>
      </p:sp>
      <p:sp>
        <p:nvSpPr>
          <p:cNvPr id="10" name="cadence-card-0-0">
            <a:extLst xmlns:a="http://schemas.openxmlformats.org/drawingml/2006/main">
              <a:ext uri="{FF2B5EF4-FFF2-40B4-BE49-F238E27FC236}">
                <a16:creationId xmlns:a16="http://schemas.microsoft.com/office/drawing/2014/main" id="{203FA717-12A1-4B6F-9D14-B802369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924050"/>
            <a:ext cx="4400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11" name="cadence-card-s-0-0">
            <a:extLst xmlns:a="http://schemas.openxmlformats.org/drawingml/2006/main">
              <a:ext uri="{FF2B5EF4-FFF2-40B4-BE49-F238E27FC236}">
                <a16:creationId xmlns:a16="http://schemas.microsoft.com/office/drawing/2014/main" id="{987176E4-585D-45BD-BDAD-FCD3FDE6C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0193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F6FED"/>
                </a:solidFill>
              </a:defRPr>
            </a:pPr>
            <a:r>
              <a:rPr sz="1050" b="1" i="0">
                <a:solidFill>
                  <a:srgbClr val="2F6FED"/>
                </a:solidFill>
              </a:rPr>
              <a:t>S0 · 1–2</a:t>
            </a:r>
          </a:p>
        </p:txBody>
      </p:sp>
      <p:sp>
        <p:nvSpPr>
          <p:cNvPr id="12" name="cadence-card-o-0-0">
            <a:extLst xmlns:a="http://schemas.openxmlformats.org/drawingml/2006/main">
              <a:ext uri="{FF2B5EF4-FFF2-40B4-BE49-F238E27FC236}">
                <a16:creationId xmlns:a16="http://schemas.microsoft.com/office/drawing/2014/main" id="{47387231-19F7-4033-9B68-0C1C8E77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247900"/>
            <a:ext cx="413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Visión + riesgos</a:t>
            </a:r>
          </a:p>
        </p:txBody>
      </p:sp>
      <p:sp>
        <p:nvSpPr>
          <p:cNvPr id="13" name="cadence-card-e-0-0">
            <a:extLst xmlns:a="http://schemas.openxmlformats.org/drawingml/2006/main">
              <a:ext uri="{FF2B5EF4-FFF2-40B4-BE49-F238E27FC236}">
                <a16:creationId xmlns:a16="http://schemas.microsoft.com/office/drawing/2014/main" id="{8266DA70-8D5E-4A9A-A52A-BEFF92938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47650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Acuerdos y decisiones</a:t>
            </a:r>
          </a:p>
        </p:txBody>
      </p:sp>
      <p:sp>
        <p:nvSpPr>
          <p:cNvPr id="14" name="cadence-card-0-1">
            <a:extLst xmlns:a="http://schemas.openxmlformats.org/drawingml/2006/main">
              <a:ext uri="{FF2B5EF4-FFF2-40B4-BE49-F238E27FC236}">
                <a16:creationId xmlns:a16="http://schemas.microsoft.com/office/drawing/2014/main" id="{2A8ACAAE-79CE-4179-B9B2-A751F0D29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24050"/>
            <a:ext cx="4400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15" name="cadence-card-s-0-1">
            <a:extLst xmlns:a="http://schemas.openxmlformats.org/drawingml/2006/main">
              <a:ext uri="{FF2B5EF4-FFF2-40B4-BE49-F238E27FC236}">
                <a16:creationId xmlns:a16="http://schemas.microsoft.com/office/drawing/2014/main" id="{DFE5FBA7-F90F-4E83-AEE5-5C1AF2A43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0193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F6FED"/>
                </a:solidFill>
              </a:defRPr>
            </a:pPr>
            <a:r>
              <a:rPr sz="1050" b="1" i="0">
                <a:solidFill>
                  <a:srgbClr val="2F6FED"/>
                </a:solidFill>
              </a:rPr>
              <a:t>S1 · 3–4</a:t>
            </a:r>
          </a:p>
        </p:txBody>
      </p:sp>
      <p:sp>
        <p:nvSpPr>
          <p:cNvPr id="16" name="cadence-card-o-0-1">
            <a:extLst xmlns:a="http://schemas.openxmlformats.org/drawingml/2006/main">
              <a:ext uri="{FF2B5EF4-FFF2-40B4-BE49-F238E27FC236}">
                <a16:creationId xmlns:a16="http://schemas.microsoft.com/office/drawing/2014/main" id="{D94E03FE-A38E-4DEE-A49B-029B8D2E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247900"/>
            <a:ext cx="413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Alcance + diseño</a:t>
            </a:r>
          </a:p>
        </p:txBody>
      </p:sp>
      <p:sp>
        <p:nvSpPr>
          <p:cNvPr id="17" name="cadence-card-e-0-1">
            <a:extLst xmlns:a="http://schemas.openxmlformats.org/drawingml/2006/main">
              <a:ext uri="{FF2B5EF4-FFF2-40B4-BE49-F238E27FC236}">
                <a16:creationId xmlns:a16="http://schemas.microsoft.com/office/drawing/2014/main" id="{1BA6F0C5-E8B7-45A2-9192-43C3F61F4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7650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Backlog, prototipos, arquitectura</a:t>
            </a:r>
          </a:p>
        </p:txBody>
      </p:sp>
      <p:sp>
        <p:nvSpPr>
          <p:cNvPr id="18" name="cadence-label-1">
            <a:extLst xmlns:a="http://schemas.openxmlformats.org/drawingml/2006/main">
              <a:ext uri="{FF2B5EF4-FFF2-40B4-BE49-F238E27FC236}">
                <a16:creationId xmlns:a16="http://schemas.microsoft.com/office/drawing/2014/main" id="{1C4E85BA-5E7F-46CE-A8DC-C7C629649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527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E6F6F3"/>
          </a:solidFill>
          <a:ln xmlns:a="http://schemas.openxmlformats.org/drawingml/2006/main" w="9525">
            <a:solidFill>
              <a:srgbClr val="159A8C"/>
            </a:solidFill>
            <a:prstDash val="solid"/>
          </a:ln>
        </p:spPr>
      </p:sp>
      <p:sp>
        <p:nvSpPr>
          <p:cNvPr id="19" name="cadence-label-t-1">
            <a:extLst xmlns:a="http://schemas.openxmlformats.org/drawingml/2006/main">
              <a:ext uri="{FF2B5EF4-FFF2-40B4-BE49-F238E27FC236}">
                <a16:creationId xmlns:a16="http://schemas.microsoft.com/office/drawing/2014/main" id="{DF2F20CE-96DD-474D-8F03-F8030506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480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159A8C"/>
                </a:solidFill>
              </a:defRPr>
            </a:pPr>
            <a:r>
              <a:rPr sz="1275" b="1" i="0">
                <a:solidFill>
                  <a:srgbClr val="159A8C"/>
                </a:solidFill>
              </a:rPr>
              <a:t>CONSTRUIR</a:t>
            </a:r>
          </a:p>
        </p:txBody>
      </p:sp>
      <p:sp>
        <p:nvSpPr>
          <p:cNvPr id="20" name="cadence-card-1-0">
            <a:extLst xmlns:a="http://schemas.openxmlformats.org/drawingml/2006/main">
              <a:ext uri="{FF2B5EF4-FFF2-40B4-BE49-F238E27FC236}">
                <a16:creationId xmlns:a16="http://schemas.microsoft.com/office/drawing/2014/main" id="{7C6C6054-AC17-46C2-8595-1071989C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28829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21" name="cadence-card-s-1-0">
            <a:extLst xmlns:a="http://schemas.openxmlformats.org/drawingml/2006/main">
              <a:ext uri="{FF2B5EF4-FFF2-40B4-BE49-F238E27FC236}">
                <a16:creationId xmlns:a16="http://schemas.microsoft.com/office/drawing/2014/main" id="{3BCE4CF0-C0E1-4681-8C0C-E5F8D186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048000"/>
            <a:ext cx="2616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9A8C"/>
                </a:solidFill>
              </a:defRPr>
            </a:pPr>
            <a:r>
              <a:rPr sz="1050" b="1" i="0">
                <a:solidFill>
                  <a:srgbClr val="159A8C"/>
                </a:solidFill>
              </a:rPr>
              <a:t>S2 · 5–6</a:t>
            </a:r>
          </a:p>
        </p:txBody>
      </p:sp>
      <p:sp>
        <p:nvSpPr>
          <p:cNvPr id="22" name="cadence-card-o-1-0">
            <a:extLst xmlns:a="http://schemas.openxmlformats.org/drawingml/2006/main">
              <a:ext uri="{FF2B5EF4-FFF2-40B4-BE49-F238E27FC236}">
                <a16:creationId xmlns:a16="http://schemas.microsoft.com/office/drawing/2014/main" id="{1D7DCD8E-602D-411C-B557-06E11B47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276600"/>
            <a:ext cx="261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Base híbrida y acceso</a:t>
            </a:r>
          </a:p>
        </p:txBody>
      </p:sp>
      <p:sp>
        <p:nvSpPr>
          <p:cNvPr id="23" name="cadence-card-e-1-0">
            <a:extLst xmlns:a="http://schemas.openxmlformats.org/drawingml/2006/main">
              <a:ext uri="{FF2B5EF4-FFF2-40B4-BE49-F238E27FC236}">
                <a16:creationId xmlns:a16="http://schemas.microsoft.com/office/drawing/2014/main" id="{9542AEA8-8C72-416B-81DD-D07139470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3505200"/>
            <a:ext cx="261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Next/Vercel, Supabase/Auth y Nest/Azure</a:t>
            </a:r>
          </a:p>
        </p:txBody>
      </p:sp>
      <p:sp>
        <p:nvSpPr>
          <p:cNvPr id="24" name="cadence-card-1-1">
            <a:extLst xmlns:a="http://schemas.openxmlformats.org/drawingml/2006/main">
              <a:ext uri="{FF2B5EF4-FFF2-40B4-BE49-F238E27FC236}">
                <a16:creationId xmlns:a16="http://schemas.microsoft.com/office/drawing/2014/main" id="{3A9985BB-D14C-472A-86DE-3667F4FCE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1800" y="2952750"/>
            <a:ext cx="28829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25" name="cadence-card-s-1-1">
            <a:extLst xmlns:a="http://schemas.openxmlformats.org/drawingml/2006/main">
              <a:ext uri="{FF2B5EF4-FFF2-40B4-BE49-F238E27FC236}">
                <a16:creationId xmlns:a16="http://schemas.microsoft.com/office/drawing/2014/main" id="{BEE0153B-45EA-40A6-8B9E-97FA4EF17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150" y="3048000"/>
            <a:ext cx="2616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9A8C"/>
                </a:solidFill>
              </a:defRPr>
            </a:pPr>
            <a:r>
              <a:rPr sz="1050" b="1" i="0">
                <a:solidFill>
                  <a:srgbClr val="159A8C"/>
                </a:solidFill>
              </a:rPr>
              <a:t>S3 · 7–8</a:t>
            </a:r>
          </a:p>
        </p:txBody>
      </p:sp>
      <p:sp>
        <p:nvSpPr>
          <p:cNvPr id="26" name="cadence-card-o-1-1">
            <a:extLst xmlns:a="http://schemas.openxmlformats.org/drawingml/2006/main">
              <a:ext uri="{FF2B5EF4-FFF2-40B4-BE49-F238E27FC236}">
                <a16:creationId xmlns:a16="http://schemas.microsoft.com/office/drawing/2014/main" id="{277CA99B-A301-486D-ABB6-9493E7CEE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150" y="3276600"/>
            <a:ext cx="261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Contenido y estructura</a:t>
            </a:r>
          </a:p>
        </p:txBody>
      </p:sp>
      <p:sp>
        <p:nvSpPr>
          <p:cNvPr id="27" name="cadence-card-e-1-1">
            <a:extLst xmlns:a="http://schemas.openxmlformats.org/drawingml/2006/main">
              <a:ext uri="{FF2B5EF4-FFF2-40B4-BE49-F238E27FC236}">
                <a16:creationId xmlns:a16="http://schemas.microsoft.com/office/drawing/2014/main" id="{8197C331-F4A9-4F38-8D0B-B2F245FD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5150" y="3505200"/>
            <a:ext cx="261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HU004–005 · HU008 · HU022–023</a:t>
            </a:r>
          </a:p>
        </p:txBody>
      </p:sp>
      <p:sp>
        <p:nvSpPr>
          <p:cNvPr id="28" name="cadence-card-1-2">
            <a:extLst xmlns:a="http://schemas.openxmlformats.org/drawingml/2006/main">
              <a:ext uri="{FF2B5EF4-FFF2-40B4-BE49-F238E27FC236}">
                <a16:creationId xmlns:a16="http://schemas.microsoft.com/office/drawing/2014/main" id="{90BA84BE-64BA-44CB-8F3B-CAE12B2E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100" y="2952750"/>
            <a:ext cx="28829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29" name="cadence-card-s-1-2">
            <a:extLst xmlns:a="http://schemas.openxmlformats.org/drawingml/2006/main">
              <a:ext uri="{FF2B5EF4-FFF2-40B4-BE49-F238E27FC236}">
                <a16:creationId xmlns:a16="http://schemas.microsoft.com/office/drawing/2014/main" id="{3E3A055C-AD1C-43F2-AE16-72CF94C60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450" y="3048000"/>
            <a:ext cx="2616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159A8C"/>
                </a:solidFill>
              </a:defRPr>
            </a:pPr>
            <a:r>
              <a:rPr sz="1050" b="1" i="0">
                <a:solidFill>
                  <a:srgbClr val="159A8C"/>
                </a:solidFill>
              </a:rPr>
              <a:t>S4 · 9–10</a:t>
            </a:r>
          </a:p>
        </p:txBody>
      </p:sp>
      <p:sp>
        <p:nvSpPr>
          <p:cNvPr id="30" name="cadence-card-o-1-2">
            <a:extLst xmlns:a="http://schemas.openxmlformats.org/drawingml/2006/main">
              <a:ext uri="{FF2B5EF4-FFF2-40B4-BE49-F238E27FC236}">
                <a16:creationId xmlns:a16="http://schemas.microsoft.com/office/drawing/2014/main" id="{7E1141C3-FA24-4B9B-824D-804951A5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450" y="3276600"/>
            <a:ext cx="2616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Sandbox productivo</a:t>
            </a:r>
          </a:p>
        </p:txBody>
      </p:sp>
      <p:sp>
        <p:nvSpPr>
          <p:cNvPr id="31" name="cadence-card-e-1-2">
            <a:extLst xmlns:a="http://schemas.openxmlformats.org/drawingml/2006/main">
              <a:ext uri="{FF2B5EF4-FFF2-40B4-BE49-F238E27FC236}">
                <a16:creationId xmlns:a16="http://schemas.microsoft.com/office/drawing/2014/main" id="{FF1EF097-4AB6-42A4-A476-EAD5BB2C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0450" y="3505200"/>
            <a:ext cx="2616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HU007 · HU009–011 · HU014</a:t>
            </a:r>
          </a:p>
        </p:txBody>
      </p:sp>
      <p:sp>
        <p:nvSpPr>
          <p:cNvPr id="32" name="cadence-label-2">
            <a:extLst xmlns:a="http://schemas.openxmlformats.org/drawingml/2006/main">
              <a:ext uri="{FF2B5EF4-FFF2-40B4-BE49-F238E27FC236}">
                <a16:creationId xmlns:a16="http://schemas.microsoft.com/office/drawing/2014/main" id="{23E37217-FA3A-4D64-8345-CBD83AF8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814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4B63E"/>
            </a:solidFill>
            <a:prstDash val="solid"/>
          </a:ln>
        </p:spPr>
      </p:sp>
      <p:sp>
        <p:nvSpPr>
          <p:cNvPr id="33" name="cadence-label-t-2">
            <a:extLst xmlns:a="http://schemas.openxmlformats.org/drawingml/2006/main">
              <a:ext uri="{FF2B5EF4-FFF2-40B4-BE49-F238E27FC236}">
                <a16:creationId xmlns:a16="http://schemas.microsoft.com/office/drawing/2014/main" id="{5EF00759-EBA1-47E8-A1FB-2E0BB5BC9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767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4B63E"/>
                </a:solidFill>
              </a:defRPr>
            </a:pPr>
            <a:r>
              <a:rPr sz="1275" b="1" i="0">
                <a:solidFill>
                  <a:srgbClr val="F4B63E"/>
                </a:solidFill>
              </a:rPr>
              <a:t>VALIDAR</a:t>
            </a:r>
          </a:p>
        </p:txBody>
      </p:sp>
      <p:sp>
        <p:nvSpPr>
          <p:cNvPr id="34" name="cadence-card-2-0">
            <a:extLst xmlns:a="http://schemas.openxmlformats.org/drawingml/2006/main">
              <a:ext uri="{FF2B5EF4-FFF2-40B4-BE49-F238E27FC236}">
                <a16:creationId xmlns:a16="http://schemas.microsoft.com/office/drawing/2014/main" id="{F809357B-2EE2-4670-BEEB-2F433297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81450"/>
            <a:ext cx="4400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35" name="cadence-card-s-2-0">
            <a:extLst xmlns:a="http://schemas.openxmlformats.org/drawingml/2006/main">
              <a:ext uri="{FF2B5EF4-FFF2-40B4-BE49-F238E27FC236}">
                <a16:creationId xmlns:a16="http://schemas.microsoft.com/office/drawing/2014/main" id="{7364A504-7D25-4FBA-80EC-FD648D6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0767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4B63E"/>
                </a:solidFill>
              </a:defRPr>
            </a:pPr>
            <a:r>
              <a:rPr sz="1050" b="1" i="0">
                <a:solidFill>
                  <a:srgbClr val="F4B63E"/>
                </a:solidFill>
              </a:rPr>
              <a:t>S5 · 11–12</a:t>
            </a:r>
          </a:p>
        </p:txBody>
      </p:sp>
      <p:sp>
        <p:nvSpPr>
          <p:cNvPr id="36" name="cadence-card-o-2-0">
            <a:extLst xmlns:a="http://schemas.openxmlformats.org/drawingml/2006/main">
              <a:ext uri="{FF2B5EF4-FFF2-40B4-BE49-F238E27FC236}">
                <a16:creationId xmlns:a16="http://schemas.microsoft.com/office/drawing/2014/main" id="{C673DEFC-30E4-461A-B002-5F4AEA410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305300"/>
            <a:ext cx="413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Feedback y RAG</a:t>
            </a:r>
          </a:p>
        </p:txBody>
      </p:sp>
      <p:sp>
        <p:nvSpPr>
          <p:cNvPr id="37" name="cadence-card-e-2-0">
            <a:extLst xmlns:a="http://schemas.openxmlformats.org/drawingml/2006/main">
              <a:ext uri="{FF2B5EF4-FFF2-40B4-BE49-F238E27FC236}">
                <a16:creationId xmlns:a16="http://schemas.microsoft.com/office/drawing/2014/main" id="{81AA3FE9-F729-41C2-8819-2DC9E52F0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53390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HU006 · HU012–013 · HU025</a:t>
            </a:r>
          </a:p>
        </p:txBody>
      </p:sp>
      <p:sp>
        <p:nvSpPr>
          <p:cNvPr id="38" name="cadence-card-2-1">
            <a:extLst xmlns:a="http://schemas.openxmlformats.org/drawingml/2006/main">
              <a:ext uri="{FF2B5EF4-FFF2-40B4-BE49-F238E27FC236}">
                <a16:creationId xmlns:a16="http://schemas.microsoft.com/office/drawing/2014/main" id="{66751307-343D-4664-935F-95A00879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4400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39" name="cadence-card-s-2-1">
            <a:extLst xmlns:a="http://schemas.openxmlformats.org/drawingml/2006/main">
              <a:ext uri="{FF2B5EF4-FFF2-40B4-BE49-F238E27FC236}">
                <a16:creationId xmlns:a16="http://schemas.microsoft.com/office/drawing/2014/main" id="{25B08C5C-D8C7-4DB1-BBFF-8BBCD08D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0767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F4B63E"/>
                </a:solidFill>
              </a:defRPr>
            </a:pPr>
            <a:r>
              <a:rPr sz="1050" b="1" i="0">
                <a:solidFill>
                  <a:srgbClr val="F4B63E"/>
                </a:solidFill>
              </a:rPr>
              <a:t>S6 · 13–14</a:t>
            </a:r>
          </a:p>
        </p:txBody>
      </p:sp>
      <p:sp>
        <p:nvSpPr>
          <p:cNvPr id="40" name="cadence-card-o-2-1">
            <a:extLst xmlns:a="http://schemas.openxmlformats.org/drawingml/2006/main">
              <a:ext uri="{FF2B5EF4-FFF2-40B4-BE49-F238E27FC236}">
                <a16:creationId xmlns:a16="http://schemas.microsoft.com/office/drawing/2014/main" id="{AADE645A-75DE-46D4-A053-AE5D5F460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305300"/>
            <a:ext cx="413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Panel y señales</a:t>
            </a:r>
          </a:p>
        </p:txBody>
      </p:sp>
      <p:sp>
        <p:nvSpPr>
          <p:cNvPr id="41" name="cadence-card-e-2-1">
            <a:extLst xmlns:a="http://schemas.openxmlformats.org/drawingml/2006/main">
              <a:ext uri="{FF2B5EF4-FFF2-40B4-BE49-F238E27FC236}">
                <a16:creationId xmlns:a16="http://schemas.microsoft.com/office/drawing/2014/main" id="{CC473010-9DE6-4EB9-B79E-5344AA0F9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3390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HU015–016 · HU018 · HU026</a:t>
            </a:r>
          </a:p>
        </p:txBody>
      </p:sp>
      <p:sp>
        <p:nvSpPr>
          <p:cNvPr id="42" name="cadence-label-3">
            <a:extLst xmlns:a="http://schemas.openxmlformats.org/drawingml/2006/main">
              <a:ext uri="{FF2B5EF4-FFF2-40B4-BE49-F238E27FC236}">
                <a16:creationId xmlns:a16="http://schemas.microsoft.com/office/drawing/2014/main" id="{06F6465B-E383-4C02-BAF5-990CCBCEA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6764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9525">
            <a:solidFill>
              <a:srgbClr val="DE5C6B"/>
            </a:solidFill>
            <a:prstDash val="solid"/>
          </a:ln>
        </p:spPr>
      </p:sp>
      <p:sp>
        <p:nvSpPr>
          <p:cNvPr id="43" name="cadence-label-t-3">
            <a:extLst xmlns:a="http://schemas.openxmlformats.org/drawingml/2006/main">
              <a:ext uri="{FF2B5EF4-FFF2-40B4-BE49-F238E27FC236}">
                <a16:creationId xmlns:a16="http://schemas.microsoft.com/office/drawing/2014/main" id="{1A79F21C-0668-430B-868C-22359A0A3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DE5C6B"/>
                </a:solidFill>
              </a:defRPr>
            </a:pPr>
            <a:r>
              <a:rPr sz="1275" b="1" i="0">
                <a:solidFill>
                  <a:srgbClr val="DE5C6B"/>
                </a:solidFill>
              </a:rPr>
              <a:t>ESTABILIZAR</a:t>
            </a:r>
          </a:p>
        </p:txBody>
      </p:sp>
      <p:sp>
        <p:nvSpPr>
          <p:cNvPr id="44" name="cadence-card-3-0">
            <a:extLst xmlns:a="http://schemas.openxmlformats.org/drawingml/2006/main">
              <a:ext uri="{FF2B5EF4-FFF2-40B4-BE49-F238E27FC236}">
                <a16:creationId xmlns:a16="http://schemas.microsoft.com/office/drawing/2014/main" id="{2A342D47-4376-4375-974E-E5C3FF46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010150"/>
            <a:ext cx="4400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45" name="cadence-card-s-3-0">
            <a:extLst xmlns:a="http://schemas.openxmlformats.org/drawingml/2006/main">
              <a:ext uri="{FF2B5EF4-FFF2-40B4-BE49-F238E27FC236}">
                <a16:creationId xmlns:a16="http://schemas.microsoft.com/office/drawing/2014/main" id="{0C295F46-1BC8-4A0C-B5B8-29D39AF4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1054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E5C6B"/>
                </a:solidFill>
              </a:defRPr>
            </a:pPr>
            <a:r>
              <a:rPr sz="1050" b="1" i="0">
                <a:solidFill>
                  <a:srgbClr val="DE5C6B"/>
                </a:solidFill>
              </a:rPr>
              <a:t>S7 · 15–16</a:t>
            </a:r>
          </a:p>
        </p:txBody>
      </p:sp>
      <p:sp>
        <p:nvSpPr>
          <p:cNvPr id="46" name="cadence-card-o-3-0">
            <a:extLst xmlns:a="http://schemas.openxmlformats.org/drawingml/2006/main">
              <a:ext uri="{FF2B5EF4-FFF2-40B4-BE49-F238E27FC236}">
                <a16:creationId xmlns:a16="http://schemas.microsoft.com/office/drawing/2014/main" id="{6F21CB63-79FA-40AA-8C1B-1568374B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334000"/>
            <a:ext cx="413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Gobierno y detalle</a:t>
            </a:r>
          </a:p>
        </p:txBody>
      </p:sp>
      <p:sp>
        <p:nvSpPr>
          <p:cNvPr id="47" name="cadence-card-e-3-0">
            <a:extLst xmlns:a="http://schemas.openxmlformats.org/drawingml/2006/main">
              <a:ext uri="{FF2B5EF4-FFF2-40B4-BE49-F238E27FC236}">
                <a16:creationId xmlns:a16="http://schemas.microsoft.com/office/drawing/2014/main" id="{C4C6551D-BE72-4864-99F4-C2C3CD4C3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56260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HU017 · HU019 · HU024 · HU027</a:t>
            </a:r>
          </a:p>
        </p:txBody>
      </p:sp>
      <p:sp>
        <p:nvSpPr>
          <p:cNvPr id="48" name="cadence-card-3-1">
            <a:extLst xmlns:a="http://schemas.openxmlformats.org/drawingml/2006/main">
              <a:ext uri="{FF2B5EF4-FFF2-40B4-BE49-F238E27FC236}">
                <a16:creationId xmlns:a16="http://schemas.microsoft.com/office/drawing/2014/main" id="{5719A2B9-887B-4FF8-A999-A4561BC8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010150"/>
            <a:ext cx="440055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49" name="cadence-card-s-3-1">
            <a:extLst xmlns:a="http://schemas.openxmlformats.org/drawingml/2006/main">
              <a:ext uri="{FF2B5EF4-FFF2-40B4-BE49-F238E27FC236}">
                <a16:creationId xmlns:a16="http://schemas.microsoft.com/office/drawing/2014/main" id="{C15BD986-3524-45AE-8F37-1ED8A43F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105400"/>
            <a:ext cx="413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DE5C6B"/>
                </a:solidFill>
              </a:defRPr>
            </a:pPr>
            <a:r>
              <a:rPr sz="1050" b="1" i="0">
                <a:solidFill>
                  <a:srgbClr val="DE5C6B"/>
                </a:solidFill>
              </a:rPr>
              <a:t>S8 · 17–18</a:t>
            </a:r>
          </a:p>
        </p:txBody>
      </p:sp>
      <p:sp>
        <p:nvSpPr>
          <p:cNvPr id="50" name="cadence-card-o-3-1">
            <a:extLst xmlns:a="http://schemas.openxmlformats.org/drawingml/2006/main">
              <a:ext uri="{FF2B5EF4-FFF2-40B4-BE49-F238E27FC236}">
                <a16:creationId xmlns:a16="http://schemas.microsoft.com/office/drawing/2014/main" id="{B21BB65D-9703-4395-8A17-3D39E0A8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334000"/>
            <a:ext cx="413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Demo defendible</a:t>
            </a:r>
          </a:p>
        </p:txBody>
      </p:sp>
      <p:sp>
        <p:nvSpPr>
          <p:cNvPr id="51" name="cadence-card-e-3-1">
            <a:extLst xmlns:a="http://schemas.openxmlformats.org/drawingml/2006/main">
              <a:ext uri="{FF2B5EF4-FFF2-40B4-BE49-F238E27FC236}">
                <a16:creationId xmlns:a16="http://schemas.microsoft.com/office/drawing/2014/main" id="{505EC1E9-3FF6-4E20-90C3-000AE6AD0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562600"/>
            <a:ext cx="4133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0" i="0">
                <a:solidFill>
                  <a:srgbClr val="64748B"/>
                </a:solidFill>
              </a:defRPr>
            </a:pPr>
            <a:r>
              <a:rPr sz="900" b="0" i="0">
                <a:solidFill>
                  <a:srgbClr val="64748B"/>
                </a:solidFill>
              </a:rPr>
              <a:t>Sin HU nuevas · estabilización</a:t>
            </a:r>
          </a:p>
        </p:txBody>
      </p:sp>
      <p:sp>
        <p:nvSpPr>
          <p:cNvPr id="52" name="cadence-status-bg">
            <a:extLst xmlns:a="http://schemas.openxmlformats.org/drawingml/2006/main">
              <a:ext uri="{FF2B5EF4-FFF2-40B4-BE49-F238E27FC236}">
                <a16:creationId xmlns:a16="http://schemas.microsoft.com/office/drawing/2014/main" id="{308CA9AC-3B1B-4E6F-8127-A0D28362B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10668000" cy="228600"/>
          </a:xfrm>
          <a:prstGeom xmlns:a="http://schemas.openxmlformats.org/drawingml/2006/main" prst="roundRect">
            <a:avLst>
              <a:gd name="adj" fmla="val 41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53" name="cadence-status">
            <a:extLst xmlns:a="http://schemas.openxmlformats.org/drawingml/2006/main">
              <a:ext uri="{FF2B5EF4-FFF2-40B4-BE49-F238E27FC236}">
                <a16:creationId xmlns:a16="http://schemas.microsoft.com/office/drawing/2014/main" id="{412B7461-0A9A-4050-B5F8-E818442E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53150"/>
            <a:ext cx="103632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102A43"/>
                </a:solidFill>
              </a:defRPr>
            </a:pPr>
            <a:r>
              <a:rPr sz="975" b="1" i="0">
                <a:solidFill>
                  <a:srgbClr val="102A43"/>
                </a:solidFill>
              </a:rPr>
              <a:t>Corte semana 4: arquitectura definida. S2 inicia Vercel, Supabase y Azure; Sandbox se valida sin cambiar proveedor.</a:t>
            </a:r>
          </a:p>
        </p:txBody>
      </p:sp>
    </p:spTree>
    <p:extLst>
      <p:ext uri="{BB962C8B-B14F-4D97-AF65-F5344CB8AC3E}">
        <p14:creationId xmlns:p14="http://schemas.microsoft.com/office/powerpoint/2010/main" val="7618911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rail-5">
            <a:extLst xmlns:a="http://schemas.openxmlformats.org/drawingml/2006/main">
              <a:ext uri="{FF2B5EF4-FFF2-40B4-BE49-F238E27FC236}">
                <a16:creationId xmlns:a16="http://schemas.microsoft.com/office/drawing/2014/main" id="{43DEB39D-FE09-4675-8914-1A153C9A6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" name="kicker-5">
            <a:extLst xmlns:a="http://schemas.openxmlformats.org/drawingml/2006/main">
              <a:ext uri="{FF2B5EF4-FFF2-40B4-BE49-F238E27FC236}">
                <a16:creationId xmlns:a16="http://schemas.microsoft.com/office/drawing/2014/main" id="{BAF5C263-DE04-430B-A63D-F7CC8A3D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F6FED"/>
                </a:solidFill>
              </a:defRPr>
            </a:pPr>
            <a:r>
              <a:rPr sz="900" b="1" i="0">
                <a:solidFill>
                  <a:srgbClr val="2F6FED"/>
                </a:solidFill>
              </a:rPr>
              <a:t>GUARDRAILS MOSCOW</a:t>
            </a:r>
          </a:p>
        </p:txBody>
      </p:sp>
      <p:sp>
        <p:nvSpPr>
          <p:cNvPr id="3" name="title-5">
            <a:extLst xmlns:a="http://schemas.openxmlformats.org/drawingml/2006/main">
              <a:ext uri="{FF2B5EF4-FFF2-40B4-BE49-F238E27FC236}">
                <a16:creationId xmlns:a16="http://schemas.microsoft.com/office/drawing/2014/main" id="{07EB6027-2046-440D-847E-C46E2B1273E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33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El alcance opcional nunca desplaza la vertical obligatoria</a:t>
            </a:r>
          </a:p>
        </p:txBody>
      </p:sp>
      <p:sp>
        <p:nvSpPr>
          <p:cNvPr id="4" name="header-line-5">
            <a:extLst xmlns:a="http://schemas.openxmlformats.org/drawingml/2006/main">
              <a:ext uri="{FF2B5EF4-FFF2-40B4-BE49-F238E27FC236}">
                <a16:creationId xmlns:a16="http://schemas.microsoft.com/office/drawing/2014/main" id="{74B637A9-2808-4EB1-AEF7-0F4DFE9B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D82A758A-616A-4904-831A-48A0744F2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ALUNZA · CAPSTONE 2026 · SEDE PUENTE ALTO</a:t>
            </a:r>
          </a:p>
        </p:txBody>
      </p:sp>
      <p:sp>
        <p:nvSpPr>
          <p:cNvPr id="6" name="page-5">
            <a:extLst xmlns:a="http://schemas.openxmlformats.org/drawingml/2006/main">
              <a:ext uri="{FF2B5EF4-FFF2-40B4-BE49-F238E27FC236}">
                <a16:creationId xmlns:a16="http://schemas.microsoft.com/office/drawing/2014/main" id="{3C792EC6-863D-43D3-A7FB-63D3696D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05</a:t>
            </a:r>
          </a:p>
        </p:txBody>
      </p:sp>
      <p:sp>
        <p:nvSpPr>
          <p:cNvPr id="7" name="moscow-lead">
            <a:extLst xmlns:a="http://schemas.openxmlformats.org/drawingml/2006/main">
              <a:ext uri="{FF2B5EF4-FFF2-40B4-BE49-F238E27FC236}">
                <a16:creationId xmlns:a16="http://schemas.microsoft.com/office/drawing/2014/main" id="{90D36662-D8F9-4EE3-A6FB-8BAFF021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Las extensiones sólo avanzan después de integrar, probar y demostrar el núcleo.</a:t>
            </a:r>
          </a:p>
        </p:txBody>
      </p:sp>
      <p:sp>
        <p:nvSpPr>
          <p:cNvPr id="8" name="must-bg">
            <a:extLst xmlns:a="http://schemas.openxmlformats.org/drawingml/2006/main">
              <a:ext uri="{FF2B5EF4-FFF2-40B4-BE49-F238E27FC236}">
                <a16:creationId xmlns:a16="http://schemas.microsoft.com/office/drawing/2014/main" id="{ED37C765-5DF3-46FA-93DD-5DAF17774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14700" cy="348615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must-band">
            <a:extLst xmlns:a="http://schemas.openxmlformats.org/drawingml/2006/main">
              <a:ext uri="{FF2B5EF4-FFF2-40B4-BE49-F238E27FC236}">
                <a16:creationId xmlns:a16="http://schemas.microsoft.com/office/drawing/2014/main" id="{757C9204-419A-4733-9D82-8D548E36E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331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10" name="must-accent">
            <a:extLst xmlns:a="http://schemas.openxmlformats.org/drawingml/2006/main">
              <a:ext uri="{FF2B5EF4-FFF2-40B4-BE49-F238E27FC236}">
                <a16:creationId xmlns:a16="http://schemas.microsoft.com/office/drawing/2014/main" id="{A12A3AD1-B252-4CB0-8A7B-6DE4A46B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666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must-title">
            <a:extLst xmlns:a="http://schemas.openxmlformats.org/drawingml/2006/main">
              <a:ext uri="{FF2B5EF4-FFF2-40B4-BE49-F238E27FC236}">
                <a16:creationId xmlns:a16="http://schemas.microsoft.com/office/drawing/2014/main" id="{8E558227-56E3-4BC3-AD54-0DE6F1E0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F6FED"/>
                </a:solidFill>
              </a:defRPr>
            </a:pPr>
            <a:r>
              <a:rPr sz="1575" b="1" i="0">
                <a:solidFill>
                  <a:srgbClr val="2F6FED"/>
                </a:solidFill>
              </a:rPr>
              <a:t>MUST · obligatorio</a:t>
            </a:r>
          </a:p>
        </p:txBody>
      </p:sp>
      <p:sp>
        <p:nvSpPr>
          <p:cNvPr id="12" name="must-items">
            <a:extLst xmlns:a="http://schemas.openxmlformats.org/drawingml/2006/main">
              <a:ext uri="{FF2B5EF4-FFF2-40B4-BE49-F238E27FC236}">
                <a16:creationId xmlns:a16="http://schemas.microsoft.com/office/drawing/2014/main" id="{C61404C5-4A41-4B4A-A88D-F88BF329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2857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• Vertical estudiante completa.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• Evaluación determinística y persistencia.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• RAG top-k=5 con fuente visible.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• Tres señales basadas en reglas.</a:t>
            </a:r>
          </a:p>
          <a:p xmlns:a="http://schemas.openxmlformats.org/drawingml/2006/main">
            <a:pPr algn="l">
              <a:buNone/>
              <a:defRPr sz="1125" b="0" i="0">
                <a:solidFill>
                  <a:srgbClr val="243B53"/>
                </a:solidFill>
              </a:defRPr>
            </a:pPr>
            <a:r>
              <a:rPr sz="1125" b="0" i="0">
                <a:solidFill>
                  <a:srgbClr val="243B53"/>
                </a:solidFill>
              </a:rPr>
              <a:t>• Administración multi-organización: usuarios/roles, cursos, banco, RAG, reglas y auditoría/CSV.</a:t>
            </a:r>
          </a:p>
        </p:txBody>
      </p:sp>
      <p:sp>
        <p:nvSpPr>
          <p:cNvPr id="13" name="should-bg">
            <a:extLst xmlns:a="http://schemas.openxmlformats.org/drawingml/2006/main">
              <a:ext uri="{FF2B5EF4-FFF2-40B4-BE49-F238E27FC236}">
                <a16:creationId xmlns:a16="http://schemas.microsoft.com/office/drawing/2014/main" id="{6EE2224B-7A1F-47C9-8FEF-0B2621BA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24050"/>
            <a:ext cx="3314700" cy="3486150"/>
          </a:xfrm>
          <a:prstGeom xmlns:a="http://schemas.openxmlformats.org/drawingml/2006/main" prst="roundRect">
            <a:avLst>
              <a:gd name="adj" fmla="val 40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should-band">
            <a:extLst xmlns:a="http://schemas.openxmlformats.org/drawingml/2006/main">
              <a:ext uri="{FF2B5EF4-FFF2-40B4-BE49-F238E27FC236}">
                <a16:creationId xmlns:a16="http://schemas.microsoft.com/office/drawing/2014/main" id="{04ABCD8F-2F5C-425D-98AE-CCC4AF77C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24050"/>
            <a:ext cx="3314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6F3"/>
          </a:solidFill>
          <a:ln xmlns:a="http://schemas.openxmlformats.org/drawingml/2006/main" w="0">
            <a:solidFill>
              <a:srgbClr val="E6F6F3"/>
            </a:solidFill>
            <a:prstDash val="solid"/>
          </a:ln>
        </p:spPr>
      </p:sp>
      <p:sp>
        <p:nvSpPr>
          <p:cNvPr id="15" name="should-accent">
            <a:extLst xmlns:a="http://schemas.openxmlformats.org/drawingml/2006/main">
              <a:ext uri="{FF2B5EF4-FFF2-40B4-BE49-F238E27FC236}">
                <a16:creationId xmlns:a16="http://schemas.microsoft.com/office/drawing/2014/main" id="{4B24C949-C604-48F6-A4A1-A9035EC1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1924050"/>
            <a:ext cx="666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16" name="should-title">
            <a:extLst xmlns:a="http://schemas.openxmlformats.org/drawingml/2006/main">
              <a:ext uri="{FF2B5EF4-FFF2-40B4-BE49-F238E27FC236}">
                <a16:creationId xmlns:a16="http://schemas.microsoft.com/office/drawing/2014/main" id="{E1488118-BB61-4B10-BCDD-A7CA7BD8A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76450"/>
            <a:ext cx="2895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159A8C"/>
                </a:solidFill>
              </a:defRPr>
            </a:pPr>
            <a:r>
              <a:rPr sz="1575" b="1" i="0">
                <a:solidFill>
                  <a:srgbClr val="159A8C"/>
                </a:solidFill>
              </a:rPr>
              <a:t>SHOULD · deseable</a:t>
            </a:r>
          </a:p>
        </p:txBody>
      </p:sp>
      <p:sp>
        <p:nvSpPr>
          <p:cNvPr id="17" name="should-items">
            <a:extLst xmlns:a="http://schemas.openxmlformats.org/drawingml/2006/main">
              <a:ext uri="{FF2B5EF4-FFF2-40B4-BE49-F238E27FC236}">
                <a16:creationId xmlns:a16="http://schemas.microsoft.com/office/drawing/2014/main" id="{63862031-742D-474F-ACF2-D3D122444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705100"/>
            <a:ext cx="2857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• Progreso visual y filtros.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• Costo/latencia visibles.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• Carga UI accesible.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• Más casos de prueba del núcleo.</a:t>
            </a:r>
          </a:p>
        </p:txBody>
      </p:sp>
      <p:sp>
        <p:nvSpPr>
          <p:cNvPr id="18" name="could-bg">
            <a:extLst xmlns:a="http://schemas.openxmlformats.org/drawingml/2006/main">
              <a:ext uri="{FF2B5EF4-FFF2-40B4-BE49-F238E27FC236}">
                <a16:creationId xmlns:a16="http://schemas.microsoft.com/office/drawing/2014/main" id="{10E28CA7-1B2E-4199-90E7-DC56F2A69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619500" cy="3486150"/>
          </a:xfrm>
          <a:prstGeom xmlns:a="http://schemas.openxmlformats.org/drawingml/2006/main" prst="roundRect">
            <a:avLst>
              <a:gd name="adj" fmla="val 382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could-band">
            <a:extLst xmlns:a="http://schemas.openxmlformats.org/drawingml/2006/main">
              <a:ext uri="{FF2B5EF4-FFF2-40B4-BE49-F238E27FC236}">
                <a16:creationId xmlns:a16="http://schemas.microsoft.com/office/drawing/2014/main" id="{BF3761D6-942A-418C-A2FE-57CB44F6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3619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6"/>
          </a:solidFill>
          <a:ln xmlns:a="http://schemas.openxmlformats.org/drawingml/2006/main" w="0">
            <a:solidFill>
              <a:srgbClr val="FFF4D6"/>
            </a:solidFill>
            <a:prstDash val="solid"/>
          </a:ln>
        </p:spPr>
      </p:sp>
      <p:sp>
        <p:nvSpPr>
          <p:cNvPr id="20" name="could-accent">
            <a:extLst xmlns:a="http://schemas.openxmlformats.org/drawingml/2006/main">
              <a:ext uri="{FF2B5EF4-FFF2-40B4-BE49-F238E27FC236}">
                <a16:creationId xmlns:a16="http://schemas.microsoft.com/office/drawing/2014/main" id="{FD738EE1-9C89-45CC-B246-4EADD7F3B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924050"/>
            <a:ext cx="66675" cy="3486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B63E"/>
          </a:solidFill>
          <a:ln xmlns:a="http://schemas.openxmlformats.org/drawingml/2006/main" w="0">
            <a:solidFill>
              <a:srgbClr val="F4B63E"/>
            </a:solidFill>
            <a:prstDash val="solid"/>
          </a:ln>
        </p:spPr>
      </p:sp>
      <p:sp>
        <p:nvSpPr>
          <p:cNvPr id="21" name="could-title">
            <a:extLst xmlns:a="http://schemas.openxmlformats.org/drawingml/2006/main">
              <a:ext uri="{FF2B5EF4-FFF2-40B4-BE49-F238E27FC236}">
                <a16:creationId xmlns:a16="http://schemas.microsoft.com/office/drawing/2014/main" id="{4C125F2B-C732-4AC7-9141-DE72C168B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3200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F4B63E"/>
                </a:solidFill>
              </a:defRPr>
            </a:pPr>
            <a:r>
              <a:rPr sz="1575" b="1" i="0">
                <a:solidFill>
                  <a:srgbClr val="F4B63E"/>
                </a:solidFill>
              </a:rPr>
              <a:t>COULD · opcional</a:t>
            </a:r>
          </a:p>
        </p:txBody>
      </p:sp>
      <p:sp>
        <p:nvSpPr>
          <p:cNvPr id="22" name="could-items">
            <a:extLst xmlns:a="http://schemas.openxmlformats.org/drawingml/2006/main">
              <a:ext uri="{FF2B5EF4-FFF2-40B4-BE49-F238E27FC236}">
                <a16:creationId xmlns:a16="http://schemas.microsoft.com/office/drawing/2014/main" id="{1417992B-D9CE-419F-BDDB-D9D08D095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05100"/>
            <a:ext cx="31623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• Chat docente y más ejercicios.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• RAG avanzado y adaptación.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• Gamificación.</a:t>
            </a:r>
          </a:p>
          <a:p xmlns:a="http://schemas.openxmlformats.org/drawingml/2006/main">
            <a:pPr algn="l"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• Integraciones no esenciales.</a:t>
            </a:r>
          </a:p>
        </p:txBody>
      </p:sp>
      <p:sp>
        <p:nvSpPr>
          <p:cNvPr id="23" name="wont-bg">
            <a:extLst xmlns:a="http://schemas.openxmlformats.org/drawingml/2006/main">
              <a:ext uri="{FF2B5EF4-FFF2-40B4-BE49-F238E27FC236}">
                <a16:creationId xmlns:a16="http://schemas.microsoft.com/office/drawing/2014/main" id="{DA709D26-31BE-4CDB-A132-05EB456A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6680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DECEE"/>
          </a:solidFill>
          <a:ln xmlns:a="http://schemas.openxmlformats.org/drawingml/2006/main" w="9525">
            <a:solidFill>
              <a:srgbClr val="DE5C6B"/>
            </a:solidFill>
            <a:prstDash val="solid"/>
          </a:ln>
        </p:spPr>
      </p:sp>
      <p:sp>
        <p:nvSpPr>
          <p:cNvPr id="24" name="wont-title">
            <a:extLst xmlns:a="http://schemas.openxmlformats.org/drawingml/2006/main">
              <a:ext uri="{FF2B5EF4-FFF2-40B4-BE49-F238E27FC236}">
                <a16:creationId xmlns:a16="http://schemas.microsoft.com/office/drawing/2014/main" id="{9E176A1B-11E0-4E47-8AE5-D23DC920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912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DE5C6B"/>
                </a:solidFill>
              </a:defRPr>
            </a:pPr>
            <a:r>
              <a:rPr sz="1125" b="1" i="0">
                <a:solidFill>
                  <a:srgbClr val="DE5C6B"/>
                </a:solidFill>
              </a:rPr>
              <a:t>EXCLUSIÓN FORMAL · WON'T</a:t>
            </a:r>
          </a:p>
        </p:txBody>
      </p:sp>
      <p:sp>
        <p:nvSpPr>
          <p:cNvPr id="25" name="wont-copy">
            <a:extLst xmlns:a="http://schemas.openxmlformats.org/drawingml/2006/main">
              <a:ext uri="{FF2B5EF4-FFF2-40B4-BE49-F238E27FC236}">
                <a16:creationId xmlns:a16="http://schemas.microsoft.com/office/drawing/2014/main" id="{AD44CFDF-8357-4DA1-8C6E-2AD4E3F7A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753100"/>
            <a:ext cx="782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243B53"/>
                </a:solidFill>
              </a:defRPr>
            </a:pPr>
            <a:r>
              <a:rPr sz="1050" b="1" i="0">
                <a:solidFill>
                  <a:srgbClr val="243B53"/>
                </a:solidFill>
              </a:rPr>
              <a:t>LMS o aplicación móvil · SSO o pagos · plagio o uso de IA · calificación automática de alto impacto.</a:t>
            </a:r>
          </a:p>
        </p:txBody>
      </p:sp>
    </p:spTree>
    <p:extLst>
      <p:ext uri="{BB962C8B-B14F-4D97-AF65-F5344CB8AC3E}">
        <p14:creationId xmlns:p14="http://schemas.microsoft.com/office/powerpoint/2010/main" val="88985051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rail-6">
            <a:extLst xmlns:a="http://schemas.openxmlformats.org/drawingml/2006/main">
              <a:ext uri="{FF2B5EF4-FFF2-40B4-BE49-F238E27FC236}">
                <a16:creationId xmlns:a16="http://schemas.microsoft.com/office/drawing/2014/main" id="{09B81B90-F1BB-4079-B460-69978A32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" name="kicker-6">
            <a:extLst xmlns:a="http://schemas.openxmlformats.org/drawingml/2006/main">
              <a:ext uri="{FF2B5EF4-FFF2-40B4-BE49-F238E27FC236}">
                <a16:creationId xmlns:a16="http://schemas.microsoft.com/office/drawing/2014/main" id="{56E14496-0ACF-4F08-AD8C-7622CD503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F6FED"/>
                </a:solidFill>
              </a:defRPr>
            </a:pPr>
            <a:r>
              <a:rPr sz="900" b="1" i="0">
                <a:solidFill>
                  <a:srgbClr val="2F6FED"/>
                </a:solidFill>
              </a:rPr>
              <a:t>GOBERNANZA ACADÉMICA</a:t>
            </a:r>
          </a:p>
        </p:txBody>
      </p:sp>
      <p:sp>
        <p:nvSpPr>
          <p:cNvPr id="3" name="title-6">
            <a:extLst xmlns:a="http://schemas.openxmlformats.org/drawingml/2006/main">
              <a:ext uri="{FF2B5EF4-FFF2-40B4-BE49-F238E27FC236}">
                <a16:creationId xmlns:a16="http://schemas.microsoft.com/office/drawing/2014/main" id="{733F08F0-C98D-465E-B724-1680048304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33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Los hitos CAPSTONE son puertas de evidencia, no porcentajes de tiempo</a:t>
            </a:r>
          </a:p>
        </p:txBody>
      </p:sp>
      <p:sp>
        <p:nvSpPr>
          <p:cNvPr id="4" name="header-line-6">
            <a:extLst xmlns:a="http://schemas.openxmlformats.org/drawingml/2006/main">
              <a:ext uri="{FF2B5EF4-FFF2-40B4-BE49-F238E27FC236}">
                <a16:creationId xmlns:a16="http://schemas.microsoft.com/office/drawing/2014/main" id="{7B60B48B-B935-413E-A3D4-6CD5A162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BF6A9E84-A01F-4823-AFDE-1C6A25C7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ALUNZA · CAPSTONE 2026 · SEDE PUENTE ALTO</a:t>
            </a:r>
          </a:p>
        </p:txBody>
      </p:sp>
      <p:sp>
        <p:nvSpPr>
          <p:cNvPr id="6" name="page-6">
            <a:extLst xmlns:a="http://schemas.openxmlformats.org/drawingml/2006/main">
              <a:ext uri="{FF2B5EF4-FFF2-40B4-BE49-F238E27FC236}">
                <a16:creationId xmlns:a16="http://schemas.microsoft.com/office/drawing/2014/main" id="{71FE958E-3E83-4892-B669-2F6FDFE5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06</a:t>
            </a:r>
          </a:p>
        </p:txBody>
      </p:sp>
      <p:sp>
        <p:nvSpPr>
          <p:cNvPr id="7" name="gate-lead">
            <a:extLst xmlns:a="http://schemas.openxmlformats.org/drawingml/2006/main">
              <a:ext uri="{FF2B5EF4-FFF2-40B4-BE49-F238E27FC236}">
                <a16:creationId xmlns:a16="http://schemas.microsoft.com/office/drawing/2014/main" id="{A7E49141-5E7D-4F54-B578-8D9C2BA2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La cifra de cada hito es su ponderación académica; el ancho visual no representa duración.</a:t>
            </a:r>
          </a:p>
        </p:txBody>
      </p:sp>
      <p:sp>
        <p:nvSpPr>
          <p:cNvPr id="8" name="gate-line">
            <a:extLst xmlns:a="http://schemas.openxmlformats.org/drawingml/2006/main">
              <a:ext uri="{FF2B5EF4-FFF2-40B4-BE49-F238E27FC236}">
                <a16:creationId xmlns:a16="http://schemas.microsoft.com/office/drawing/2014/main" id="{A249A6AE-58E9-46F0-9A98-A974B4F59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71750"/>
            <a:ext cx="904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D8E3EF"/>
            </a:solidFill>
            <a:prstDash val="solid"/>
          </a:ln>
        </p:spPr>
      </p:sp>
      <p:sp>
        <p:nvSpPr>
          <p:cNvPr id="9" name="gate-week-0">
            <a:extLst xmlns:a="http://schemas.openxmlformats.org/drawingml/2006/main">
              <a:ext uri="{FF2B5EF4-FFF2-40B4-BE49-F238E27FC236}">
                <a16:creationId xmlns:a16="http://schemas.microsoft.com/office/drawing/2014/main" id="{3C565D6B-BE3D-4C2B-AF9E-CA0ABF1A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2F6FED"/>
                </a:solidFill>
              </a:defRPr>
            </a:pPr>
            <a:r>
              <a:rPr sz="1050" b="1" i="0">
                <a:solidFill>
                  <a:srgbClr val="2F6FED"/>
                </a:solidFill>
              </a:rPr>
              <a:t>SEM. 4</a:t>
            </a:r>
          </a:p>
        </p:txBody>
      </p:sp>
      <p:sp>
        <p:nvSpPr>
          <p:cNvPr id="10" name="gate-node-0">
            <a:extLst xmlns:a="http://schemas.openxmlformats.org/drawingml/2006/main">
              <a:ext uri="{FF2B5EF4-FFF2-40B4-BE49-F238E27FC236}">
                <a16:creationId xmlns:a16="http://schemas.microsoft.com/office/drawing/2014/main" id="{6A7C41BD-57BB-4B6C-AE7D-72E2B758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324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gate-percent-0">
            <a:extLst xmlns:a="http://schemas.openxmlformats.org/drawingml/2006/main">
              <a:ext uri="{FF2B5EF4-FFF2-40B4-BE49-F238E27FC236}">
                <a16:creationId xmlns:a16="http://schemas.microsoft.com/office/drawing/2014/main" id="{2DB03E41-1680-4729-B1A8-2BD1AA3B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050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2" name="gate-title-0">
            <a:extLst xmlns:a="http://schemas.openxmlformats.org/drawingml/2006/main">
              <a:ext uri="{FF2B5EF4-FFF2-40B4-BE49-F238E27FC236}">
                <a16:creationId xmlns:a16="http://schemas.microsoft.com/office/drawing/2014/main" id="{C9F9907C-80E4-4F92-943F-7C784533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Fase 1</a:t>
            </a:r>
          </a:p>
        </p:txBody>
      </p:sp>
      <p:sp>
        <p:nvSpPr>
          <p:cNvPr id="13" name="gate-copy-0">
            <a:extLst xmlns:a="http://schemas.openxmlformats.org/drawingml/2006/main">
              <a:ext uri="{FF2B5EF4-FFF2-40B4-BE49-F238E27FC236}">
                <a16:creationId xmlns:a16="http://schemas.microsoft.com/office/drawing/2014/main" id="{22AF734F-7FCC-4B3D-BA79-E65A85FF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86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Alcance y arquitectura</a:t>
            </a:r>
          </a:p>
        </p:txBody>
      </p:sp>
      <p:sp>
        <p:nvSpPr>
          <p:cNvPr id="14" name="gate-week-1">
            <a:extLst xmlns:a="http://schemas.openxmlformats.org/drawingml/2006/main">
              <a:ext uri="{FF2B5EF4-FFF2-40B4-BE49-F238E27FC236}">
                <a16:creationId xmlns:a16="http://schemas.microsoft.com/office/drawing/2014/main" id="{EDCA863A-571A-4623-939E-62319CDA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159A8C"/>
                </a:solidFill>
              </a:defRPr>
            </a:pPr>
            <a:r>
              <a:rPr sz="1050" b="1" i="0">
                <a:solidFill>
                  <a:srgbClr val="159A8C"/>
                </a:solidFill>
              </a:rPr>
              <a:t>SEM. 10</a:t>
            </a:r>
          </a:p>
        </p:txBody>
      </p:sp>
      <p:sp>
        <p:nvSpPr>
          <p:cNvPr id="15" name="gate-node-1">
            <a:extLst xmlns:a="http://schemas.openxmlformats.org/drawingml/2006/main">
              <a:ext uri="{FF2B5EF4-FFF2-40B4-BE49-F238E27FC236}">
                <a16:creationId xmlns:a16="http://schemas.microsoft.com/office/drawing/2014/main" id="{A922F5E0-8A3E-498A-A9F9-802D78E2A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24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16" name="gate-percent-1">
            <a:extLst xmlns:a="http://schemas.openxmlformats.org/drawingml/2006/main">
              <a:ext uri="{FF2B5EF4-FFF2-40B4-BE49-F238E27FC236}">
                <a16:creationId xmlns:a16="http://schemas.microsoft.com/office/drawing/2014/main" id="{BE96B8AC-6A50-4CE5-A7B7-7252CAF3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5050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20%</a:t>
            </a:r>
          </a:p>
        </p:txBody>
      </p:sp>
      <p:sp>
        <p:nvSpPr>
          <p:cNvPr id="17" name="gate-title-1">
            <a:extLst xmlns:a="http://schemas.openxmlformats.org/drawingml/2006/main">
              <a:ext uri="{FF2B5EF4-FFF2-40B4-BE49-F238E27FC236}">
                <a16:creationId xmlns:a16="http://schemas.microsoft.com/office/drawing/2014/main" id="{B47C7481-CE20-4F7F-96C6-8F4045DC5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143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Avance</a:t>
            </a:r>
          </a:p>
        </p:txBody>
      </p:sp>
      <p:sp>
        <p:nvSpPr>
          <p:cNvPr id="18" name="gate-copy-1">
            <a:extLst xmlns:a="http://schemas.openxmlformats.org/drawingml/2006/main">
              <a:ext uri="{FF2B5EF4-FFF2-40B4-BE49-F238E27FC236}">
                <a16:creationId xmlns:a16="http://schemas.microsoft.com/office/drawing/2014/main" id="{D8F790EA-3235-4603-81E1-B2491473D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86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Flujo integrado + GitHub</a:t>
            </a:r>
          </a:p>
        </p:txBody>
      </p:sp>
      <p:sp>
        <p:nvSpPr>
          <p:cNvPr id="19" name="gate-week-2">
            <a:extLst xmlns:a="http://schemas.openxmlformats.org/drawingml/2006/main">
              <a:ext uri="{FF2B5EF4-FFF2-40B4-BE49-F238E27FC236}">
                <a16:creationId xmlns:a16="http://schemas.microsoft.com/office/drawing/2014/main" id="{CF42B3B7-9A46-4F3C-96DB-5DDEF5B8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4B63E"/>
                </a:solidFill>
              </a:defRPr>
            </a:pPr>
            <a:r>
              <a:rPr sz="1050" b="1" i="0">
                <a:solidFill>
                  <a:srgbClr val="F4B63E"/>
                </a:solidFill>
              </a:rPr>
              <a:t>SEM. 15</a:t>
            </a:r>
          </a:p>
        </p:txBody>
      </p:sp>
      <p:sp>
        <p:nvSpPr>
          <p:cNvPr id="20" name="gate-node-2">
            <a:extLst xmlns:a="http://schemas.openxmlformats.org/drawingml/2006/main">
              <a:ext uri="{FF2B5EF4-FFF2-40B4-BE49-F238E27FC236}">
                <a16:creationId xmlns:a16="http://schemas.microsoft.com/office/drawing/2014/main" id="{99D5B146-6B58-4F2E-845C-7C1EADB98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24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E"/>
          </a:solidFill>
          <a:ln xmlns:a="http://schemas.openxmlformats.org/drawingml/2006/main" w="0">
            <a:solidFill>
              <a:srgbClr val="F4B63E"/>
            </a:solidFill>
            <a:prstDash val="solid"/>
          </a:ln>
        </p:spPr>
      </p:sp>
      <p:sp>
        <p:nvSpPr>
          <p:cNvPr id="21" name="gate-percent-2">
            <a:extLst xmlns:a="http://schemas.openxmlformats.org/drawingml/2006/main">
              <a:ext uri="{FF2B5EF4-FFF2-40B4-BE49-F238E27FC236}">
                <a16:creationId xmlns:a16="http://schemas.microsoft.com/office/drawing/2014/main" id="{291D68B2-51E1-43CF-981D-F8CCF4893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5050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22" name="gate-title-2">
            <a:extLst xmlns:a="http://schemas.openxmlformats.org/drawingml/2006/main">
              <a:ext uri="{FF2B5EF4-FFF2-40B4-BE49-F238E27FC236}">
                <a16:creationId xmlns:a16="http://schemas.microsoft.com/office/drawing/2014/main" id="{E9FA2C04-9CE5-4A1C-AB41-3426A0C05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143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Entrega final</a:t>
            </a:r>
          </a:p>
        </p:txBody>
      </p:sp>
      <p:sp>
        <p:nvSpPr>
          <p:cNvPr id="23" name="gate-copy-2">
            <a:extLst xmlns:a="http://schemas.openxmlformats.org/drawingml/2006/main">
              <a:ext uri="{FF2B5EF4-FFF2-40B4-BE49-F238E27FC236}">
                <a16:creationId xmlns:a16="http://schemas.microsoft.com/office/drawing/2014/main" id="{A50E9550-33AD-44A8-B766-AF67E89CD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486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Freeze + informe + demo</a:t>
            </a:r>
          </a:p>
        </p:txBody>
      </p:sp>
      <p:sp>
        <p:nvSpPr>
          <p:cNvPr id="24" name="gate-week-3">
            <a:extLst xmlns:a="http://schemas.openxmlformats.org/drawingml/2006/main">
              <a:ext uri="{FF2B5EF4-FFF2-40B4-BE49-F238E27FC236}">
                <a16:creationId xmlns:a16="http://schemas.microsoft.com/office/drawing/2014/main" id="{4C58AE1C-DF3C-4B61-B011-391408D0A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38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DE5C6B"/>
                </a:solidFill>
              </a:defRPr>
            </a:pPr>
            <a:r>
              <a:rPr sz="1050" b="1" i="0">
                <a:solidFill>
                  <a:srgbClr val="DE5C6B"/>
                </a:solidFill>
              </a:rPr>
              <a:t>SEM. 17–18</a:t>
            </a:r>
          </a:p>
        </p:txBody>
      </p:sp>
      <p:sp>
        <p:nvSpPr>
          <p:cNvPr id="25" name="gate-node-3">
            <a:extLst xmlns:a="http://schemas.openxmlformats.org/drawingml/2006/main">
              <a:ext uri="{FF2B5EF4-FFF2-40B4-BE49-F238E27FC236}">
                <a16:creationId xmlns:a16="http://schemas.microsoft.com/office/drawing/2014/main" id="{F72A8C0B-C2FA-400C-9E23-419C4206E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32410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5C6B"/>
          </a:solidFill>
          <a:ln xmlns:a="http://schemas.openxmlformats.org/drawingml/2006/main" w="0">
            <a:solidFill>
              <a:srgbClr val="DE5C6B"/>
            </a:solidFill>
            <a:prstDash val="solid"/>
          </a:ln>
        </p:spPr>
      </p:sp>
      <p:sp>
        <p:nvSpPr>
          <p:cNvPr id="26" name="gate-percent-3">
            <a:extLst xmlns:a="http://schemas.openxmlformats.org/drawingml/2006/main">
              <a:ext uri="{FF2B5EF4-FFF2-40B4-BE49-F238E27FC236}">
                <a16:creationId xmlns:a16="http://schemas.microsoft.com/office/drawing/2014/main" id="{E8E672F3-22B4-4719-8A35-BDD7588D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05075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30%</a:t>
            </a:r>
          </a:p>
        </p:txBody>
      </p:sp>
      <p:sp>
        <p:nvSpPr>
          <p:cNvPr id="27" name="gate-title-3">
            <a:extLst xmlns:a="http://schemas.openxmlformats.org/drawingml/2006/main">
              <a:ext uri="{FF2B5EF4-FFF2-40B4-BE49-F238E27FC236}">
                <a16:creationId xmlns:a16="http://schemas.microsoft.com/office/drawing/2014/main" id="{B3A83BC6-FEDF-4C06-B010-AC3F20C5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432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Defensa</a:t>
            </a:r>
          </a:p>
        </p:txBody>
      </p:sp>
      <p:sp>
        <p:nvSpPr>
          <p:cNvPr id="28" name="gate-copy-3">
            <a:extLst xmlns:a="http://schemas.openxmlformats.org/drawingml/2006/main">
              <a:ext uri="{FF2B5EF4-FFF2-40B4-BE49-F238E27FC236}">
                <a16:creationId xmlns:a16="http://schemas.microsoft.com/office/drawing/2014/main" id="{38A948C7-A1EC-4CC6-8910-E77AD6AC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1619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64748B"/>
                </a:solidFill>
              </a:defRPr>
            </a:pPr>
            <a:r>
              <a:rPr sz="1050" b="0" i="0">
                <a:solidFill>
                  <a:srgbClr val="64748B"/>
                </a:solidFill>
              </a:rPr>
              <a:t>Demo estable + argumento</a:t>
            </a:r>
          </a:p>
        </p:txBody>
      </p:sp>
      <p:sp>
        <p:nvSpPr>
          <p:cNvPr id="29" name="demo-title">
            <a:extLst xmlns:a="http://schemas.openxmlformats.org/drawingml/2006/main">
              <a:ext uri="{FF2B5EF4-FFF2-40B4-BE49-F238E27FC236}">
                <a16:creationId xmlns:a16="http://schemas.microsoft.com/office/drawing/2014/main" id="{D8178EF0-2DE3-4185-A179-F4E0413F3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2F6FED"/>
                </a:solidFill>
              </a:defRPr>
            </a:pPr>
            <a:r>
              <a:rPr sz="1200" b="1" i="0">
                <a:solidFill>
                  <a:srgbClr val="2F6FED"/>
                </a:solidFill>
              </a:rPr>
              <a:t>MÍNIMO DE DEMOSTRACIÓN</a:t>
            </a:r>
          </a:p>
        </p:txBody>
      </p:sp>
      <p:sp>
        <p:nvSpPr>
          <p:cNvPr id="30" name="demo-0">
            <a:extLst xmlns:a="http://schemas.openxmlformats.org/drawingml/2006/main">
              <a:ext uri="{FF2B5EF4-FFF2-40B4-BE49-F238E27FC236}">
                <a16:creationId xmlns:a16="http://schemas.microsoft.com/office/drawing/2014/main" id="{8FB65F2E-9919-42EF-A5DC-00EAEBE5E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31" name="demo-n-0">
            <a:extLst xmlns:a="http://schemas.openxmlformats.org/drawingml/2006/main">
              <a:ext uri="{FF2B5EF4-FFF2-40B4-BE49-F238E27FC236}">
                <a16:creationId xmlns:a16="http://schemas.microsoft.com/office/drawing/2014/main" id="{0C2E221F-FDBE-410A-B613-09C9D41C2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2F6FED"/>
                </a:solidFill>
              </a:defRPr>
            </a:pPr>
            <a:r>
              <a:rPr sz="2025" b="1" i="0">
                <a:solidFill>
                  <a:srgbClr val="2F6FED"/>
                </a:solidFill>
              </a:rPr>
              <a:t>2 / 3</a:t>
            </a:r>
          </a:p>
        </p:txBody>
      </p:sp>
      <p:sp>
        <p:nvSpPr>
          <p:cNvPr id="32" name="demo-l-0">
            <a:extLst xmlns:a="http://schemas.openxmlformats.org/drawingml/2006/main">
              <a:ext uri="{FF2B5EF4-FFF2-40B4-BE49-F238E27FC236}">
                <a16:creationId xmlns:a16="http://schemas.microsoft.com/office/drawing/2014/main" id="{E03D9BB6-AB4F-4857-AEF0-42302862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673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organizaciones / clases</a:t>
            </a:r>
          </a:p>
        </p:txBody>
      </p:sp>
      <p:sp>
        <p:nvSpPr>
          <p:cNvPr id="33" name="demo-1">
            <a:extLst xmlns:a="http://schemas.openxmlformats.org/drawingml/2006/main">
              <a:ext uri="{FF2B5EF4-FFF2-40B4-BE49-F238E27FC236}">
                <a16:creationId xmlns:a16="http://schemas.microsoft.com/office/drawing/2014/main" id="{50EC637D-8C18-428B-9AE8-B23BFC3A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87680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34" name="demo-n-1">
            <a:extLst xmlns:a="http://schemas.openxmlformats.org/drawingml/2006/main">
              <a:ext uri="{FF2B5EF4-FFF2-40B4-BE49-F238E27FC236}">
                <a16:creationId xmlns:a16="http://schemas.microsoft.com/office/drawing/2014/main" id="{161BD214-C4A9-4249-BC73-58BDD4DC5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0292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159A8C"/>
                </a:solidFill>
              </a:defRPr>
            </a:pPr>
            <a:r>
              <a:rPr sz="2025" b="1" i="0">
                <a:solidFill>
                  <a:srgbClr val="159A8C"/>
                </a:solidFill>
              </a:rPr>
              <a:t>10</a:t>
            </a:r>
          </a:p>
        </p:txBody>
      </p:sp>
      <p:sp>
        <p:nvSpPr>
          <p:cNvPr id="35" name="demo-l-1">
            <a:extLst xmlns:a="http://schemas.openxmlformats.org/drawingml/2006/main">
              <a:ext uri="{FF2B5EF4-FFF2-40B4-BE49-F238E27FC236}">
                <a16:creationId xmlns:a16="http://schemas.microsoft.com/office/drawing/2014/main" id="{8FB54D0A-5D14-4E99-A97F-65FDBF0FE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673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ejercicios JS</a:t>
            </a:r>
          </a:p>
        </p:txBody>
      </p:sp>
      <p:sp>
        <p:nvSpPr>
          <p:cNvPr id="36" name="demo-2">
            <a:extLst xmlns:a="http://schemas.openxmlformats.org/drawingml/2006/main">
              <a:ext uri="{FF2B5EF4-FFF2-40B4-BE49-F238E27FC236}">
                <a16:creationId xmlns:a16="http://schemas.microsoft.com/office/drawing/2014/main" id="{8D9CBA56-9ADE-417E-B268-77D41449A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7680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37" name="demo-n-2">
            <a:extLst xmlns:a="http://schemas.openxmlformats.org/drawingml/2006/main">
              <a:ext uri="{FF2B5EF4-FFF2-40B4-BE49-F238E27FC236}">
                <a16:creationId xmlns:a16="http://schemas.microsoft.com/office/drawing/2014/main" id="{1DC6D48F-46D5-4F13-ABD0-1F67BB04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0292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F4B63E"/>
                </a:solidFill>
              </a:defRPr>
            </a:pPr>
            <a:r>
              <a:rPr sz="2025" b="1" i="0">
                <a:solidFill>
                  <a:srgbClr val="F4B63E"/>
                </a:solidFill>
              </a:rPr>
              <a:t>2</a:t>
            </a:r>
          </a:p>
        </p:txBody>
      </p:sp>
      <p:sp>
        <p:nvSpPr>
          <p:cNvPr id="38" name="demo-l-2">
            <a:extLst xmlns:a="http://schemas.openxmlformats.org/drawingml/2006/main">
              <a:ext uri="{FF2B5EF4-FFF2-40B4-BE49-F238E27FC236}">
                <a16:creationId xmlns:a16="http://schemas.microsoft.com/office/drawing/2014/main" id="{9E07EC0C-4FD8-4B6A-AF26-C8AFBFDC9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4673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documentos por clase</a:t>
            </a:r>
          </a:p>
        </p:txBody>
      </p:sp>
      <p:sp>
        <p:nvSpPr>
          <p:cNvPr id="39" name="demo-3">
            <a:extLst xmlns:a="http://schemas.openxmlformats.org/drawingml/2006/main">
              <a:ext uri="{FF2B5EF4-FFF2-40B4-BE49-F238E27FC236}">
                <a16:creationId xmlns:a16="http://schemas.microsoft.com/office/drawing/2014/main" id="{52EE5B42-458D-4B76-A61D-3E6D8ECF8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87680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40" name="demo-n-3">
            <a:extLst xmlns:a="http://schemas.openxmlformats.org/drawingml/2006/main">
              <a:ext uri="{FF2B5EF4-FFF2-40B4-BE49-F238E27FC236}">
                <a16:creationId xmlns:a16="http://schemas.microsoft.com/office/drawing/2014/main" id="{E933EF6B-5805-4418-9AD4-2393510C4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292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7563C9"/>
                </a:solidFill>
              </a:defRPr>
            </a:pPr>
            <a:r>
              <a:rPr sz="2025" b="1" i="0">
                <a:solidFill>
                  <a:srgbClr val="7563C9"/>
                </a:solidFill>
              </a:rPr>
              <a:t>12</a:t>
            </a:r>
          </a:p>
        </p:txBody>
      </p:sp>
      <p:sp>
        <p:nvSpPr>
          <p:cNvPr id="41" name="demo-l-3">
            <a:extLst xmlns:a="http://schemas.openxmlformats.org/drawingml/2006/main">
              <a:ext uri="{FF2B5EF4-FFF2-40B4-BE49-F238E27FC236}">
                <a16:creationId xmlns:a16="http://schemas.microsoft.com/office/drawing/2014/main" id="{6FA921C6-FEA1-47CB-A978-422FDE0C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4673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perfiles demo · 2 admins + 2 profesores + 8 estudiantes</a:t>
            </a:r>
          </a:p>
        </p:txBody>
      </p:sp>
      <p:sp>
        <p:nvSpPr>
          <p:cNvPr id="42" name="demo-4">
            <a:extLst xmlns:a="http://schemas.openxmlformats.org/drawingml/2006/main">
              <a:ext uri="{FF2B5EF4-FFF2-40B4-BE49-F238E27FC236}">
                <a16:creationId xmlns:a16="http://schemas.microsoft.com/office/drawing/2014/main" id="{9B3BC013-4F07-474B-A701-C24AA372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876800"/>
            <a:ext cx="1905000" cy="1066800"/>
          </a:xfrm>
          <a:prstGeom xmlns:a="http://schemas.openxmlformats.org/drawingml/2006/main" prst="roundRect">
            <a:avLst>
              <a:gd name="adj" fmla="val 10714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3EF"/>
            </a:solidFill>
            <a:prstDash val="solid"/>
          </a:ln>
        </p:spPr>
      </p:sp>
      <p:sp>
        <p:nvSpPr>
          <p:cNvPr id="43" name="demo-n-4">
            <a:extLst xmlns:a="http://schemas.openxmlformats.org/drawingml/2006/main">
              <a:ext uri="{FF2B5EF4-FFF2-40B4-BE49-F238E27FC236}">
                <a16:creationId xmlns:a16="http://schemas.microsoft.com/office/drawing/2014/main" id="{AC8E6433-B976-4D7D-9D63-443714BC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29200"/>
            <a:ext cx="160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 i="0">
                <a:solidFill>
                  <a:srgbClr val="DE5C6B"/>
                </a:solidFill>
              </a:defRPr>
            </a:pPr>
            <a:r>
              <a:rPr sz="2025" b="1" i="0">
                <a:solidFill>
                  <a:srgbClr val="DE5C6B"/>
                </a:solidFill>
              </a:rPr>
              <a:t>3</a:t>
            </a:r>
          </a:p>
        </p:txBody>
      </p:sp>
      <p:sp>
        <p:nvSpPr>
          <p:cNvPr id="44" name="demo-l-4">
            <a:extLst xmlns:a="http://schemas.openxmlformats.org/drawingml/2006/main">
              <a:ext uri="{FF2B5EF4-FFF2-40B4-BE49-F238E27FC236}">
                <a16:creationId xmlns:a16="http://schemas.microsoft.com/office/drawing/2014/main" id="{7C7964B7-2991-43FD-A35F-C38B66023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46735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243B53"/>
                </a:solidFill>
              </a:defRPr>
            </a:pPr>
            <a:r>
              <a:rPr sz="1125" b="1" i="0">
                <a:solidFill>
                  <a:srgbClr val="243B53"/>
                </a:solidFill>
              </a:rPr>
              <a:t>señales docentes</a:t>
            </a:r>
          </a:p>
        </p:txBody>
      </p:sp>
    </p:spTree>
    <p:extLst>
      <p:ext uri="{BB962C8B-B14F-4D97-AF65-F5344CB8AC3E}">
        <p14:creationId xmlns:p14="http://schemas.microsoft.com/office/powerpoint/2010/main" val="8645223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rail-7">
            <a:extLst xmlns:a="http://schemas.openxmlformats.org/drawingml/2006/main">
              <a:ext uri="{FF2B5EF4-FFF2-40B4-BE49-F238E27FC236}">
                <a16:creationId xmlns:a16="http://schemas.microsoft.com/office/drawing/2014/main" id="{E13506DA-0646-4E40-A3B0-80CB189C3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57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" name="kicker-7">
            <a:extLst xmlns:a="http://schemas.openxmlformats.org/drawingml/2006/main">
              <a:ext uri="{FF2B5EF4-FFF2-40B4-BE49-F238E27FC236}">
                <a16:creationId xmlns:a16="http://schemas.microsoft.com/office/drawing/2014/main" id="{0E81C65A-6D12-47B7-AD27-48CDCB205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 i="0">
                <a:solidFill>
                  <a:srgbClr val="2F6FED"/>
                </a:solidFill>
              </a:defRPr>
            </a:pPr>
            <a:r>
              <a:rPr sz="900" b="1" i="0">
                <a:solidFill>
                  <a:srgbClr val="2F6FED"/>
                </a:solidFill>
              </a:rPr>
              <a:t>MECANISMO DE GESTIÓN</a:t>
            </a:r>
          </a:p>
        </p:txBody>
      </p:sp>
      <p:sp>
        <p:nvSpPr>
          <p:cNvPr id="3" name="title-7">
            <a:extLst xmlns:a="http://schemas.openxmlformats.org/drawingml/2006/main">
              <a:ext uri="{FF2B5EF4-FFF2-40B4-BE49-F238E27FC236}">
                <a16:creationId xmlns:a16="http://schemas.microsoft.com/office/drawing/2014/main" id="{8909F2CB-E9E3-4D91-A506-B4F97DB1F4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53340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400" b="1" i="0">
                <a:solidFill>
                  <a:srgbClr val="102A43"/>
                </a:solidFill>
              </a:defRPr>
            </a:pPr>
            <a:r>
              <a:rPr sz="2400" b="1" i="0">
                <a:solidFill>
                  <a:srgbClr val="102A43"/>
                </a:solidFill>
              </a:rPr>
              <a:t>Cada Sprint Review convierte evidencia en una decisión de backlog</a:t>
            </a:r>
          </a:p>
        </p:txBody>
      </p:sp>
      <p:sp>
        <p:nvSpPr>
          <p:cNvPr id="4" name="header-line-7">
            <a:extLst xmlns:a="http://schemas.openxmlformats.org/drawingml/2006/main">
              <a:ext uri="{FF2B5EF4-FFF2-40B4-BE49-F238E27FC236}">
                <a16:creationId xmlns:a16="http://schemas.microsoft.com/office/drawing/2014/main" id="{C15D7ECD-1FE4-456D-B64F-89AFE092A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F6FED"/>
            </a:solidFill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46616102-9DE3-4E88-B33D-8FCDAD3F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750" b="0" i="0">
                <a:solidFill>
                  <a:srgbClr val="64748B"/>
                </a:solidFill>
              </a:defRPr>
            </a:pPr>
            <a:r>
              <a:rPr sz="750" b="0" i="0">
                <a:solidFill>
                  <a:srgbClr val="64748B"/>
                </a:solidFill>
              </a:rPr>
              <a:t>ALUNZA · CAPSTONE 2026 · SEDE PUENTE ALTO</a:t>
            </a:r>
          </a:p>
        </p:txBody>
      </p:sp>
      <p:sp>
        <p:nvSpPr>
          <p:cNvPr id="6" name="page-7">
            <a:extLst xmlns:a="http://schemas.openxmlformats.org/drawingml/2006/main">
              <a:ext uri="{FF2B5EF4-FFF2-40B4-BE49-F238E27FC236}">
                <a16:creationId xmlns:a16="http://schemas.microsoft.com/office/drawing/2014/main" id="{70C4416D-F75A-4A4D-927F-A4E33E7C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06150" y="6457950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 i="0">
                <a:solidFill>
                  <a:srgbClr val="64748B"/>
                </a:solidFill>
              </a:defRPr>
            </a:pPr>
            <a:r>
              <a:rPr sz="825" b="0" i="0">
                <a:solidFill>
                  <a:srgbClr val="64748B"/>
                </a:solidFill>
              </a:rPr>
              <a:t>07</a:t>
            </a:r>
          </a:p>
        </p:txBody>
      </p:sp>
      <p:sp>
        <p:nvSpPr>
          <p:cNvPr id="7" name="ops-lead">
            <a:extLst xmlns:a="http://schemas.openxmlformats.org/drawingml/2006/main">
              <a:ext uri="{FF2B5EF4-FFF2-40B4-BE49-F238E27FC236}">
                <a16:creationId xmlns:a16="http://schemas.microsoft.com/office/drawing/2014/main" id="{8AFC019A-72F3-4204-B9B6-28705C8E2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066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64748B"/>
                </a:solidFill>
              </a:defRPr>
            </a:pPr>
            <a:r>
              <a:rPr sz="1200" b="0" i="0">
                <a:solidFill>
                  <a:srgbClr val="64748B"/>
                </a:solidFill>
              </a:rPr>
              <a:t>Sólo se compromete el sprint próximo; los horizontes posteriores siguen siendo hipótesis priorizadas.</a:t>
            </a:r>
          </a:p>
        </p:txBody>
      </p:sp>
      <p:sp>
        <p:nvSpPr>
          <p:cNvPr id="8" name="cycle-core">
            <a:extLst xmlns:a="http://schemas.openxmlformats.org/drawingml/2006/main">
              <a:ext uri="{FF2B5EF4-FFF2-40B4-BE49-F238E27FC236}">
                <a16:creationId xmlns:a16="http://schemas.microsoft.com/office/drawing/2014/main" id="{D9B05C43-F2AF-4D73-89E6-2BAFE2973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38500"/>
            <a:ext cx="1905000" cy="1066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</p:sp>
      <p:sp>
        <p:nvSpPr>
          <p:cNvPr id="9" name="cycle-core-t">
            <a:extLst xmlns:a="http://schemas.openxmlformats.org/drawingml/2006/main">
              <a:ext uri="{FF2B5EF4-FFF2-40B4-BE49-F238E27FC236}">
                <a16:creationId xmlns:a16="http://schemas.microsoft.com/office/drawing/2014/main" id="{EDA510A2-EE1F-4670-9DFF-2E732420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505200"/>
            <a:ext cx="152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PRODUCT</a:t>
            </a:r>
          </a:p>
          <a:p xmlns:a="http://schemas.openxmlformats.org/drawingml/2006/main">
            <a:pPr algn="ctr">
              <a:buNone/>
              <a:defRPr sz="1650" b="1" i="0">
                <a:solidFill>
                  <a:srgbClr val="FFFFFF"/>
                </a:solidFill>
              </a:defRPr>
            </a:pPr>
            <a:r>
              <a:rPr sz="1650" b="1" i="0">
                <a:solidFill>
                  <a:srgbClr val="FFFFFF"/>
                </a:solidFill>
              </a:rPr>
              <a:t>GOAL</a:t>
            </a:r>
          </a:p>
        </p:txBody>
      </p:sp>
      <p:sp>
        <p:nvSpPr>
          <p:cNvPr id="10" name="cycle-node-0">
            <a:extLst xmlns:a="http://schemas.openxmlformats.org/drawingml/2006/main">
              <a:ext uri="{FF2B5EF4-FFF2-40B4-BE49-F238E27FC236}">
                <a16:creationId xmlns:a16="http://schemas.microsoft.com/office/drawing/2014/main" id="{3CB6BF60-8123-48BA-B52E-57AA77D39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01930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11" name="cycle-n-0">
            <a:extLst xmlns:a="http://schemas.openxmlformats.org/drawingml/2006/main">
              <a:ext uri="{FF2B5EF4-FFF2-40B4-BE49-F238E27FC236}">
                <a16:creationId xmlns:a16="http://schemas.microsoft.com/office/drawing/2014/main" id="{9D80EA3A-6251-4E63-BE32-7B196580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15265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2" name="cycle-title-0">
            <a:extLst xmlns:a="http://schemas.openxmlformats.org/drawingml/2006/main">
              <a:ext uri="{FF2B5EF4-FFF2-40B4-BE49-F238E27FC236}">
                <a16:creationId xmlns:a16="http://schemas.microsoft.com/office/drawing/2014/main" id="{F0FD0DAC-A213-472D-B438-8B9F97C5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245745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Demostrar</a:t>
            </a:r>
          </a:p>
        </p:txBody>
      </p:sp>
      <p:sp>
        <p:nvSpPr>
          <p:cNvPr id="13" name="cycle-sub-0">
            <a:extLst xmlns:a="http://schemas.openxmlformats.org/drawingml/2006/main">
              <a:ext uri="{FF2B5EF4-FFF2-40B4-BE49-F238E27FC236}">
                <a16:creationId xmlns:a16="http://schemas.microsoft.com/office/drawing/2014/main" id="{F9B2AEE2-F481-43AD-A6B8-6E1F1997B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0990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Incremento funcionando</a:t>
            </a:r>
          </a:p>
        </p:txBody>
      </p:sp>
      <p:sp>
        <p:nvSpPr>
          <p:cNvPr id="14" name="cycle-node-1">
            <a:extLst xmlns:a="http://schemas.openxmlformats.org/drawingml/2006/main">
              <a:ext uri="{FF2B5EF4-FFF2-40B4-BE49-F238E27FC236}">
                <a16:creationId xmlns:a16="http://schemas.microsoft.com/office/drawing/2014/main" id="{B3F67A89-FE28-489C-B993-92CE3AE6F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371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15" name="cycle-n-1">
            <a:extLst xmlns:a="http://schemas.openxmlformats.org/drawingml/2006/main">
              <a:ext uri="{FF2B5EF4-FFF2-40B4-BE49-F238E27FC236}">
                <a16:creationId xmlns:a16="http://schemas.microsoft.com/office/drawing/2014/main" id="{6DDD95FD-2CA0-49BA-821B-BEDA6578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505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6" name="cycle-title-1">
            <a:extLst xmlns:a="http://schemas.openxmlformats.org/drawingml/2006/main">
              <a:ext uri="{FF2B5EF4-FFF2-40B4-BE49-F238E27FC236}">
                <a16:creationId xmlns:a16="http://schemas.microsoft.com/office/drawing/2014/main" id="{A076AA24-36FC-4C59-8E0B-485E9B83A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810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Medir</a:t>
            </a:r>
          </a:p>
        </p:txBody>
      </p:sp>
      <p:sp>
        <p:nvSpPr>
          <p:cNvPr id="17" name="cycle-sub-1">
            <a:extLst xmlns:a="http://schemas.openxmlformats.org/drawingml/2006/main">
              <a:ext uri="{FF2B5EF4-FFF2-40B4-BE49-F238E27FC236}">
                <a16:creationId xmlns:a16="http://schemas.microsoft.com/office/drawing/2014/main" id="{D038EDC5-EA52-4C8D-BCEA-85B50559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3624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Calidad, uso y riesgos</a:t>
            </a:r>
          </a:p>
        </p:txBody>
      </p:sp>
      <p:sp>
        <p:nvSpPr>
          <p:cNvPr id="18" name="cycle-node-2">
            <a:extLst xmlns:a="http://schemas.openxmlformats.org/drawingml/2006/main">
              <a:ext uri="{FF2B5EF4-FFF2-40B4-BE49-F238E27FC236}">
                <a16:creationId xmlns:a16="http://schemas.microsoft.com/office/drawing/2014/main" id="{37B80220-2F11-4944-92D0-3E0879C5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8196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E"/>
          </a:solidFill>
          <a:ln xmlns:a="http://schemas.openxmlformats.org/drawingml/2006/main" w="0">
            <a:solidFill>
              <a:srgbClr val="F4B63E"/>
            </a:solidFill>
            <a:prstDash val="solid"/>
          </a:ln>
        </p:spPr>
      </p:sp>
      <p:sp>
        <p:nvSpPr>
          <p:cNvPr id="19" name="cycle-n-2">
            <a:extLst xmlns:a="http://schemas.openxmlformats.org/drawingml/2006/main">
              <a:ext uri="{FF2B5EF4-FFF2-40B4-BE49-F238E27FC236}">
                <a16:creationId xmlns:a16="http://schemas.microsoft.com/office/drawing/2014/main" id="{503A4B42-A26E-49B1-8654-A73553F4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49530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0" name="cycle-title-2">
            <a:extLst xmlns:a="http://schemas.openxmlformats.org/drawingml/2006/main">
              <a:ext uri="{FF2B5EF4-FFF2-40B4-BE49-F238E27FC236}">
                <a16:creationId xmlns:a16="http://schemas.microsoft.com/office/drawing/2014/main" id="{E8597F13-345A-490A-983D-4F026BD7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52578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Decidir</a:t>
            </a:r>
          </a:p>
        </p:txBody>
      </p:sp>
      <p:sp>
        <p:nvSpPr>
          <p:cNvPr id="21" name="cycle-sub-2">
            <a:extLst xmlns:a="http://schemas.openxmlformats.org/drawingml/2006/main">
              <a:ext uri="{FF2B5EF4-FFF2-40B4-BE49-F238E27FC236}">
                <a16:creationId xmlns:a16="http://schemas.microsoft.com/office/drawing/2014/main" id="{7B96CB65-7878-4AE0-A3D8-1B2FB92F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8102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Aceptar, ajustar o descartar</a:t>
            </a:r>
          </a:p>
        </p:txBody>
      </p:sp>
      <p:sp>
        <p:nvSpPr>
          <p:cNvPr id="22" name="cycle-node-3">
            <a:extLst xmlns:a="http://schemas.openxmlformats.org/drawingml/2006/main">
              <a:ext uri="{FF2B5EF4-FFF2-40B4-BE49-F238E27FC236}">
                <a16:creationId xmlns:a16="http://schemas.microsoft.com/office/drawing/2014/main" id="{CFDB52EE-97F9-48FD-81DE-D6F9AE9F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371850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5C6B"/>
          </a:solidFill>
          <a:ln xmlns:a="http://schemas.openxmlformats.org/drawingml/2006/main" w="0">
            <a:solidFill>
              <a:srgbClr val="DE5C6B"/>
            </a:solidFill>
            <a:prstDash val="solid"/>
          </a:ln>
        </p:spPr>
      </p:sp>
      <p:sp>
        <p:nvSpPr>
          <p:cNvPr id="23" name="cycle-n-3">
            <a:extLst xmlns:a="http://schemas.openxmlformats.org/drawingml/2006/main">
              <a:ext uri="{FF2B5EF4-FFF2-40B4-BE49-F238E27FC236}">
                <a16:creationId xmlns:a16="http://schemas.microsoft.com/office/drawing/2014/main" id="{12DFBF6C-C657-4410-9302-A06A61EC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914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4" name="cycle-title-3">
            <a:extLst xmlns:a="http://schemas.openxmlformats.org/drawingml/2006/main">
              <a:ext uri="{FF2B5EF4-FFF2-40B4-BE49-F238E27FC236}">
                <a16:creationId xmlns:a16="http://schemas.microsoft.com/office/drawing/2014/main" id="{CDF56AAE-040D-491B-B35A-78F3330E7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3810000"/>
            <a:ext cx="1581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</a:defRPr>
            </a:pPr>
            <a:r>
              <a:rPr sz="1200" b="1" i="0">
                <a:solidFill>
                  <a:srgbClr val="FFFFFF"/>
                </a:solidFill>
              </a:rPr>
              <a:t>Repriorizar</a:t>
            </a:r>
          </a:p>
        </p:txBody>
      </p:sp>
      <p:sp>
        <p:nvSpPr>
          <p:cNvPr id="25" name="cycle-sub-3">
            <a:extLst xmlns:a="http://schemas.openxmlformats.org/drawingml/2006/main">
              <a:ext uri="{FF2B5EF4-FFF2-40B4-BE49-F238E27FC236}">
                <a16:creationId xmlns:a16="http://schemas.microsoft.com/office/drawing/2014/main" id="{FD1F57AF-FFD9-4733-A0F0-B00108253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4362450"/>
            <a:ext cx="1943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64748B"/>
                </a:solidFill>
              </a:defRPr>
            </a:pPr>
            <a:r>
              <a:rPr sz="975" b="0" i="0">
                <a:solidFill>
                  <a:srgbClr val="64748B"/>
                </a:solidFill>
              </a:rPr>
              <a:t>Backlog + Sprint Goal</a:t>
            </a:r>
          </a:p>
        </p:txBody>
      </p:sp>
      <p:sp>
        <p:nvSpPr>
          <p:cNvPr id="26" name="rules-title">
            <a:extLst xmlns:a="http://schemas.openxmlformats.org/drawingml/2006/main">
              <a:ext uri="{FF2B5EF4-FFF2-40B4-BE49-F238E27FC236}">
                <a16:creationId xmlns:a16="http://schemas.microsoft.com/office/drawing/2014/main" id="{A513C825-A62B-4095-B97C-F9FB482D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764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REGLAS DE DECISIÓN</a:t>
            </a:r>
          </a:p>
        </p:txBody>
      </p:sp>
      <p:sp>
        <p:nvSpPr>
          <p:cNvPr id="27" name="rule-dot-0">
            <a:extLst xmlns:a="http://schemas.openxmlformats.org/drawingml/2006/main">
              <a:ext uri="{FF2B5EF4-FFF2-40B4-BE49-F238E27FC236}">
                <a16:creationId xmlns:a16="http://schemas.microsoft.com/office/drawing/2014/main" id="{0307DA68-EEB8-44CB-8480-534BAB6D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09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FED"/>
          </a:solidFill>
          <a:ln xmlns:a="http://schemas.openxmlformats.org/drawingml/2006/main" w="0">
            <a:solidFill>
              <a:srgbClr val="2F6FED"/>
            </a:solidFill>
            <a:prstDash val="solid"/>
          </a:ln>
        </p:spPr>
      </p:sp>
      <p:sp>
        <p:nvSpPr>
          <p:cNvPr id="28" name="rule-n-0">
            <a:extLst xmlns:a="http://schemas.openxmlformats.org/drawingml/2006/main">
              <a:ext uri="{FF2B5EF4-FFF2-40B4-BE49-F238E27FC236}">
                <a16:creationId xmlns:a16="http://schemas.microsoft.com/office/drawing/2014/main" id="{FF1CDDC4-D0A8-46F4-8DCA-804D8C3A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9" name="rule-copy-0">
            <a:extLst xmlns:a="http://schemas.openxmlformats.org/drawingml/2006/main">
              <a:ext uri="{FF2B5EF4-FFF2-40B4-BE49-F238E27FC236}">
                <a16:creationId xmlns:a16="http://schemas.microsoft.com/office/drawing/2014/main" id="{B18EED3E-0402-4B4F-9A01-C53935F4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255270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La evaluación técnica funciona aunque fallen IA o RAG.</a:t>
            </a:r>
          </a:p>
        </p:txBody>
      </p:sp>
      <p:sp>
        <p:nvSpPr>
          <p:cNvPr id="30" name="rule-dot-1">
            <a:extLst xmlns:a="http://schemas.openxmlformats.org/drawingml/2006/main">
              <a:ext uri="{FF2B5EF4-FFF2-40B4-BE49-F238E27FC236}">
                <a16:creationId xmlns:a16="http://schemas.microsoft.com/office/drawing/2014/main" id="{D1E591C6-8DD5-488C-B35B-0A8B659C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2956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9A8C"/>
          </a:solidFill>
          <a:ln xmlns:a="http://schemas.openxmlformats.org/drawingml/2006/main" w="0">
            <a:solidFill>
              <a:srgbClr val="159A8C"/>
            </a:solidFill>
            <a:prstDash val="solid"/>
          </a:ln>
        </p:spPr>
      </p:sp>
      <p:sp>
        <p:nvSpPr>
          <p:cNvPr id="31" name="rule-n-1">
            <a:extLst xmlns:a="http://schemas.openxmlformats.org/drawingml/2006/main">
              <a:ext uri="{FF2B5EF4-FFF2-40B4-BE49-F238E27FC236}">
                <a16:creationId xmlns:a16="http://schemas.microsoft.com/office/drawing/2014/main" id="{78639C7F-A2D0-44D6-9C1C-05BB7F10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528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2" name="rule-copy-1">
            <a:extLst xmlns:a="http://schemas.openxmlformats.org/drawingml/2006/main">
              <a:ext uri="{FF2B5EF4-FFF2-40B4-BE49-F238E27FC236}">
                <a16:creationId xmlns:a16="http://schemas.microsoft.com/office/drawing/2014/main" id="{08108D4C-2161-4A6C-BE0F-DC23F6355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23850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No se inicia alcance opcional antes de integrar el núcleo.</a:t>
            </a:r>
          </a:p>
        </p:txBody>
      </p:sp>
      <p:sp>
        <p:nvSpPr>
          <p:cNvPr id="33" name="rule-dot-2">
            <a:extLst xmlns:a="http://schemas.openxmlformats.org/drawingml/2006/main">
              <a:ext uri="{FF2B5EF4-FFF2-40B4-BE49-F238E27FC236}">
                <a16:creationId xmlns:a16="http://schemas.microsoft.com/office/drawing/2014/main" id="{FEDA405C-1E7E-4C3D-B4C6-C12806A1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814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63E"/>
          </a:solidFill>
          <a:ln xmlns:a="http://schemas.openxmlformats.org/drawingml/2006/main" w="0">
            <a:solidFill>
              <a:srgbClr val="F4B63E"/>
            </a:solidFill>
            <a:prstDash val="solid"/>
          </a:ln>
        </p:spPr>
      </p:sp>
      <p:sp>
        <p:nvSpPr>
          <p:cNvPr id="34" name="rule-n-2">
            <a:extLst xmlns:a="http://schemas.openxmlformats.org/drawingml/2006/main">
              <a:ext uri="{FF2B5EF4-FFF2-40B4-BE49-F238E27FC236}">
                <a16:creationId xmlns:a16="http://schemas.microsoft.com/office/drawing/2014/main" id="{85D71304-2B87-4097-ACFF-4E78EA9D0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386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5" name="rule-copy-2">
            <a:extLst xmlns:a="http://schemas.openxmlformats.org/drawingml/2006/main">
              <a:ext uri="{FF2B5EF4-FFF2-40B4-BE49-F238E27FC236}">
                <a16:creationId xmlns:a16="http://schemas.microsoft.com/office/drawing/2014/main" id="{29B17903-DBE2-4FC0-9F47-04DB67B9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2430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Definition of Done incluye pruebas RLS y Sandbox, documentación y evidencia.</a:t>
            </a:r>
          </a:p>
        </p:txBody>
      </p:sp>
      <p:sp>
        <p:nvSpPr>
          <p:cNvPr id="36" name="rule-dot-3">
            <a:extLst xmlns:a="http://schemas.openxmlformats.org/drawingml/2006/main">
              <a:ext uri="{FF2B5EF4-FFF2-40B4-BE49-F238E27FC236}">
                <a16:creationId xmlns:a16="http://schemas.microsoft.com/office/drawing/2014/main" id="{13E72CD4-430B-4819-B620-5C28D2F1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6672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5C6B"/>
          </a:solidFill>
          <a:ln xmlns:a="http://schemas.openxmlformats.org/drawingml/2006/main" w="0">
            <a:solidFill>
              <a:srgbClr val="DE5C6B"/>
            </a:solidFill>
            <a:prstDash val="solid"/>
          </a:ln>
        </p:spPr>
      </p:sp>
      <p:sp>
        <p:nvSpPr>
          <p:cNvPr id="37" name="rule-n-3">
            <a:extLst xmlns:a="http://schemas.openxmlformats.org/drawingml/2006/main">
              <a:ext uri="{FF2B5EF4-FFF2-40B4-BE49-F238E27FC236}">
                <a16:creationId xmlns:a16="http://schemas.microsoft.com/office/drawing/2014/main" id="{6ACE3FCB-2122-4D81-9548-A001EEE9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724400"/>
            <a:ext cx="266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8" name="rule-copy-3">
            <a:extLst xmlns:a="http://schemas.openxmlformats.org/drawingml/2006/main">
              <a:ext uri="{FF2B5EF4-FFF2-40B4-BE49-F238E27FC236}">
                <a16:creationId xmlns:a16="http://schemas.microsoft.com/office/drawing/2014/main" id="{CEAEAEEF-CB8E-4664-8170-47010CEF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10100"/>
            <a:ext cx="3924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Semana 15: feature freeze; sólo correcciones críticas.</a:t>
            </a:r>
          </a:p>
        </p:txBody>
      </p:sp>
      <p:sp>
        <p:nvSpPr>
          <p:cNvPr id="39" name="next-bg">
            <a:extLst xmlns:a="http://schemas.openxmlformats.org/drawingml/2006/main">
              <a:ext uri="{FF2B5EF4-FFF2-40B4-BE49-F238E27FC236}">
                <a16:creationId xmlns:a16="http://schemas.microsoft.com/office/drawing/2014/main" id="{57A858F3-CF90-43D2-96D0-AB64F25D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524500"/>
            <a:ext cx="455295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2F6FED"/>
            </a:solidFill>
            <a:prstDash val="solid"/>
          </a:ln>
        </p:spPr>
      </p:sp>
      <p:sp>
        <p:nvSpPr>
          <p:cNvPr id="40" name="next-copy">
            <a:extLst xmlns:a="http://schemas.openxmlformats.org/drawingml/2006/main">
              <a:ext uri="{FF2B5EF4-FFF2-40B4-BE49-F238E27FC236}">
                <a16:creationId xmlns:a16="http://schemas.microsoft.com/office/drawing/2014/main" id="{A32DF208-8AE7-4CDA-8864-B1E247CF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695950"/>
            <a:ext cx="4171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102A43"/>
                </a:solidFill>
              </a:defRPr>
            </a:pPr>
            <a:r>
              <a:rPr sz="1200" b="1" i="0">
                <a:solidFill>
                  <a:srgbClr val="102A43"/>
                </a:solidFill>
              </a:rPr>
              <a:t>Próxima validación: seguridad, latencia, costo, límites y región de Sandbox. AD-ARQ-001 permanece vigente.</a:t>
            </a:r>
          </a:p>
        </p:txBody>
      </p:sp>
    </p:spTree>
    <p:extLst>
      <p:ext uri="{BB962C8B-B14F-4D97-AF65-F5344CB8AC3E}">
        <p14:creationId xmlns:p14="http://schemas.microsoft.com/office/powerpoint/2010/main" val="8489447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2026-09-04T18:49:21.1030000Z</dcterms:created>
  <dcterms:modified xsi:type="dcterms:W3CDTF">2026-09-04T18:49:21.1030000Z</dcterms:modified>
</coreProperties>
</file>